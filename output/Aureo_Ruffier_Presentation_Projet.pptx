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75" r:id="rId4"/>
    <p:sldId id="258" r:id="rId5"/>
    <p:sldId id="283" r:id="rId6"/>
    <p:sldId id="260" r:id="rId7"/>
    <p:sldId id="271" r:id="rId8"/>
    <p:sldId id="261" r:id="rId9"/>
    <p:sldId id="284" r:id="rId10"/>
    <p:sldId id="273" r:id="rId11"/>
    <p:sldId id="277" r:id="rId12"/>
    <p:sldId id="262" r:id="rId13"/>
    <p:sldId id="278" r:id="rId14"/>
    <p:sldId id="263" r:id="rId15"/>
    <p:sldId id="264" r:id="rId16"/>
    <p:sldId id="287" r:id="rId17"/>
    <p:sldId id="279" r:id="rId18"/>
    <p:sldId id="280" r:id="rId19"/>
    <p:sldId id="272" r:id="rId20"/>
    <p:sldId id="265" r:id="rId21"/>
    <p:sldId id="285" r:id="rId22"/>
    <p:sldId id="286" r:id="rId23"/>
    <p:sldId id="266" r:id="rId24"/>
    <p:sldId id="282" r:id="rId25"/>
    <p:sldId id="267" r:id="rId26"/>
    <p:sldId id="269" r:id="rId27"/>
    <p:sldId id="27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68" autoAdjust="0"/>
  </p:normalViewPr>
  <p:slideViewPr>
    <p:cSldViewPr snapToGrid="0" snapToObjects="1">
      <p:cViewPr varScale="1">
        <p:scale>
          <a:sx n="57" d="100"/>
          <a:sy n="57" d="100"/>
        </p:scale>
        <p:origin x="123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566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30 secondes</a:t>
            </a:r>
            <a:endParaRPr lang="fr-FR" dirty="0"/>
          </a:p>
          <a:p>
            <a:r>
              <a:rPr lang="fr-FR" dirty="0"/>
              <a:t>Bonjour, je m’appelle Aureo Ruffier. Je vais vous présenter L’Aiguille des Volcans, une application web pour une activité de broderie et de personnalisation textile.</a:t>
            </a:r>
          </a:p>
          <a:p>
            <a:r>
              <a:rPr lang="fr-FR" dirty="0"/>
              <a:t>J’ai réalisé ce projet individuellement dans le cadre de ma formation DWWM. Je vais expliquer le besoin, les principales réalisations et les vérifications, puis montrer un parcours dans l’application.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30 secondes</a:t>
            </a:r>
            <a:endParaRPr lang="fr-FR" dirty="0"/>
          </a:p>
          <a:p>
            <a:r>
              <a:rPr lang="fr-FR" dirty="0"/>
              <a:t>Je vais d’abord présenter l’environnement technique et la conception. Ensuite, j’expliquerai les interfaces et le fonctionnement du serveur, avec des exemples du code.</a:t>
            </a:r>
          </a:p>
          <a:p>
            <a:r>
              <a:rPr lang="fr-FR" dirty="0"/>
              <a:t>Je terminerai par la sécurité, une démonstration, les tests et le bilan.</a:t>
            </a:r>
          </a:p>
          <a:p>
            <a:r>
              <a:rPr lang="fr-FR" dirty="0"/>
              <a:t>Le parcours principal à retenir est simple : découvrir une réalisation, envoyer une demande de devis et la retrouver dans l’administration.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1064-1956-3932-053E-F99EBA7E8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852EB-2D52-3927-A2DF-A43C6726223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C3D76E-E428-F4CD-3EEE-AA583CCAC6F1}"/>
              </a:ext>
            </a:extLst>
          </p:cNvPr>
          <p:cNvSpPr>
            <a:spLocks noGrp="1"/>
          </p:cNvSpPr>
          <p:nvPr>
            <p:ph type="body" sz="quarter" idx="3"/>
          </p:nvPr>
        </p:nvSpPr>
        <p:spPr/>
        <p:txBody>
          <a:bodyPr/>
          <a:lstStyle/>
          <a:p>
            <a:r>
              <a:rPr lang="fr-FR" b="1" dirty="0"/>
              <a:t>1 minute 30</a:t>
            </a:r>
            <a:endParaRPr lang="fr-FR" dirty="0"/>
          </a:p>
          <a:p>
            <a:r>
              <a:rPr lang="fr-FR" dirty="0"/>
              <a:t>Le projet répond au besoin d’un atelier de broderie situé à Volvic. L’atelier souhaite présenter son activité, montrer ses réalisations et recevoir des demandes de devis suffisamment précises.</a:t>
            </a:r>
          </a:p>
          <a:p>
            <a:r>
              <a:rPr lang="fr-FR" dirty="0"/>
              <a:t>Le site s’adresse aux particuliers, aux associations et aux professionnels. Pour préparer un devis, l’atelier a besoin de connaître le textile, la technique de marquage, la quantité et éventuellement le logo.</a:t>
            </a:r>
          </a:p>
          <a:p>
            <a:r>
              <a:rPr lang="fr-FR" dirty="0"/>
              <a:t>J’ai donc développé une partie publique pour présenter les services et les produits, ainsi qu’un espace d’administration pour gérer les contenus et suivre les demandes.</a:t>
            </a:r>
          </a:p>
          <a:p>
            <a:r>
              <a:rPr lang="fr-FR" dirty="0"/>
              <a:t>Le périmètre comprend également les comptes utilisateurs et les avis, avec une modération avant publication.</a:t>
            </a:r>
          </a:p>
          <a:p>
            <a:r>
              <a:rPr lang="fr-FR" dirty="0"/>
              <a:t>Il n’y a pas de paiement en ligne ni de calcul automatique du prix final. Les produits présentent des réalisations, avec éventuellement un prix indicatif. Le montant définitif dépend des échanges avec l’atelier.</a:t>
            </a:r>
          </a:p>
          <a:p>
            <a:r>
              <a:rPr lang="fr-FR" dirty="0"/>
              <a:t>[Montrer les objectifs correspondant au catalogue, au devis et à l’administration.]</a:t>
            </a:r>
          </a:p>
        </p:txBody>
      </p:sp>
      <p:sp>
        <p:nvSpPr>
          <p:cNvPr id="4" name="Slide Number Placeholder 3">
            <a:extLst>
              <a:ext uri="{FF2B5EF4-FFF2-40B4-BE49-F238E27FC236}">
                <a16:creationId xmlns:a16="http://schemas.microsoft.com/office/drawing/2014/main" id="{AF108707-2D50-6E24-29A8-CC65DA7A3D0E}"/>
              </a:ext>
            </a:extLst>
          </p:cNvPr>
          <p:cNvSpPr>
            <a:spLocks noGrp="1"/>
          </p:cNvSpPr>
          <p:nvPr>
            <p:ph type="sldNum" sz="quarter" idx="5"/>
          </p:nvPr>
        </p:nvSpPr>
        <p:spPr/>
      </p:sp>
    </p:spTree>
    <p:extLst>
      <p:ext uri="{BB962C8B-B14F-4D97-AF65-F5344CB8AC3E}">
        <p14:creationId xmlns:p14="http://schemas.microsoft.com/office/powerpoint/2010/main" val="1302242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 30</a:t>
            </a:r>
            <a:endParaRPr lang="fr-FR" dirty="0"/>
          </a:p>
          <a:p>
            <a:r>
              <a:rPr lang="fr-FR" dirty="0"/>
              <a:t>J’ai utilisé PHP (LTS Long-</a:t>
            </a:r>
            <a:r>
              <a:rPr lang="fr-FR" dirty="0" err="1"/>
              <a:t>Term</a:t>
            </a:r>
            <a:r>
              <a:rPr lang="fr-FR" dirty="0"/>
              <a:t> Support) avec Symfony pour organiser l’application. Symfony fournit notamment les outils pour les routes, les contrôleurs, les formulaires et l’authentification.</a:t>
            </a:r>
          </a:p>
          <a:p>
            <a:r>
              <a:rPr lang="fr-FR" dirty="0" err="1"/>
              <a:t>MariaDB</a:t>
            </a:r>
            <a:r>
              <a:rPr lang="fr-FR" dirty="0"/>
              <a:t> conserve les données. Doctrine fait le lien entre ces données et les objets PHP. Twig construit les pages HTML à partir des informations transmises par les contrôleurs.</a:t>
            </a:r>
          </a:p>
          <a:p>
            <a:r>
              <a:rPr lang="fr-FR" dirty="0"/>
              <a:t>Pour l’interface, Bootstrap apporte la grille et des composants réutilisables. Mon CSS adapte les couleurs et la présentation à l’identité de l’atelier. Quelques scripts JavaScript gèrent les interactions dans le navigateur.</a:t>
            </a:r>
          </a:p>
          <a:p>
            <a:r>
              <a:rPr lang="fr-FR" dirty="0"/>
              <a:t>Mon environnement de développement fonctionne sous Windows avec Ubuntu dans WSL et Docker. PHP exécute l’application, Caddy reçoit les requêtes, </a:t>
            </a:r>
            <a:r>
              <a:rPr lang="fr-FR" dirty="0" err="1"/>
              <a:t>MariaDB</a:t>
            </a:r>
            <a:r>
              <a:rPr lang="fr-FR" dirty="0"/>
              <a:t> conserve les données et Node prépare les ressources du </a:t>
            </a:r>
            <a:r>
              <a:rPr lang="fr-FR" dirty="0" err="1"/>
              <a:t>front-end</a:t>
            </a:r>
            <a:r>
              <a:rPr lang="fr-FR" dirty="0"/>
              <a:t>.</a:t>
            </a:r>
          </a:p>
          <a:p>
            <a:r>
              <a:rPr lang="fr-FR" dirty="0"/>
              <a:t>Git me permet de conserver l’historique, et GitHub héberge le dépôt. Envoyer un commit sur GitHub ne publie pas automatiquement le site sur OVH.</a:t>
            </a:r>
          </a:p>
          <a:p>
            <a:r>
              <a:rPr lang="fr-FR" dirty="0"/>
              <a:t>[Montrer les outils par rôle, sans lire chaque numéro de version.]</a:t>
            </a:r>
          </a:p>
          <a:p>
            <a:endParaRPr lang="pt-BR" dirty="0"/>
          </a:p>
          <a:p>
            <a:r>
              <a:rPr lang="fr-FR" dirty="0"/>
              <a:t>“Préparation aux questions — ne pas lire pendant la présentation”</a:t>
            </a:r>
          </a:p>
          <a:p>
            <a:endParaRPr lang="fr-FR" dirty="0"/>
          </a:p>
          <a:p>
            <a:r>
              <a:rPr lang="fr-FR" dirty="0"/>
              <a:t>Pour le développement PHP et Symfony.</a:t>
            </a:r>
          </a:p>
          <a:p>
            <a:pPr marL="171450" lvl="0" indent="-171450">
              <a:buFont typeface="Arial" panose="020B0604020202020204" pitchFamily="34" charset="0"/>
              <a:buChar char="•"/>
            </a:pPr>
            <a:r>
              <a:rPr lang="fr-FR" dirty="0"/>
              <a:t>Symfony, </a:t>
            </a:r>
            <a:r>
              <a:rPr lang="fr-FR" dirty="0" err="1"/>
              <a:t>framework</a:t>
            </a:r>
            <a:r>
              <a:rPr lang="fr-FR" dirty="0"/>
              <a:t> qui permet de structurer clairement une application web</a:t>
            </a:r>
          </a:p>
          <a:p>
            <a:pPr marL="628650" lvl="1" indent="-171450">
              <a:buFont typeface="Arial" panose="020B0604020202020204" pitchFamily="34" charset="0"/>
              <a:buChar char="•"/>
            </a:pPr>
            <a:r>
              <a:rPr lang="fr-FR" dirty="0"/>
              <a:t>avec </a:t>
            </a:r>
            <a:r>
              <a:rPr lang="fr-FR" dirty="0" err="1"/>
              <a:t>controllers</a:t>
            </a:r>
            <a:r>
              <a:rPr lang="fr-FR" dirty="0"/>
              <a:t>, les repositories, Doctrine, Twig, les formulaires et la sécurité.</a:t>
            </a:r>
          </a:p>
          <a:p>
            <a:pPr marL="171450" lvl="0" indent="-171450">
              <a:buFont typeface="Arial" panose="020B0604020202020204" pitchFamily="34" charset="0"/>
              <a:buChar char="•"/>
            </a:pPr>
            <a:r>
              <a:rPr lang="fr-FR" dirty="0"/>
              <a:t>La version utilisée est Symfony 7.4.</a:t>
            </a:r>
          </a:p>
          <a:p>
            <a:pPr marL="171450" lvl="0" indent="-171450">
              <a:buFont typeface="Arial" panose="020B0604020202020204" pitchFamily="34" charset="0"/>
              <a:buChar char="•"/>
            </a:pPr>
            <a:r>
              <a:rPr lang="fr-FR" dirty="0"/>
              <a:t>BDD, j'utilise </a:t>
            </a:r>
            <a:r>
              <a:rPr lang="fr-FR" dirty="0" err="1"/>
              <a:t>MariaDB</a:t>
            </a:r>
            <a:r>
              <a:rPr lang="fr-FR" dirty="0"/>
              <a:t>, avec Doctrine ORM. </a:t>
            </a:r>
          </a:p>
          <a:p>
            <a:pPr marL="628650" lvl="1" indent="-171450">
              <a:buFont typeface="Arial" panose="020B0604020202020204" pitchFamily="34" charset="0"/>
              <a:buChar char="•"/>
            </a:pPr>
            <a:r>
              <a:rPr lang="fr-FR" dirty="0"/>
              <a:t>Doctrine, manipuler les données avec des objets PHP et des repositories, plutôt que d'écrire directement toutes les requêtes SQL.</a:t>
            </a:r>
          </a:p>
          <a:p>
            <a:pPr marL="171450" lvl="0" indent="-171450">
              <a:buFont typeface="Arial" panose="020B0604020202020204" pitchFamily="34" charset="0"/>
              <a:buChar char="•"/>
            </a:pPr>
            <a:r>
              <a:rPr lang="fr-FR" dirty="0"/>
              <a:t>Rendu, j'utilise Twig.</a:t>
            </a:r>
          </a:p>
          <a:p>
            <a:pPr marL="628650" lvl="1" indent="-171450">
              <a:buFont typeface="Arial" panose="020B0604020202020204" pitchFamily="34" charset="0"/>
              <a:buChar char="•"/>
            </a:pPr>
            <a:r>
              <a:rPr lang="fr-FR" dirty="0"/>
              <a:t>Créer des </a:t>
            </a:r>
            <a:r>
              <a:rPr lang="fr-FR" dirty="0" err="1"/>
              <a:t>templates</a:t>
            </a:r>
            <a:r>
              <a:rPr lang="fr-FR" dirty="0"/>
              <a:t> réutilisables et de générer dynamiquement le HTML à partir des données récupérées depuis la base.</a:t>
            </a:r>
          </a:p>
          <a:p>
            <a:pPr marL="171450" lvl="0" indent="-171450">
              <a:buFont typeface="Arial" panose="020B0604020202020204" pitchFamily="34" charset="0"/>
              <a:buChar char="•"/>
            </a:pPr>
            <a:r>
              <a:rPr lang="fr-FR" dirty="0"/>
              <a:t>Pour le </a:t>
            </a:r>
            <a:r>
              <a:rPr lang="fr-FR" dirty="0" err="1"/>
              <a:t>front-end</a:t>
            </a:r>
            <a:r>
              <a:rPr lang="fr-FR" dirty="0"/>
              <a:t>, j'utilise Bootstrap 5.3.8 pour la structure, le responsive et certains composants, et Font Awesome pour les icônes.</a:t>
            </a:r>
          </a:p>
          <a:p>
            <a:pPr marL="171450" lvl="0" indent="-171450">
              <a:buFont typeface="Arial" panose="020B0604020202020204" pitchFamily="34" charset="0"/>
              <a:buChar char="•"/>
            </a:pPr>
            <a:r>
              <a:rPr lang="fr-FR" dirty="0" err="1"/>
              <a:t>Webpack</a:t>
            </a:r>
            <a:r>
              <a:rPr lang="fr-FR" dirty="0"/>
              <a:t> Encore est utilisé pour gérer les fichiers JavaScript et CSS et générer les assets utilisés par l'application.</a:t>
            </a:r>
          </a:p>
          <a:p>
            <a:pPr marL="171450" lvl="0" indent="-171450">
              <a:buFont typeface="Arial" panose="020B0604020202020204" pitchFamily="34" charset="0"/>
              <a:buChar char="•"/>
            </a:pPr>
            <a:r>
              <a:rPr lang="fr-FR" dirty="0"/>
              <a:t>Enfin, j'utilise Docker pour avoir un environnement de développement composé de plusieurs services : PHP, Caddy, Node.js, </a:t>
            </a:r>
            <a:r>
              <a:rPr lang="fr-FR" dirty="0" err="1"/>
              <a:t>MariaDB</a:t>
            </a:r>
            <a:r>
              <a:rPr lang="fr-FR" dirty="0"/>
              <a:t> et phpMyAdmin.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6D5AC-227A-D7C1-9E04-37575C34C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A79BF-4F61-975E-2EF6-09C6E74F4B1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149C09C-8F64-70BC-A72E-DD4A97D4A3DA}"/>
              </a:ext>
            </a:extLst>
          </p:cNvPr>
          <p:cNvSpPr>
            <a:spLocks noGrp="1"/>
          </p:cNvSpPr>
          <p:nvPr>
            <p:ph type="body" sz="quarter" idx="3"/>
          </p:nvPr>
        </p:nvSpPr>
        <p:spPr/>
        <p:txBody>
          <a:bodyPr/>
          <a:lstStyle/>
          <a:p>
            <a:r>
              <a:rPr lang="fr-FR" b="1" dirty="0"/>
              <a:t>1 minute</a:t>
            </a:r>
            <a:endParaRPr lang="fr-FR" dirty="0"/>
          </a:p>
          <a:p>
            <a:r>
              <a:rPr lang="fr-FR" dirty="0"/>
              <a:t>Ce diagramme montre les actions possibles selon la personne qui utilise le site.</a:t>
            </a:r>
          </a:p>
          <a:p>
            <a:r>
              <a:rPr lang="fr-FR" dirty="0"/>
              <a:t>Le visiteur consulte les prestations et le catalogue. Il peut demander un devis sans se connecter.</a:t>
            </a:r>
          </a:p>
          <a:p>
            <a:r>
              <a:rPr lang="fr-FR" dirty="0"/>
              <a:t>L’utilisateur connecté peut également déposer un avis. Cet avis doit ensuite être modéré.</a:t>
            </a:r>
          </a:p>
          <a:p>
            <a:r>
              <a:rPr lang="fr-FR" dirty="0"/>
              <a:t>L’administratrice gère les produits, les catégories, les utilisateurs, les avis et les demandes reçues.</a:t>
            </a:r>
          </a:p>
          <a:p>
            <a:r>
              <a:rPr lang="fr-FR" dirty="0"/>
              <a:t>Le parcours principal passe de l’accueil à la galerie, puis à une fiche produit et au formulaire de devis. Après l’envoi, l’administratrice retrouve la demande dans son espace réservé.</a:t>
            </a:r>
          </a:p>
          <a:p>
            <a:r>
              <a:rPr lang="fr-FR" dirty="0"/>
              <a:t>Le diagramme de cas d’utilisation décrit les possibilités des acteurs. Le parcours des écrans montre comment ils passent d’une page à l’autre.</a:t>
            </a:r>
          </a:p>
          <a:p>
            <a:r>
              <a:rPr lang="fr-FR" dirty="0"/>
              <a:t>[Montrer les acteurs, puis le petit parcours de navigation ajouté au slide.]</a:t>
            </a:r>
          </a:p>
        </p:txBody>
      </p:sp>
      <p:sp>
        <p:nvSpPr>
          <p:cNvPr id="4" name="Slide Number Placeholder 3">
            <a:extLst>
              <a:ext uri="{FF2B5EF4-FFF2-40B4-BE49-F238E27FC236}">
                <a16:creationId xmlns:a16="http://schemas.microsoft.com/office/drawing/2014/main" id="{6284C407-B90E-3C4E-05F5-360259052A62}"/>
              </a:ext>
            </a:extLst>
          </p:cNvPr>
          <p:cNvSpPr>
            <a:spLocks noGrp="1"/>
          </p:cNvSpPr>
          <p:nvPr>
            <p:ph type="sldNum" sz="quarter" idx="5"/>
          </p:nvPr>
        </p:nvSpPr>
        <p:spPr/>
      </p:sp>
    </p:spTree>
    <p:extLst>
      <p:ext uri="{BB962C8B-B14F-4D97-AF65-F5344CB8AC3E}">
        <p14:creationId xmlns:p14="http://schemas.microsoft.com/office/powerpoint/2010/main" val="860339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 30</a:t>
            </a:r>
            <a:endParaRPr lang="fr-FR" dirty="0"/>
          </a:p>
          <a:p>
            <a:r>
              <a:rPr lang="fr-FR" dirty="0"/>
              <a:t>Ce diagramme présente les cinq entités principales : User, Product, </a:t>
            </a:r>
            <a:r>
              <a:rPr lang="fr-FR" dirty="0" err="1"/>
              <a:t>Category</a:t>
            </a:r>
            <a:r>
              <a:rPr lang="fr-FR" dirty="0"/>
              <a:t>, </a:t>
            </a:r>
            <a:r>
              <a:rPr lang="fr-FR" dirty="0" err="1"/>
              <a:t>Review</a:t>
            </a:r>
            <a:r>
              <a:rPr lang="fr-FR" dirty="0"/>
              <a:t> et </a:t>
            </a:r>
            <a:r>
              <a:rPr lang="fr-FR" dirty="0" err="1"/>
              <a:t>QuoteRequest</a:t>
            </a:r>
            <a:r>
              <a:rPr lang="fr-FR" dirty="0"/>
              <a:t>.</a:t>
            </a:r>
          </a:p>
          <a:p>
            <a:r>
              <a:rPr lang="fr-FR" dirty="0"/>
              <a:t>Je vais surtout expliquer les relations. Un produit peut appartenir à une ou plusieurs catégories, et une catégorie peut regrouper plusieurs produits. C’est une relation </a:t>
            </a:r>
            <a:r>
              <a:rPr lang="fr-FR" dirty="0" err="1"/>
              <a:t>many</a:t>
            </a:r>
            <a:r>
              <a:rPr lang="fr-FR" dirty="0"/>
              <a:t> to </a:t>
            </a:r>
            <a:r>
              <a:rPr lang="fr-FR" dirty="0" err="1"/>
              <a:t>many</a:t>
            </a:r>
            <a:r>
              <a:rPr lang="fr-FR" dirty="0"/>
              <a:t>.</a:t>
            </a:r>
          </a:p>
          <a:p>
            <a:r>
              <a:rPr lang="fr-FR" dirty="0"/>
              <a:t>Un utilisateur peut déposer plusieurs avis et transmettre plusieurs demandes de devis. Cependant, une demande de devis peut aussi venir d’un visiteur sans compte : son association avec User est donc facultative.</a:t>
            </a:r>
          </a:p>
          <a:p>
            <a:r>
              <a:rPr lang="fr-FR" dirty="0"/>
              <a:t>Un avis appartient à un utilisateur. Il peut concerner un produit, mais ce lien est également facultatif.</a:t>
            </a:r>
          </a:p>
          <a:p>
            <a:r>
              <a:rPr lang="fr-FR" dirty="0"/>
              <a:t>Ces choix correspondent aux usages du site. Je ne veux pas imposer la création d’un compte pour demander un devis.</a:t>
            </a:r>
          </a:p>
          <a:p>
            <a:r>
              <a:rPr lang="fr-FR" dirty="0"/>
              <a:t>Les propriétés décrivent les informations nécessaires. Par exemple, </a:t>
            </a:r>
            <a:r>
              <a:rPr lang="fr-FR" dirty="0" err="1"/>
              <a:t>QuoteRequest</a:t>
            </a:r>
            <a:r>
              <a:rPr lang="fr-FR" dirty="0"/>
              <a:t> conserve les coordonnées et les caractéristiques de la demande.</a:t>
            </a:r>
          </a:p>
          <a:p>
            <a:r>
              <a:rPr lang="fr-FR" dirty="0"/>
              <a:t>[Suivre les trois relations concernées sur le diagramme. Ne pas lire tous les attributs.]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F3096-7536-B5B1-3F83-7B151DB9C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9ABB6-E8EB-34D9-0E51-A1B3568E95F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9CD610-85EC-817B-B81E-0BC3E7F9D888}"/>
              </a:ext>
            </a:extLst>
          </p:cNvPr>
          <p:cNvSpPr>
            <a:spLocks noGrp="1"/>
          </p:cNvSpPr>
          <p:nvPr>
            <p:ph type="body" sz="quarter" idx="3"/>
          </p:nvPr>
        </p:nvSpPr>
        <p:spPr/>
        <p:txBody>
          <a:bodyPr/>
          <a:lstStyle/>
          <a:p>
            <a:r>
              <a:rPr lang="fr-FR" b="1" dirty="0"/>
              <a:t>1 minute 30</a:t>
            </a:r>
            <a:endParaRPr lang="fr-FR" dirty="0"/>
          </a:p>
          <a:p>
            <a:r>
              <a:rPr lang="fr-FR" dirty="0"/>
              <a:t>Voici la traduction du modèle dans </a:t>
            </a:r>
            <a:r>
              <a:rPr lang="fr-FR" dirty="0" err="1"/>
              <a:t>MariaDB</a:t>
            </a:r>
            <a:r>
              <a:rPr lang="fr-FR" dirty="0"/>
              <a:t>. Les entités principales correspondent aux tables métier.</a:t>
            </a:r>
          </a:p>
          <a:p>
            <a:r>
              <a:rPr lang="fr-FR" dirty="0"/>
              <a:t>Chaque table possède une clé primaire qui identifie ses enregistrements. Les clés étrangères permettent de relier les données.</a:t>
            </a:r>
          </a:p>
          <a:p>
            <a:r>
              <a:rPr lang="fr-FR" dirty="0"/>
              <a:t>La table </a:t>
            </a:r>
            <a:r>
              <a:rPr lang="fr-FR" dirty="0" err="1"/>
              <a:t>product_category</a:t>
            </a:r>
            <a:r>
              <a:rPr lang="fr-FR" dirty="0"/>
              <a:t> est particulièrement importante. Elle relie les identifiants des produits et des catégories pour représenter la relation plusieurs à plusieurs.</a:t>
            </a:r>
          </a:p>
          <a:p>
            <a:r>
              <a:rPr lang="fr-FR" dirty="0"/>
              <a:t>Dans </a:t>
            </a:r>
            <a:r>
              <a:rPr lang="fr-FR" dirty="0" err="1"/>
              <a:t>quote_request</a:t>
            </a:r>
            <a:r>
              <a:rPr lang="fr-FR" dirty="0"/>
              <a:t>, </a:t>
            </a:r>
            <a:r>
              <a:rPr lang="fr-FR" dirty="0" err="1"/>
              <a:t>user_id</a:t>
            </a:r>
            <a:r>
              <a:rPr lang="fr-FR" dirty="0"/>
              <a:t> peut être absent, car un visiteur peut envoyer un devis sans compte. Les coordonnées restent enregistrées dans la demande.</a:t>
            </a:r>
          </a:p>
          <a:p>
            <a:r>
              <a:rPr lang="fr-FR" dirty="0"/>
              <a:t>Les types de colonnes correspondent aux informations : un entier pour une quantité, du texte pour un message, une date pour la création et un booléen pour l’activation d’un produit.</a:t>
            </a:r>
          </a:p>
          <a:p>
            <a:r>
              <a:rPr lang="fr-FR" dirty="0"/>
              <a:t>Les migrations conservent les évolutions de la structure. Avant une modification sur une base utilisée, il faut sauvegarder les données et préparer la possibilité de les restaurer. Un chargement de fixtures ne doit pas remplacer les demandes réelles.</a:t>
            </a:r>
          </a:p>
          <a:p>
            <a:r>
              <a:rPr lang="fr-FR" dirty="0"/>
              <a:t>[Montrer une clé primaire, une clé étrangère et la table de liaison.]</a:t>
            </a:r>
          </a:p>
        </p:txBody>
      </p:sp>
      <p:sp>
        <p:nvSpPr>
          <p:cNvPr id="4" name="Slide Number Placeholder 3">
            <a:extLst>
              <a:ext uri="{FF2B5EF4-FFF2-40B4-BE49-F238E27FC236}">
                <a16:creationId xmlns:a16="http://schemas.microsoft.com/office/drawing/2014/main" id="{CB2B959D-F341-A086-E112-86DC7B0F519A}"/>
              </a:ext>
            </a:extLst>
          </p:cNvPr>
          <p:cNvSpPr>
            <a:spLocks noGrp="1"/>
          </p:cNvSpPr>
          <p:nvPr>
            <p:ph type="sldNum" sz="quarter" idx="5"/>
          </p:nvPr>
        </p:nvSpPr>
        <p:spPr/>
      </p:sp>
    </p:spTree>
    <p:extLst>
      <p:ext uri="{BB962C8B-B14F-4D97-AF65-F5344CB8AC3E}">
        <p14:creationId xmlns:p14="http://schemas.microsoft.com/office/powerpoint/2010/main" val="2249040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a:t>
            </a:r>
            <a:endParaRPr lang="fr-FR" dirty="0"/>
          </a:p>
          <a:p>
            <a:r>
              <a:rPr lang="fr-FR" dirty="0"/>
              <a:t>J’ai commencé par un wireframe pour organiser les grandes zones de la page d’accueil : la navigation, la présentation de l’atelier et les accès aux prestations.</a:t>
            </a:r>
          </a:p>
          <a:p>
            <a:r>
              <a:rPr lang="fr-FR" dirty="0"/>
              <a:t>À gauche, on voit cette structure de départ. À droite, on voit sa réalisation dans le site.</a:t>
            </a:r>
          </a:p>
          <a:p>
            <a:r>
              <a:rPr lang="fr-FR" dirty="0"/>
              <a:t>J’ai conservé l’organisation générale, puis ajouté l’identité de l’atelier avec le logo, la photographie, les couleurs et la typographie.</a:t>
            </a:r>
          </a:p>
          <a:p>
            <a:r>
              <a:rPr lang="fr-FR" dirty="0"/>
              <a:t>Le bouton principal permet au visiteur de découvrir les prestations. L’objectif est qu’il comprenne rapidement l’activité et sache où continuer sa navigation.</a:t>
            </a:r>
          </a:p>
          <a:p>
            <a:r>
              <a:rPr lang="fr-FR" dirty="0"/>
              <a:t>[Montrer la navigation, la zone principale et le bouton dans les deux images.]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a:t>
            </a:r>
            <a:endParaRPr lang="fr-FR" dirty="0"/>
          </a:p>
          <a:p>
            <a:r>
              <a:rPr lang="fr-FR" dirty="0"/>
              <a:t>Sur mobile, j’ai adapté la disposition à une largeur plus étroite. Le menu est regroupé derrière un bouton et le contenu se lit verticalement.</a:t>
            </a:r>
          </a:p>
          <a:p>
            <a:r>
              <a:rPr lang="fr-FR" dirty="0"/>
              <a:t>Les images montrent la préparation de cette version et le résultat obtenu dans le site. J’ai vérifié notamment la taille des textes, la disposition du titre et l’accès aux boutons.</a:t>
            </a:r>
          </a:p>
          <a:p>
            <a:r>
              <a:rPr lang="fr-FR" dirty="0"/>
              <a:t>La présentation conserve la même identité que sur ordinateur : un fond clair, des textes sombres et des accents dorés.</a:t>
            </a:r>
          </a:p>
          <a:p>
            <a:r>
              <a:rPr lang="fr-FR" dirty="0"/>
              <a:t>Les variantes du logo permettent aussi de l’adapter au thème clair ou sombre.</a:t>
            </a:r>
          </a:p>
          <a:p>
            <a:r>
              <a:rPr lang="fr-FR" dirty="0"/>
              <a:t>[Comparer les deux vues mobiles, puis montrer brièvement la palette et les logos.]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24497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0E4A0-1160-12CB-E4F2-953041060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BA787-D6BD-7159-9C9C-BB6325B16A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B4702FE-F111-C858-A01B-0E5DD6A04663}"/>
              </a:ext>
            </a:extLst>
          </p:cNvPr>
          <p:cNvSpPr>
            <a:spLocks noGrp="1"/>
          </p:cNvSpPr>
          <p:nvPr>
            <p:ph type="body" sz="quarter" idx="3"/>
          </p:nvPr>
        </p:nvSpPr>
        <p:spPr/>
        <p:txBody>
          <a:bodyPr/>
          <a:lstStyle/>
          <a:p>
            <a:r>
              <a:rPr lang="fr-FR" b="1" dirty="0"/>
              <a:t>45 secondes</a:t>
            </a:r>
            <a:endParaRPr lang="fr-FR" dirty="0"/>
          </a:p>
          <a:p>
            <a:r>
              <a:rPr lang="fr-FR" dirty="0"/>
              <a:t>Les fixtures servent à préparer des données pour le développement et la démonstration.</a:t>
            </a:r>
          </a:p>
          <a:p>
            <a:r>
              <a:rPr lang="fr-FR" dirty="0"/>
              <a:t>Les </a:t>
            </a:r>
            <a:r>
              <a:rPr lang="fr-FR" dirty="0" err="1"/>
              <a:t>factories</a:t>
            </a:r>
            <a:r>
              <a:rPr lang="fr-FR" dirty="0"/>
              <a:t> définissent les informations des objets à créer. Faker fournit des valeurs fictives, par exemple des noms ou des descriptions.</a:t>
            </a:r>
          </a:p>
          <a:p>
            <a:r>
              <a:rPr lang="fr-FR" dirty="0"/>
              <a:t>Cela permet de tester les listes et les relations sans saisir tous les enregistrements manuellement.</a:t>
            </a:r>
          </a:p>
          <a:p>
            <a:r>
              <a:rPr lang="fr-FR" dirty="0"/>
              <a:t>Ces données ne représentent pas de vraies demandes de clients. Leur chargement est réservé à une base de développement ou de démonstration, car il peut remplacer les données présentes.</a:t>
            </a:r>
          </a:p>
          <a:p>
            <a:r>
              <a:rPr lang="fr-FR" dirty="0"/>
              <a:t>[Montrer un exemple de valeur fictive et son résultat en base.]</a:t>
            </a:r>
          </a:p>
        </p:txBody>
      </p:sp>
      <p:sp>
        <p:nvSpPr>
          <p:cNvPr id="4" name="Slide Number Placeholder 3">
            <a:extLst>
              <a:ext uri="{FF2B5EF4-FFF2-40B4-BE49-F238E27FC236}">
                <a16:creationId xmlns:a16="http://schemas.microsoft.com/office/drawing/2014/main" id="{60085137-0C77-2D0C-C154-F7E27428D8E9}"/>
              </a:ext>
            </a:extLst>
          </p:cNvPr>
          <p:cNvSpPr>
            <a:spLocks noGrp="1"/>
          </p:cNvSpPr>
          <p:nvPr>
            <p:ph type="sldNum" sz="quarter" idx="5"/>
          </p:nvPr>
        </p:nvSpPr>
        <p:spPr/>
      </p:sp>
    </p:spTree>
    <p:extLst>
      <p:ext uri="{BB962C8B-B14F-4D97-AF65-F5344CB8AC3E}">
        <p14:creationId xmlns:p14="http://schemas.microsoft.com/office/powerpoint/2010/main" val="847020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14650-3623-84CC-CAD4-60560A776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43CD2-0F4C-D245-27BF-960F96E6D3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3E3190-DACF-AF3D-F44E-B9E3A8EC833E}"/>
              </a:ext>
            </a:extLst>
          </p:cNvPr>
          <p:cNvSpPr>
            <a:spLocks noGrp="1"/>
          </p:cNvSpPr>
          <p:nvPr>
            <p:ph type="body" sz="quarter" idx="3"/>
          </p:nvPr>
        </p:nvSpPr>
        <p:spPr/>
        <p:txBody>
          <a:bodyPr/>
          <a:lstStyle/>
          <a:p>
            <a:r>
              <a:rPr lang="fr-FR" b="1" dirty="0"/>
              <a:t>1 minute</a:t>
            </a:r>
            <a:endParaRPr lang="fr-FR" dirty="0"/>
          </a:p>
          <a:p>
            <a:r>
              <a:rPr lang="fr-FR" dirty="0"/>
              <a:t>Bootstrap fournit la grille responsive et des composants comme les boutons et les formulaires. Mon CSS personnalise leur apparence.</a:t>
            </a:r>
          </a:p>
          <a:p>
            <a:r>
              <a:rPr lang="fr-FR" dirty="0"/>
              <a:t>L’extrait montre des variables de couleur. Elles permettent de réutiliser les mêmes valeurs dans plusieurs éléments et de les adapter au thème sombre.</a:t>
            </a:r>
          </a:p>
          <a:p>
            <a:r>
              <a:rPr lang="fr-FR" dirty="0"/>
              <a:t>Pour le responsive, je vérifie les colonnes, les menus et les champs à différentes largeurs.</a:t>
            </a:r>
          </a:p>
          <a:p>
            <a:r>
              <a:rPr lang="fr-FR" dirty="0"/>
              <a:t>J’ai également intégré des mesures d’accessibilité : des libellés pour les champs, des noms accessibles pour certaines commandes et un lien pour aller directement au contenu.</a:t>
            </a:r>
          </a:p>
          <a:p>
            <a:r>
              <a:rPr lang="fr-FR" dirty="0"/>
              <a:t>Ces mesures doivent être vérifiées dans le navigateur, notamment au clavier. Je ne présente pas le site comme ayant passé un audit complet de conformité RGAA.</a:t>
            </a:r>
          </a:p>
          <a:p>
            <a:endParaRPr lang="pt-BR" dirty="0"/>
          </a:p>
          <a:p>
            <a:r>
              <a:rPr lang="fr-FR" dirty="0"/>
              <a:t>“Préparation aux questions — ne pas lire pendant la présentation”</a:t>
            </a:r>
          </a:p>
          <a:p>
            <a:r>
              <a:rPr lang="fr-FR" dirty="0"/>
              <a:t>Pour le CSS, j'utilise Bootstrap pour le système de grille, le responsive, les boutons, les formulaires et certains composants.</a:t>
            </a:r>
          </a:p>
          <a:p>
            <a:r>
              <a:rPr lang="fr-FR" dirty="0"/>
              <a:t>J'ai ensuite ajouté des classes personnalisées pour respecter le design du projet, par exemple « service-</a:t>
            </a:r>
            <a:r>
              <a:rPr lang="fr-FR" dirty="0" err="1"/>
              <a:t>card</a:t>
            </a:r>
            <a:r>
              <a:rPr lang="fr-FR" dirty="0"/>
              <a:t> », « </a:t>
            </a:r>
            <a:r>
              <a:rPr lang="fr-FR" dirty="0" err="1"/>
              <a:t>hero</a:t>
            </a:r>
            <a:r>
              <a:rPr lang="fr-FR" dirty="0"/>
              <a:t>-section » ou « </a:t>
            </a:r>
            <a:r>
              <a:rPr lang="fr-FR" dirty="0" err="1"/>
              <a:t>btn</a:t>
            </a:r>
            <a:r>
              <a:rPr lang="fr-FR" dirty="0"/>
              <a:t>-gold ».</a:t>
            </a:r>
          </a:p>
          <a:p>
            <a:endParaRPr lang="fr-FR" dirty="0"/>
          </a:p>
          <a:p>
            <a:endParaRPr dirty="0"/>
          </a:p>
        </p:txBody>
      </p:sp>
      <p:sp>
        <p:nvSpPr>
          <p:cNvPr id="4" name="Slide Number Placeholder 3">
            <a:extLst>
              <a:ext uri="{FF2B5EF4-FFF2-40B4-BE49-F238E27FC236}">
                <a16:creationId xmlns:a16="http://schemas.microsoft.com/office/drawing/2014/main" id="{BFEB2D9A-4DAD-4B55-3C66-DC40F5C056E6}"/>
              </a:ext>
            </a:extLst>
          </p:cNvPr>
          <p:cNvSpPr>
            <a:spLocks noGrp="1"/>
          </p:cNvSpPr>
          <p:nvPr>
            <p:ph type="sldNum" sz="quarter" idx="5"/>
          </p:nvPr>
        </p:nvSpPr>
        <p:spPr/>
      </p:sp>
    </p:spTree>
    <p:extLst>
      <p:ext uri="{BB962C8B-B14F-4D97-AF65-F5344CB8AC3E}">
        <p14:creationId xmlns:p14="http://schemas.microsoft.com/office/powerpoint/2010/main" val="1625430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a:t>
            </a:r>
            <a:endParaRPr lang="fr-FR" dirty="0"/>
          </a:p>
          <a:p>
            <a:r>
              <a:rPr lang="fr-FR" dirty="0"/>
              <a:t>Twig permet de réutiliser une structure commune et d’afficher les données transmises par le contrôleur.</a:t>
            </a:r>
          </a:p>
          <a:p>
            <a:r>
              <a:rPr lang="fr-FR" dirty="0"/>
              <a:t>Dans cet exemple, une boucle parcourt les avis. Pour chaque avis, le </a:t>
            </a:r>
            <a:r>
              <a:rPr lang="fr-FR" dirty="0" err="1"/>
              <a:t>template</a:t>
            </a:r>
            <a:r>
              <a:rPr lang="fr-FR" dirty="0"/>
              <a:t> construit une carte. Une autre boucle et une condition permettent d’afficher les étoiles selon la note.</a:t>
            </a:r>
          </a:p>
          <a:p>
            <a:r>
              <a:rPr lang="fr-FR" dirty="0"/>
              <a:t>Le HTML définit la structure, tandis que Twig adapte le contenu.</a:t>
            </a:r>
          </a:p>
          <a:p>
            <a:r>
              <a:rPr lang="fr-FR" dirty="0"/>
              <a:t>Twig s’exécute côté serveur. Le navigateur reçoit ensuite du HTML, sans avoir besoin de comprendre la syntaxe Twig.</a:t>
            </a:r>
          </a:p>
          <a:p>
            <a:r>
              <a:rPr lang="fr-FR" dirty="0"/>
              <a:t>L’échappement des valeurs est aussi important pour afficher les contenus saisis comme du texte dans les usages habituels, plutôt que comme du code HTML.</a:t>
            </a:r>
          </a:p>
          <a:p>
            <a:r>
              <a:rPr lang="fr-FR" dirty="0"/>
              <a:t>[Montrer une boucle, une condition et une valeur affichée.]</a:t>
            </a:r>
          </a:p>
          <a:p>
            <a:endParaRPr lang="fr-FR" dirty="0"/>
          </a:p>
          <a:p>
            <a:r>
              <a:rPr lang="fr-FR" dirty="0"/>
              <a:t>“Préparation aux questions — ne pas lire pendant la présentation”</a:t>
            </a:r>
          </a:p>
          <a:p>
            <a:endParaRPr lang="fr-FR" dirty="0"/>
          </a:p>
          <a:p>
            <a:r>
              <a:rPr lang="fr-FR" dirty="0"/>
              <a:t>Pour le </a:t>
            </a:r>
            <a:r>
              <a:rPr lang="fr-FR" dirty="0" err="1"/>
              <a:t>front-end</a:t>
            </a:r>
            <a:r>
              <a:rPr lang="fr-FR" dirty="0"/>
              <a:t>, j'utilise principalement Twig, HTML, Bootstrap, CSS et JavaScript.</a:t>
            </a:r>
          </a:p>
          <a:p>
            <a:r>
              <a:rPr lang="fr-FR" dirty="0"/>
              <a:t>Twig est utilisé pour générer les pages dynamiquement.</a:t>
            </a:r>
          </a:p>
          <a:p>
            <a:r>
              <a:rPr lang="fr-FR" dirty="0"/>
              <a:t>Par exemple, lorsqu'un </a:t>
            </a:r>
            <a:r>
              <a:rPr lang="fr-FR" dirty="0" err="1"/>
              <a:t>controller</a:t>
            </a:r>
            <a:r>
              <a:rPr lang="fr-FR" dirty="0"/>
              <a:t> récupère une liste de produits, Twig peut parcourir cette liste et générer automatiquement les cartes produits.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1159-95DD-E7EA-9203-51C0FFFA9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2DFDE-0E7A-7D7A-2129-6FCC732C28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F9DA19-03A8-92C7-68E6-27C40F8057C4}"/>
              </a:ext>
            </a:extLst>
          </p:cNvPr>
          <p:cNvSpPr>
            <a:spLocks noGrp="1"/>
          </p:cNvSpPr>
          <p:nvPr>
            <p:ph type="body" sz="quarter" idx="3"/>
          </p:nvPr>
        </p:nvSpPr>
        <p:spPr/>
        <p:txBody>
          <a:bodyPr/>
          <a:lstStyle/>
          <a:p>
            <a:r>
              <a:rPr lang="fr-FR" b="1" dirty="0"/>
              <a:t>2 minutes</a:t>
            </a:r>
            <a:endParaRPr lang="fr-FR" dirty="0"/>
          </a:p>
          <a:p>
            <a:r>
              <a:rPr lang="fr-FR" dirty="0"/>
              <a:t>Le changement de thème est un exemple de traitement réalisé directement dans le navigateur.</a:t>
            </a:r>
          </a:p>
          <a:p>
            <a:r>
              <a:rPr lang="fr-FR" dirty="0"/>
              <a:t>Au chargement de la page, le script consulte </a:t>
            </a:r>
            <a:r>
              <a:rPr lang="fr-FR" dirty="0" err="1"/>
              <a:t>localStorage</a:t>
            </a:r>
            <a:r>
              <a:rPr lang="fr-FR" dirty="0"/>
              <a:t> pour retrouver une préférence enregistrée. Il applique ensuite le thème clair ou sombre.</a:t>
            </a:r>
          </a:p>
          <a:p>
            <a:r>
              <a:rPr lang="fr-FR" dirty="0"/>
              <a:t>Le script sélectionne les boutons grâce à l’attribut data-</a:t>
            </a:r>
            <a:r>
              <a:rPr lang="fr-FR" dirty="0" err="1"/>
              <a:t>theme</a:t>
            </a:r>
            <a:r>
              <a:rPr lang="fr-FR" dirty="0"/>
              <a:t>-</a:t>
            </a:r>
            <a:r>
              <a:rPr lang="fr-FR" dirty="0" err="1"/>
              <a:t>toggle</a:t>
            </a:r>
            <a:r>
              <a:rPr lang="fr-FR" dirty="0"/>
              <a:t>. Il leur associe un écouteur de l’événement click.</a:t>
            </a:r>
          </a:p>
          <a:p>
            <a:r>
              <a:rPr lang="fr-FR" dirty="0"/>
              <a:t>[Montrer la sélection des boutons et </a:t>
            </a:r>
            <a:r>
              <a:rPr lang="fr-FR" dirty="0" err="1"/>
              <a:t>addEventListener</a:t>
            </a:r>
            <a:r>
              <a:rPr lang="fr-FR" dirty="0"/>
              <a:t>.]</a:t>
            </a:r>
          </a:p>
          <a:p>
            <a:r>
              <a:rPr lang="fr-FR" dirty="0"/>
              <a:t>Quand l’utilisateur clique, </a:t>
            </a:r>
            <a:r>
              <a:rPr lang="fr-FR" dirty="0" err="1"/>
              <a:t>classList.toggle</a:t>
            </a:r>
            <a:r>
              <a:rPr lang="fr-FR" dirty="0"/>
              <a:t> ajoute ou retire la classe </a:t>
            </a:r>
            <a:r>
              <a:rPr lang="fr-FR" dirty="0" err="1"/>
              <a:t>dark</a:t>
            </a:r>
            <a:r>
              <a:rPr lang="fr-FR" dirty="0"/>
              <a:t>-mode sur le body. Le CSS utilise cette classe pour changer les couleurs.</a:t>
            </a:r>
          </a:p>
          <a:p>
            <a:r>
              <a:rPr lang="fr-FR" dirty="0"/>
              <a:t>Le script enregistre ensuite le choix dans </a:t>
            </a:r>
            <a:r>
              <a:rPr lang="fr-FR" dirty="0" err="1"/>
              <a:t>localStorage</a:t>
            </a:r>
            <a:r>
              <a:rPr lang="fr-FR" dirty="0"/>
              <a:t>. Cette préférence reste dans ce navigateur pour le site. Elle n’est pas enregistrée dans le compte utilisateur et n’est pas synchronisée entre plusieurs appareils.</a:t>
            </a:r>
          </a:p>
          <a:p>
            <a:r>
              <a:rPr lang="fr-FR" dirty="0"/>
              <a:t>[Montrer </a:t>
            </a:r>
            <a:r>
              <a:rPr lang="fr-FR" dirty="0" err="1"/>
              <a:t>classList.toggle</a:t>
            </a:r>
            <a:r>
              <a:rPr lang="fr-FR" dirty="0"/>
              <a:t> et </a:t>
            </a:r>
            <a:r>
              <a:rPr lang="fr-FR" dirty="0" err="1"/>
              <a:t>localStorage.setItem</a:t>
            </a:r>
            <a:r>
              <a:rPr lang="fr-FR" dirty="0"/>
              <a:t>.]</a:t>
            </a:r>
          </a:p>
          <a:p>
            <a:r>
              <a:rPr lang="fr-FR" dirty="0"/>
              <a:t>Une fonction met aussi à jour les icônes, les logos et le libellé accessible du bouton. Le bouton doit indiquer l’action suivante, par exemple « Activer le mode clair ».</a:t>
            </a:r>
          </a:p>
          <a:p>
            <a:r>
              <a:rPr lang="fr-FR" dirty="0"/>
              <a:t>Cette interaction ne nécessite pas de requête au serveur.</a:t>
            </a:r>
          </a:p>
          <a:p>
            <a:r>
              <a:rPr lang="fr-FR" dirty="0"/>
              <a:t>Pour la vérifier, on peut changer de thème, recharger la page et contrôler que le choix est conservé. Il faut aussi regarder le rendu réel et l’utilisation au clavier.</a:t>
            </a:r>
          </a:p>
          <a:p>
            <a:r>
              <a:rPr lang="fr-FR" dirty="0"/>
              <a:t>[Relier l’événement, la modification du DOM et le résultat visible.]</a:t>
            </a:r>
          </a:p>
        </p:txBody>
      </p:sp>
      <p:sp>
        <p:nvSpPr>
          <p:cNvPr id="4" name="Slide Number Placeholder 3">
            <a:extLst>
              <a:ext uri="{FF2B5EF4-FFF2-40B4-BE49-F238E27FC236}">
                <a16:creationId xmlns:a16="http://schemas.microsoft.com/office/drawing/2014/main" id="{0EA0F60C-60C5-B1C0-D491-2D8C61EDFFB3}"/>
              </a:ext>
            </a:extLst>
          </p:cNvPr>
          <p:cNvSpPr>
            <a:spLocks noGrp="1"/>
          </p:cNvSpPr>
          <p:nvPr>
            <p:ph type="sldNum" sz="quarter" idx="5"/>
          </p:nvPr>
        </p:nvSpPr>
        <p:spPr/>
      </p:sp>
    </p:spTree>
    <p:extLst>
      <p:ext uri="{BB962C8B-B14F-4D97-AF65-F5344CB8AC3E}">
        <p14:creationId xmlns:p14="http://schemas.microsoft.com/office/powerpoint/2010/main" val="2866797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a:t>
            </a:r>
            <a:endParaRPr lang="fr-FR" dirty="0"/>
          </a:p>
          <a:p>
            <a:r>
              <a:rPr lang="fr-FR" dirty="0"/>
              <a:t>Pour expliquer l’organisation, je prends l’exemple de la liste des produits.</a:t>
            </a:r>
          </a:p>
          <a:p>
            <a:r>
              <a:rPr lang="fr-FR" dirty="0"/>
              <a:t>Le navigateur envoie une requête. La route détermine le contrôleur à exécuter.</a:t>
            </a:r>
          </a:p>
          <a:p>
            <a:r>
              <a:rPr lang="fr-FR" dirty="0"/>
              <a:t>Le contrôleur utilise le repository pour rechercher les produits actifs. Il transmet ensuite les résultats à Twig, qui construit la page HTML.</a:t>
            </a:r>
          </a:p>
          <a:p>
            <a:r>
              <a:rPr lang="fr-FR" dirty="0"/>
              <a:t>Les entités et les repositories participent au modèle. Twig représente la vue. Le contrôleur coordonne le traitement.</a:t>
            </a:r>
          </a:p>
          <a:p>
            <a:r>
              <a:rPr lang="fr-FR" dirty="0"/>
              <a:t>Cette séparation m’aide à trouver l’origine d’un problème. Si les données sont incorrectes, je regarde la recherche. Si les bonnes données sont présentes mais mal affichées, je regarde le </a:t>
            </a:r>
            <a:r>
              <a:rPr lang="fr-FR" dirty="0" err="1"/>
              <a:t>template</a:t>
            </a:r>
            <a:r>
              <a:rPr lang="fr-FR" dirty="0"/>
              <a:t> et le CSS.</a:t>
            </a:r>
          </a:p>
          <a:p>
            <a:r>
              <a:rPr lang="fr-FR" dirty="0"/>
              <a:t>[Suivre le trajet de la requête sur le slide.]</a:t>
            </a:r>
          </a:p>
          <a:p>
            <a:endParaRPr lang="pt-BR" dirty="0"/>
          </a:p>
          <a:p>
            <a:r>
              <a:rPr lang="fr-FR" dirty="0"/>
              <a:t>“Préparation aux questions — ne pas lire pendant la présentation”</a:t>
            </a:r>
            <a:endParaRPr lang="pt-BR" dirty="0"/>
          </a:p>
          <a:p>
            <a:endParaRPr lang="pt-BR" dirty="0"/>
          </a:p>
          <a:p>
            <a:r>
              <a:rPr lang="fr-FR" dirty="0"/>
              <a:t>Le </a:t>
            </a:r>
            <a:r>
              <a:rPr lang="fr-FR" dirty="0" err="1"/>
              <a:t>back-end</a:t>
            </a:r>
            <a:r>
              <a:rPr lang="fr-FR" dirty="0"/>
              <a:t> est basé sur le principe MVC.</a:t>
            </a:r>
          </a:p>
          <a:p>
            <a:r>
              <a:rPr lang="fr-FR" dirty="0"/>
              <a:t>La partie Model est représentée principalement par les entités Doctrine et les repositories.</a:t>
            </a:r>
          </a:p>
          <a:p>
            <a:r>
              <a:rPr lang="fr-FR" dirty="0"/>
              <a:t>Les </a:t>
            </a:r>
            <a:r>
              <a:rPr lang="fr-FR" dirty="0" err="1"/>
              <a:t>controllers</a:t>
            </a:r>
            <a:r>
              <a:rPr lang="fr-FR" dirty="0"/>
              <a:t> reçoivent les requêtes et coordonnent le traitement.</a:t>
            </a:r>
          </a:p>
          <a:p>
            <a:r>
              <a:rPr lang="fr-FR" dirty="0"/>
              <a:t>Enfin, la </a:t>
            </a:r>
            <a:r>
              <a:rPr lang="fr-FR" dirty="0" err="1"/>
              <a:t>View</a:t>
            </a:r>
            <a:r>
              <a:rPr lang="fr-FR" dirty="0"/>
              <a:t> correspond aux </a:t>
            </a:r>
            <a:r>
              <a:rPr lang="fr-FR" dirty="0" err="1"/>
              <a:t>templates</a:t>
            </a:r>
            <a:r>
              <a:rPr lang="fr-FR" dirty="0"/>
              <a:t> Twig.</a:t>
            </a:r>
          </a:p>
          <a:p>
            <a:r>
              <a:rPr lang="fr-FR" dirty="0"/>
              <a:t>Par exemple, lorsqu'un utilisateur consulte la liste des produits, la requête arrive sur </a:t>
            </a:r>
            <a:r>
              <a:rPr lang="fr-FR" dirty="0" err="1"/>
              <a:t>ProductController</a:t>
            </a:r>
            <a:r>
              <a:rPr lang="fr-FR" dirty="0"/>
              <a:t>.</a:t>
            </a:r>
          </a:p>
          <a:p>
            <a:r>
              <a:rPr lang="fr-FR" dirty="0"/>
              <a:t>Le </a:t>
            </a:r>
            <a:r>
              <a:rPr lang="fr-FR" dirty="0" err="1"/>
              <a:t>controller</a:t>
            </a:r>
            <a:r>
              <a:rPr lang="fr-FR" dirty="0"/>
              <a:t> utilise </a:t>
            </a:r>
            <a:r>
              <a:rPr lang="fr-FR" dirty="0" err="1"/>
              <a:t>ProductRepository</a:t>
            </a:r>
            <a:r>
              <a:rPr lang="fr-FR" dirty="0"/>
              <a:t> pour récupérer les produits actifs.</a:t>
            </a:r>
          </a:p>
          <a:p>
            <a:r>
              <a:rPr lang="fr-FR" dirty="0"/>
              <a:t>Il transmet ensuite les données au </a:t>
            </a:r>
            <a:r>
              <a:rPr lang="fr-FR" dirty="0" err="1"/>
              <a:t>template</a:t>
            </a:r>
            <a:r>
              <a:rPr lang="fr-FR" dirty="0"/>
              <a:t> Twig.</a:t>
            </a:r>
          </a:p>
          <a:p>
            <a:r>
              <a:rPr lang="fr-FR" dirty="0"/>
              <a:t>Twig génère le HTML qui est finalement envoyé au navigateur.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a:t>
            </a:r>
            <a:endParaRPr lang="fr-FR" dirty="0"/>
          </a:p>
          <a:p>
            <a:r>
              <a:rPr lang="fr-FR" dirty="0"/>
              <a:t>Doctrine est un ORM (Object-</a:t>
            </a:r>
            <a:r>
              <a:rPr lang="fr-FR" dirty="0" err="1"/>
              <a:t>Relational</a:t>
            </a:r>
            <a:r>
              <a:rPr lang="fr-FR" dirty="0"/>
              <a:t> Mapping). Il fait le lien entre les objets PHP et les tables de la base.</a:t>
            </a:r>
          </a:p>
          <a:p>
            <a:r>
              <a:rPr lang="fr-FR" dirty="0"/>
              <a:t>Dans cet extrait, Product est une entité. Les attributs ORM décrivent son identifiant, ses colonnes et ses relations.</a:t>
            </a:r>
          </a:p>
          <a:p>
            <a:r>
              <a:rPr lang="fr-FR" dirty="0"/>
              <a:t>L’identifiant est généré automatiquement. Le titre correspond à une colonne. La collection </a:t>
            </a:r>
            <a:r>
              <a:rPr lang="fr-FR" dirty="0" err="1"/>
              <a:t>categories</a:t>
            </a:r>
            <a:r>
              <a:rPr lang="fr-FR" dirty="0"/>
              <a:t> représente la relation plusieurs à plusieurs.</a:t>
            </a:r>
          </a:p>
          <a:p>
            <a:r>
              <a:rPr lang="fr-FR" dirty="0"/>
              <a:t>Quand je manipule un produit dans le code, je travaille avec un objet PHP. Doctrine utilise le mapping pour lire ou enregistrer les données correspondantes.</a:t>
            </a:r>
          </a:p>
          <a:p>
            <a:r>
              <a:rPr lang="fr-FR" dirty="0"/>
              <a:t>L’ORM ne remplace pas la compréhension du SQL : je dois toujours comprendre les tables, les relations et les recherches effectuées.</a:t>
            </a:r>
          </a:p>
          <a:p>
            <a:r>
              <a:rPr lang="fr-FR" dirty="0"/>
              <a:t>[Montrer Id, Column et </a:t>
            </a:r>
            <a:r>
              <a:rPr lang="fr-FR" dirty="0" err="1"/>
              <a:t>ManyToMany</a:t>
            </a:r>
            <a:r>
              <a:rPr lang="fr-FR" dirty="0"/>
              <a:t>.]</a:t>
            </a:r>
          </a:p>
          <a:p>
            <a:endParaRPr lang="fr-FR" dirty="0"/>
          </a:p>
          <a:p>
            <a:r>
              <a:rPr lang="fr-FR" dirty="0"/>
              <a:t>“Préparation aux questions — ne pas lire pendant la présentation”</a:t>
            </a:r>
          </a:p>
          <a:p>
            <a:endParaRPr lang="fr-FR" dirty="0"/>
          </a:p>
          <a:p>
            <a:r>
              <a:rPr lang="fr-FR" dirty="0"/>
              <a:t>« Un objet Product représente un produit. Les attributs indiquent à Doctrine comment enregistrer ses propriétés. L’identifiant est généré automatiquement. Un produit peut appartenir à plusieurs catégories : cette relation utilise la table </a:t>
            </a:r>
            <a:r>
              <a:rPr lang="fr-FR" dirty="0" err="1"/>
              <a:t>product_category</a:t>
            </a:r>
            <a:r>
              <a:rPr lang="fr-FR" dirty="0"/>
              <a:t>, avec des clés étrangères vers les deux tables. »</a:t>
            </a:r>
          </a:p>
          <a:p>
            <a:r>
              <a:rPr lang="fr-FR" dirty="0" err="1"/>
              <a:t>Isso</a:t>
            </a:r>
            <a:r>
              <a:rPr lang="fr-FR" dirty="0"/>
              <a:t> </a:t>
            </a:r>
            <a:r>
              <a:rPr lang="fr-FR" dirty="0" err="1"/>
              <a:t>cobre</a:t>
            </a:r>
            <a:r>
              <a:rPr lang="fr-FR" dirty="0"/>
              <a:t> </a:t>
            </a:r>
            <a:r>
              <a:rPr lang="fr-FR" b="1" dirty="0" err="1"/>
              <a:t>entidade</a:t>
            </a:r>
            <a:r>
              <a:rPr lang="fr-FR" b="1" dirty="0"/>
              <a:t>, ORM, PK e FK</a:t>
            </a:r>
            <a:r>
              <a:rPr lang="fr-FR" dirty="0"/>
              <a:t>, </a:t>
            </a:r>
            <a:r>
              <a:rPr lang="fr-FR" dirty="0" err="1"/>
              <a:t>sem</a:t>
            </a:r>
            <a:r>
              <a:rPr lang="fr-FR" dirty="0"/>
              <a:t> </a:t>
            </a:r>
            <a:r>
              <a:rPr lang="fr-FR" dirty="0" err="1"/>
              <a:t>antecipar</a:t>
            </a:r>
            <a:r>
              <a:rPr lang="fr-FR" dirty="0"/>
              <a:t> a </a:t>
            </a:r>
            <a:r>
              <a:rPr lang="fr-FR" dirty="0" err="1"/>
              <a:t>explicação</a:t>
            </a:r>
            <a:r>
              <a:rPr lang="fr-FR" dirty="0"/>
              <a:t> do repository.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6821-5539-2CFB-E15D-BBF0C05C6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720BD-99EB-78D9-3607-05FFC3C2B90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BAD349F-DF30-2BB2-FA21-9F6A90313833}"/>
              </a:ext>
            </a:extLst>
          </p:cNvPr>
          <p:cNvSpPr>
            <a:spLocks noGrp="1"/>
          </p:cNvSpPr>
          <p:nvPr>
            <p:ph type="body" sz="quarter" idx="3"/>
          </p:nvPr>
        </p:nvSpPr>
        <p:spPr/>
        <p:txBody>
          <a:bodyPr/>
          <a:lstStyle/>
          <a:p>
            <a:r>
              <a:rPr lang="fr-FR" b="1" dirty="0"/>
              <a:t>1 minute</a:t>
            </a:r>
            <a:endParaRPr lang="fr-FR" dirty="0"/>
          </a:p>
          <a:p>
            <a:r>
              <a:rPr lang="fr-FR" dirty="0"/>
              <a:t>Après les entités, les migrations permettent de faire évoluer la structure de la base de données.</a:t>
            </a:r>
          </a:p>
          <a:p>
            <a:r>
              <a:rPr lang="fr-FR" dirty="0"/>
              <a:t>Quand je modifie le mapping d’une entité, la commande </a:t>
            </a:r>
            <a:r>
              <a:rPr lang="fr-FR" dirty="0" err="1"/>
              <a:t>make</a:t>
            </a:r>
            <a:r>
              <a:rPr lang="fr-FR" dirty="0"/>
              <a:t> permet de générer un fichier contenant les changements SQL. Je peux vérifier ce fichier avant de l’appliquer avec </a:t>
            </a:r>
            <a:r>
              <a:rPr lang="fr-FR" dirty="0" err="1"/>
              <a:t>doctrine:migrations</a:t>
            </a:r>
            <a:r>
              <a:rPr lang="fr-FR" dirty="0"/>
              <a:t>.</a:t>
            </a:r>
          </a:p>
          <a:p>
            <a:r>
              <a:rPr lang="fr-FR" dirty="0"/>
              <a:t>Dans cet exemple de mon projet, la méthode up ajoute la colonne </a:t>
            </a:r>
            <a:r>
              <a:rPr lang="fr-FR" dirty="0" err="1"/>
              <a:t>is_verified</a:t>
            </a:r>
            <a:r>
              <a:rPr lang="fr-FR" dirty="0"/>
              <a:t> à la table user. Elle permet de mémoriser si l’utilisateur a confirmé son adresse e-mail.</a:t>
            </a:r>
          </a:p>
          <a:p>
            <a:r>
              <a:rPr lang="fr-FR" dirty="0"/>
              <a:t>La méthode down prévoit l’opération inverse : supprimer cette colonne. Cela supprimerait aussi les valeurs qu’elle contient.</a:t>
            </a:r>
          </a:p>
          <a:p>
            <a:r>
              <a:rPr lang="fr-FR" dirty="0"/>
              <a:t>Ces fichiers conservent l’historique des changements. Doctrine suit les versions exécutées pour appliquer les migrations en attente.</a:t>
            </a:r>
          </a:p>
          <a:p>
            <a:r>
              <a:rPr lang="fr-FR" dirty="0"/>
              <a:t>Les repositories permettent ensuite de consulter les données, comme je vais le montrer.</a:t>
            </a:r>
          </a:p>
        </p:txBody>
      </p:sp>
      <p:sp>
        <p:nvSpPr>
          <p:cNvPr id="4" name="Slide Number Placeholder 3">
            <a:extLst>
              <a:ext uri="{FF2B5EF4-FFF2-40B4-BE49-F238E27FC236}">
                <a16:creationId xmlns:a16="http://schemas.microsoft.com/office/drawing/2014/main" id="{A4184ED2-3F8D-33BE-9E4D-44A5917A4164}"/>
              </a:ext>
            </a:extLst>
          </p:cNvPr>
          <p:cNvSpPr>
            <a:spLocks noGrp="1"/>
          </p:cNvSpPr>
          <p:nvPr>
            <p:ph type="sldNum" sz="quarter" idx="5"/>
          </p:nvPr>
        </p:nvSpPr>
        <p:spPr/>
      </p:sp>
    </p:spTree>
    <p:extLst>
      <p:ext uri="{BB962C8B-B14F-4D97-AF65-F5344CB8AC3E}">
        <p14:creationId xmlns:p14="http://schemas.microsoft.com/office/powerpoint/2010/main" val="752660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7AC9E-FB79-2FFF-2E86-759977D00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51549-88C4-7ED2-3054-D924B966649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A8F46E-7713-CE09-35B8-ABA25BFFB9C0}"/>
              </a:ext>
            </a:extLst>
          </p:cNvPr>
          <p:cNvSpPr>
            <a:spLocks noGrp="1"/>
          </p:cNvSpPr>
          <p:nvPr>
            <p:ph type="body" sz="quarter" idx="3"/>
          </p:nvPr>
        </p:nvSpPr>
        <p:spPr/>
        <p:txBody>
          <a:bodyPr/>
          <a:lstStyle/>
          <a:p>
            <a:r>
              <a:rPr lang="fr-FR" b="1" dirty="0"/>
              <a:t>1 minute 30</a:t>
            </a:r>
            <a:endParaRPr lang="fr-FR" dirty="0"/>
          </a:p>
          <a:p>
            <a:r>
              <a:rPr lang="fr-FR" dirty="0"/>
              <a:t>Le repository regroupe les recherches liées à une entité.</a:t>
            </a:r>
          </a:p>
          <a:p>
            <a:r>
              <a:rPr lang="fr-FR" dirty="0"/>
              <a:t>Dans cet exemple, </a:t>
            </a:r>
            <a:r>
              <a:rPr lang="fr-FR" dirty="0" err="1"/>
              <a:t>findLatestApproved</a:t>
            </a:r>
            <a:r>
              <a:rPr lang="fr-FR" dirty="0"/>
              <a:t> récupère les avis approuvés les plus récents. Le paramètre permet de choisir la limite, avec six résultats par défaut.</a:t>
            </a:r>
          </a:p>
          <a:p>
            <a:r>
              <a:rPr lang="fr-FR" dirty="0"/>
              <a:t>La condition conserve uniquement les avis dont le statut est approuvé. Le tri décroissant sur la date place les plus récents en premier.</a:t>
            </a:r>
          </a:p>
          <a:p>
            <a:r>
              <a:rPr lang="fr-FR" dirty="0"/>
              <a:t>[Montrer successivement le filtre, le paramètre, le tri et la limite.]</a:t>
            </a:r>
          </a:p>
          <a:p>
            <a:r>
              <a:rPr lang="fr-FR" dirty="0"/>
              <a:t>La valeur du statut est transmise avec </a:t>
            </a:r>
            <a:r>
              <a:rPr lang="fr-FR" dirty="0" err="1"/>
              <a:t>setParameter</a:t>
            </a:r>
            <a:r>
              <a:rPr lang="fr-FR" dirty="0"/>
              <a:t>. Elle est séparée de l’expression de la requête, ce qui participe à la prévention des injections SQL.</a:t>
            </a:r>
          </a:p>
          <a:p>
            <a:r>
              <a:rPr lang="fr-FR" dirty="0"/>
              <a:t>La requête SQL à côté illustre la même recherche de manière simplifiée. Elle aide à comprendre ce que l’on demande à la base ; je ne la présente pas comme une capture exacte du SQL généré par Doctrine.</a:t>
            </a:r>
          </a:p>
          <a:p>
            <a:r>
              <a:rPr lang="fr-FR" dirty="0"/>
              <a:t>Cette méthode évite de recopier la recherche dans plusieurs contrôleurs et garantit que les avis en attente ne sont pas affichés par cette recherche publique.</a:t>
            </a:r>
          </a:p>
          <a:p>
            <a:endParaRPr dirty="0"/>
          </a:p>
        </p:txBody>
      </p:sp>
      <p:sp>
        <p:nvSpPr>
          <p:cNvPr id="4" name="Slide Number Placeholder 3">
            <a:extLst>
              <a:ext uri="{FF2B5EF4-FFF2-40B4-BE49-F238E27FC236}">
                <a16:creationId xmlns:a16="http://schemas.microsoft.com/office/drawing/2014/main" id="{C7F03960-5D09-2897-E151-A70182FEDFCA}"/>
              </a:ext>
            </a:extLst>
          </p:cNvPr>
          <p:cNvSpPr>
            <a:spLocks noGrp="1"/>
          </p:cNvSpPr>
          <p:nvPr>
            <p:ph type="sldNum" sz="quarter" idx="5"/>
          </p:nvPr>
        </p:nvSpPr>
        <p:spPr/>
      </p:sp>
    </p:spTree>
    <p:extLst>
      <p:ext uri="{BB962C8B-B14F-4D97-AF65-F5344CB8AC3E}">
        <p14:creationId xmlns:p14="http://schemas.microsoft.com/office/powerpoint/2010/main" val="4069217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4B4A-F2B5-C8E6-1957-638868770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9ABAA-5A3E-AEC9-2263-1828BF91C96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E44640F-1C24-77E4-AB3D-54EE8922C539}"/>
              </a:ext>
            </a:extLst>
          </p:cNvPr>
          <p:cNvSpPr>
            <a:spLocks noGrp="1"/>
          </p:cNvSpPr>
          <p:nvPr>
            <p:ph type="body" sz="quarter" idx="3"/>
          </p:nvPr>
        </p:nvSpPr>
        <p:spPr/>
        <p:txBody>
          <a:bodyPr/>
          <a:lstStyle/>
          <a:p>
            <a:r>
              <a:rPr lang="fr-FR" b="1" dirty="0"/>
              <a:t>1 minute</a:t>
            </a:r>
            <a:endParaRPr lang="fr-FR" dirty="0"/>
          </a:p>
          <a:p>
            <a:r>
              <a:rPr lang="fr-FR" dirty="0"/>
              <a:t>Ici, le contrôleur affiche le détail d’un produit.</a:t>
            </a:r>
          </a:p>
          <a:p>
            <a:r>
              <a:rPr lang="fr-FR" dirty="0"/>
              <a:t>La route contient un slug, c’est-à-dire un identifiant lisible dans l’adresse. Symfony transmet cette valeur à la méthode et lui fournit le repository grâce à l’injection de dépendances.</a:t>
            </a:r>
          </a:p>
          <a:p>
            <a:r>
              <a:rPr lang="fr-FR" dirty="0"/>
              <a:t>La recherche utilise deux conditions : le slug demandé et l’état actif du produit.</a:t>
            </a:r>
          </a:p>
          <a:p>
            <a:r>
              <a:rPr lang="fr-FR" dirty="0"/>
              <a:t>Si aucun produit ne correspond, le contrôleur renvoie une erreur 404. Cela concerne aussi un produit désactivé qui ne doit plus être consultable publiquement.</a:t>
            </a:r>
          </a:p>
          <a:p>
            <a:r>
              <a:rPr lang="fr-FR" dirty="0"/>
              <a:t>Si le produit existe, le contrôleur le transmet à Twig pour construire la page.</a:t>
            </a:r>
          </a:p>
          <a:p>
            <a:r>
              <a:rPr lang="fr-FR" dirty="0"/>
              <a:t>[Montrer la route, la recherche, la condition d’erreur et le rendu.]</a:t>
            </a:r>
          </a:p>
        </p:txBody>
      </p:sp>
      <p:sp>
        <p:nvSpPr>
          <p:cNvPr id="4" name="Slide Number Placeholder 3">
            <a:extLst>
              <a:ext uri="{FF2B5EF4-FFF2-40B4-BE49-F238E27FC236}">
                <a16:creationId xmlns:a16="http://schemas.microsoft.com/office/drawing/2014/main" id="{774050EE-074D-3038-EB6D-ADB8CB9831B0}"/>
              </a:ext>
            </a:extLst>
          </p:cNvPr>
          <p:cNvSpPr>
            <a:spLocks noGrp="1"/>
          </p:cNvSpPr>
          <p:nvPr>
            <p:ph type="sldNum" sz="quarter" idx="5"/>
          </p:nvPr>
        </p:nvSpPr>
        <p:spPr/>
      </p:sp>
    </p:spTree>
    <p:extLst>
      <p:ext uri="{BB962C8B-B14F-4D97-AF65-F5344CB8AC3E}">
        <p14:creationId xmlns:p14="http://schemas.microsoft.com/office/powerpoint/2010/main" val="3146071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95BA-2664-B704-434A-81C247A4D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AB29D-25D9-AB3A-3450-01B99CF032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F41B860-6C54-5A5B-DD4A-30854732357D}"/>
              </a:ext>
            </a:extLst>
          </p:cNvPr>
          <p:cNvSpPr>
            <a:spLocks noGrp="1"/>
          </p:cNvSpPr>
          <p:nvPr>
            <p:ph type="body" sz="quarter" idx="3"/>
          </p:nvPr>
        </p:nvSpPr>
        <p:spPr/>
        <p:txBody>
          <a:bodyPr/>
          <a:lstStyle/>
          <a:p>
            <a:r>
              <a:rPr lang="fr-FR" b="1" dirty="0"/>
              <a:t>1 minute 30</a:t>
            </a:r>
            <a:endParaRPr lang="fr-FR" dirty="0"/>
          </a:p>
          <a:p>
            <a:r>
              <a:rPr lang="fr-FR" dirty="0"/>
              <a:t>CRUD désigne les opérations de création, lecture, modification et suppression.</a:t>
            </a:r>
          </a:p>
          <a:p>
            <a:r>
              <a:rPr lang="fr-FR" dirty="0"/>
              <a:t>Dans l’administration, je peux créer un produit, le consulter, le modifier et le supprimer.</a:t>
            </a:r>
          </a:p>
          <a:p>
            <a:r>
              <a:rPr lang="fr-FR" dirty="0"/>
              <a:t>Pour la modification, le formulaire est associé à un produit existant. </a:t>
            </a:r>
            <a:r>
              <a:rPr lang="fr-FR" dirty="0" err="1"/>
              <a:t>handleRequest</a:t>
            </a:r>
            <a:r>
              <a:rPr lang="fr-FR" dirty="0"/>
              <a:t> lit les données reçues. Le traitement continue seulement si le formulaire a été envoyé et s’il est valide.</a:t>
            </a:r>
          </a:p>
          <a:p>
            <a:r>
              <a:rPr lang="fr-FR" dirty="0"/>
              <a:t>Doctrine suit déjà cet objet. flush enregistre les modifications, puis le contrôleur redirige vers la liste.</a:t>
            </a:r>
          </a:p>
          <a:p>
            <a:r>
              <a:rPr lang="fr-FR" dirty="0"/>
              <a:t>[Montrer le flux dans la capture actualisée.]</a:t>
            </a:r>
          </a:p>
          <a:p>
            <a:endParaRPr lang="fr-FR" dirty="0"/>
          </a:p>
          <a:p>
            <a:r>
              <a:rPr lang="fr-FR" dirty="0"/>
              <a:t>“Préparation aux questions — ne pas lire pendant la présentation”</a:t>
            </a:r>
          </a:p>
          <a:p>
            <a:endParaRPr lang="pt-BR" dirty="0"/>
          </a:p>
          <a:p>
            <a:r>
              <a:rPr lang="pt-BR" dirty="0" err="1"/>
              <a:t>HandleRequest</a:t>
            </a:r>
            <a:r>
              <a:rPr lang="pt-BR" dirty="0"/>
              <a:t> : </a:t>
            </a:r>
            <a:r>
              <a:rPr lang="fr-FR" dirty="0" err="1"/>
              <a:t>Lê</a:t>
            </a:r>
            <a:r>
              <a:rPr lang="fr-FR" dirty="0"/>
              <a:t> os </a:t>
            </a:r>
            <a:r>
              <a:rPr lang="fr-FR" dirty="0" err="1"/>
              <a:t>dados</a:t>
            </a:r>
            <a:r>
              <a:rPr lang="fr-FR" dirty="0"/>
              <a:t> </a:t>
            </a:r>
            <a:r>
              <a:rPr lang="fr-FR" dirty="0" err="1"/>
              <a:t>enviados</a:t>
            </a:r>
            <a:r>
              <a:rPr lang="fr-FR" dirty="0"/>
              <a:t> pelo </a:t>
            </a:r>
            <a:r>
              <a:rPr lang="fr-FR" dirty="0" err="1"/>
              <a:t>usuário</a:t>
            </a:r>
            <a:r>
              <a:rPr lang="fr-FR" dirty="0"/>
              <a:t> na </a:t>
            </a:r>
            <a:r>
              <a:rPr lang="fr-FR" dirty="0" err="1"/>
              <a:t>requisição</a:t>
            </a:r>
            <a:r>
              <a:rPr lang="fr-FR" dirty="0"/>
              <a:t> HTTP e os </a:t>
            </a:r>
            <a:r>
              <a:rPr lang="fr-FR" dirty="0" err="1"/>
              <a:t>injeta</a:t>
            </a:r>
            <a:r>
              <a:rPr lang="fr-FR" dirty="0"/>
              <a:t> </a:t>
            </a:r>
            <a:r>
              <a:rPr lang="fr-FR" dirty="0" err="1"/>
              <a:t>dentro</a:t>
            </a:r>
            <a:r>
              <a:rPr lang="fr-FR" dirty="0"/>
              <a:t> do </a:t>
            </a:r>
            <a:r>
              <a:rPr lang="fr-FR" dirty="0" err="1"/>
              <a:t>formulário</a:t>
            </a:r>
            <a:r>
              <a:rPr lang="fr-FR" dirty="0"/>
              <a:t>.</a:t>
            </a:r>
          </a:p>
          <a:p>
            <a:r>
              <a:rPr lang="fr-FR" dirty="0"/>
              <a:t>O </a:t>
            </a:r>
            <a:r>
              <a:rPr lang="fr-FR" dirty="0" err="1"/>
              <a:t>código</a:t>
            </a:r>
            <a:r>
              <a:rPr lang="fr-FR" dirty="0"/>
              <a:t> HTTP </a:t>
            </a:r>
            <a:r>
              <a:rPr lang="fr-FR" sz="1200" kern="1200" dirty="0" err="1">
                <a:solidFill>
                  <a:schemeClr val="tx1"/>
                </a:solidFill>
                <a:latin typeface="+mn-lt"/>
                <a:ea typeface="+mn-ea"/>
                <a:cs typeface="+mn-cs"/>
              </a:rPr>
              <a:t>Response</a:t>
            </a:r>
            <a:r>
              <a:rPr lang="fr-FR" sz="1200" kern="1200" dirty="0">
                <a:solidFill>
                  <a:schemeClr val="tx1"/>
                </a:solidFill>
                <a:latin typeface="+mn-lt"/>
                <a:ea typeface="+mn-ea"/>
                <a:cs typeface="+mn-cs"/>
              </a:rPr>
              <a:t>::HTTP_SEE_OTHER</a:t>
            </a:r>
            <a:r>
              <a:rPr lang="fr-FR" dirty="0"/>
              <a:t> (</a:t>
            </a:r>
            <a:r>
              <a:rPr lang="fr-FR" dirty="0" err="1"/>
              <a:t>código</a:t>
            </a:r>
            <a:r>
              <a:rPr lang="fr-FR" dirty="0"/>
              <a:t> 303) garante que a </a:t>
            </a:r>
            <a:r>
              <a:rPr lang="fr-FR" dirty="0" err="1"/>
              <a:t>requisição</a:t>
            </a:r>
            <a:r>
              <a:rPr lang="fr-FR" dirty="0"/>
              <a:t> de </a:t>
            </a:r>
            <a:r>
              <a:rPr lang="fr-FR" dirty="0" err="1"/>
              <a:t>redirecionamento</a:t>
            </a:r>
            <a:r>
              <a:rPr lang="fr-FR" dirty="0"/>
              <a:t> mude </a:t>
            </a:r>
            <a:r>
              <a:rPr lang="fr-FR" dirty="0" err="1"/>
              <a:t>corretamente</a:t>
            </a:r>
            <a:r>
              <a:rPr lang="fr-FR" dirty="0"/>
              <a:t> para </a:t>
            </a:r>
            <a:r>
              <a:rPr lang="fr-FR" sz="1200" kern="1200" dirty="0">
                <a:solidFill>
                  <a:schemeClr val="tx1"/>
                </a:solidFill>
                <a:latin typeface="+mn-lt"/>
                <a:ea typeface="+mn-ea"/>
                <a:cs typeface="+mn-cs"/>
              </a:rPr>
              <a:t>GET</a:t>
            </a:r>
            <a:r>
              <a:rPr lang="fr-FR" dirty="0"/>
              <a:t>.</a:t>
            </a:r>
          </a:p>
          <a:p>
            <a:endParaRPr lang="fr-FR" sz="1200" kern="1200" dirty="0">
              <a:solidFill>
                <a:schemeClr val="tx1"/>
              </a:solidFill>
              <a:latin typeface="+mn-lt"/>
              <a:ea typeface="+mn-ea"/>
              <a:cs typeface="+mn-cs"/>
            </a:endParaRPr>
          </a:p>
          <a:p>
            <a:r>
              <a:rPr lang="fr-FR" sz="1200" kern="1200" dirty="0" err="1">
                <a:solidFill>
                  <a:schemeClr val="tx1"/>
                </a:solidFill>
                <a:latin typeface="+mn-lt"/>
                <a:ea typeface="+mn-ea"/>
                <a:cs typeface="+mn-cs"/>
              </a:rPr>
              <a:t>isCsrfTokenValid</a:t>
            </a:r>
            <a:r>
              <a:rPr lang="fr-FR" sz="1200" kern="1200" dirty="0">
                <a:solidFill>
                  <a:schemeClr val="tx1"/>
                </a:solidFill>
                <a:latin typeface="+mn-lt"/>
                <a:ea typeface="+mn-ea"/>
                <a:cs typeface="+mn-cs"/>
              </a:rPr>
              <a:t>(...)</a:t>
            </a:r>
            <a:r>
              <a:rPr lang="fr-FR" dirty="0"/>
              <a:t>: Compara o </a:t>
            </a:r>
            <a:r>
              <a:rPr lang="fr-FR" dirty="0" err="1"/>
              <a:t>token</a:t>
            </a:r>
            <a:r>
              <a:rPr lang="fr-FR" dirty="0"/>
              <a:t> </a:t>
            </a:r>
            <a:r>
              <a:rPr lang="fr-FR" dirty="0" err="1"/>
              <a:t>enviado</a:t>
            </a:r>
            <a:r>
              <a:rPr lang="fr-FR" dirty="0"/>
              <a:t> com o </a:t>
            </a:r>
            <a:r>
              <a:rPr lang="fr-FR" dirty="0" err="1"/>
              <a:t>token</a:t>
            </a:r>
            <a:r>
              <a:rPr lang="fr-FR" dirty="0"/>
              <a:t> </a:t>
            </a:r>
            <a:r>
              <a:rPr lang="fr-FR" dirty="0" err="1"/>
              <a:t>gerado</a:t>
            </a:r>
            <a:r>
              <a:rPr lang="fr-FR" dirty="0"/>
              <a:t> pelo </a:t>
            </a:r>
            <a:r>
              <a:rPr lang="fr-FR" dirty="0" err="1"/>
              <a:t>servidor</a:t>
            </a:r>
            <a:r>
              <a:rPr lang="fr-FR" dirty="0"/>
              <a:t> para </a:t>
            </a:r>
            <a:r>
              <a:rPr lang="fr-FR" dirty="0" err="1"/>
              <a:t>aquela</a:t>
            </a:r>
            <a:r>
              <a:rPr lang="fr-FR" dirty="0"/>
              <a:t> </a:t>
            </a:r>
            <a:r>
              <a:rPr lang="fr-FR" dirty="0" err="1"/>
              <a:t>ação</a:t>
            </a:r>
            <a:r>
              <a:rPr lang="fr-FR" dirty="0"/>
              <a:t> </a:t>
            </a:r>
            <a:r>
              <a:rPr lang="fr-FR" dirty="0" err="1"/>
              <a:t>específica</a:t>
            </a:r>
            <a:r>
              <a:rPr lang="fr-FR" dirty="0"/>
              <a:t>.</a:t>
            </a:r>
          </a:p>
          <a:p>
            <a:r>
              <a:rPr lang="fr-FR" dirty="0"/>
              <a:t>O </a:t>
            </a:r>
            <a:r>
              <a:rPr lang="fr-FR" dirty="0" err="1"/>
              <a:t>identificador</a:t>
            </a:r>
            <a:r>
              <a:rPr lang="fr-FR" dirty="0"/>
              <a:t> </a:t>
            </a:r>
            <a:r>
              <a:rPr lang="fr-FR" dirty="0" err="1"/>
              <a:t>único</a:t>
            </a:r>
            <a:r>
              <a:rPr lang="fr-FR" dirty="0"/>
              <a:t> do </a:t>
            </a:r>
            <a:r>
              <a:rPr lang="fr-FR" dirty="0" err="1"/>
              <a:t>token</a:t>
            </a:r>
            <a:r>
              <a:rPr lang="fr-FR" dirty="0"/>
              <a:t> é composto pela string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delete</a:t>
            </a:r>
            <a:r>
              <a:rPr lang="fr-FR" sz="1200" kern="1200" dirty="0">
                <a:solidFill>
                  <a:schemeClr val="tx1"/>
                </a:solidFill>
                <a:latin typeface="+mn-lt"/>
                <a:ea typeface="+mn-ea"/>
                <a:cs typeface="+mn-cs"/>
              </a:rPr>
              <a:t>'</a:t>
            </a:r>
            <a:r>
              <a:rPr lang="fr-FR" dirty="0"/>
              <a:t> </a:t>
            </a:r>
            <a:r>
              <a:rPr lang="fr-FR" dirty="0" err="1"/>
              <a:t>concatenada</a:t>
            </a:r>
            <a:r>
              <a:rPr lang="fr-FR" dirty="0"/>
              <a:t> com o ID da </a:t>
            </a:r>
            <a:r>
              <a:rPr lang="fr-FR" dirty="0" err="1"/>
              <a:t>avaliação</a:t>
            </a:r>
            <a:r>
              <a:rPr lang="fr-FR" dirty="0"/>
              <a:t>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product</a:t>
            </a:r>
            <a:r>
              <a:rPr lang="fr-FR" sz="1200" kern="1200" dirty="0">
                <a:solidFill>
                  <a:schemeClr val="tx1"/>
                </a:solidFill>
                <a:latin typeface="+mn-lt"/>
                <a:ea typeface="+mn-ea"/>
                <a:cs typeface="+mn-cs"/>
              </a:rPr>
              <a:t>-&gt;</a:t>
            </a:r>
            <a:r>
              <a:rPr lang="fr-FR" sz="1200" kern="1200" dirty="0" err="1">
                <a:solidFill>
                  <a:schemeClr val="tx1"/>
                </a:solidFill>
                <a:latin typeface="+mn-lt"/>
                <a:ea typeface="+mn-ea"/>
                <a:cs typeface="+mn-cs"/>
              </a:rPr>
              <a:t>getId</a:t>
            </a:r>
            <a:r>
              <a:rPr lang="fr-FR" sz="1200" kern="1200" dirty="0">
                <a:solidFill>
                  <a:schemeClr val="tx1"/>
                </a:solidFill>
                <a:latin typeface="+mn-lt"/>
                <a:ea typeface="+mn-ea"/>
                <a:cs typeface="+mn-cs"/>
              </a:rPr>
              <a:t>()</a:t>
            </a:r>
            <a:r>
              <a:rPr lang="fr-FR" dirty="0"/>
              <a:t>).</a:t>
            </a:r>
          </a:p>
          <a:p>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request</a:t>
            </a:r>
            <a:r>
              <a:rPr lang="fr-FR" sz="1200" kern="1200" dirty="0">
                <a:solidFill>
                  <a:schemeClr val="tx1"/>
                </a:solidFill>
                <a:latin typeface="+mn-lt"/>
                <a:ea typeface="+mn-ea"/>
                <a:cs typeface="+mn-cs"/>
              </a:rPr>
              <a:t>-&gt;</a:t>
            </a:r>
            <a:r>
              <a:rPr lang="fr-FR" sz="1200" kern="1200" dirty="0" err="1">
                <a:solidFill>
                  <a:schemeClr val="tx1"/>
                </a:solidFill>
                <a:latin typeface="+mn-lt"/>
                <a:ea typeface="+mn-ea"/>
                <a:cs typeface="+mn-cs"/>
              </a:rPr>
              <a:t>getPayload</a:t>
            </a:r>
            <a:r>
              <a:rPr lang="fr-FR" sz="1200" kern="1200" dirty="0">
                <a:solidFill>
                  <a:schemeClr val="tx1"/>
                </a:solidFill>
                <a:latin typeface="+mn-lt"/>
                <a:ea typeface="+mn-ea"/>
                <a:cs typeface="+mn-cs"/>
              </a:rPr>
              <a:t>()-&gt;</a:t>
            </a:r>
            <a:r>
              <a:rPr lang="fr-FR" sz="1200" kern="1200" dirty="0" err="1">
                <a:solidFill>
                  <a:schemeClr val="tx1"/>
                </a:solidFill>
                <a:latin typeface="+mn-lt"/>
                <a:ea typeface="+mn-ea"/>
                <a:cs typeface="+mn-cs"/>
              </a:rPr>
              <a:t>getString</a:t>
            </a:r>
            <a:r>
              <a:rPr lang="fr-FR" sz="1200" kern="1200" dirty="0">
                <a:solidFill>
                  <a:schemeClr val="tx1"/>
                </a:solidFill>
                <a:latin typeface="+mn-lt"/>
                <a:ea typeface="+mn-ea"/>
                <a:cs typeface="+mn-cs"/>
              </a:rPr>
              <a:t>('_</a:t>
            </a:r>
            <a:r>
              <a:rPr lang="fr-FR" sz="1200" kern="1200" dirty="0" err="1">
                <a:solidFill>
                  <a:schemeClr val="tx1"/>
                </a:solidFill>
                <a:latin typeface="+mn-lt"/>
                <a:ea typeface="+mn-ea"/>
                <a:cs typeface="+mn-cs"/>
              </a:rPr>
              <a:t>token</a:t>
            </a:r>
            <a:r>
              <a:rPr lang="fr-FR" sz="1200" kern="1200" dirty="0">
                <a:solidFill>
                  <a:schemeClr val="tx1"/>
                </a:solidFill>
                <a:latin typeface="+mn-lt"/>
                <a:ea typeface="+mn-ea"/>
                <a:cs typeface="+mn-cs"/>
              </a:rPr>
              <a:t>')</a:t>
            </a:r>
            <a:r>
              <a:rPr lang="fr-FR" dirty="0"/>
              <a:t>: Busca de forma </a:t>
            </a:r>
            <a:r>
              <a:rPr lang="fr-FR" dirty="0" err="1"/>
              <a:t>segura</a:t>
            </a:r>
            <a:r>
              <a:rPr lang="fr-FR" dirty="0"/>
              <a:t> o </a:t>
            </a:r>
            <a:r>
              <a:rPr lang="fr-FR" dirty="0" err="1"/>
              <a:t>valor</a:t>
            </a:r>
            <a:r>
              <a:rPr lang="fr-FR" dirty="0"/>
              <a:t> do campo </a:t>
            </a:r>
            <a:r>
              <a:rPr lang="fr-FR" dirty="0" err="1"/>
              <a:t>oculto</a:t>
            </a:r>
            <a:r>
              <a:rPr lang="fr-FR" dirty="0"/>
              <a:t> </a:t>
            </a:r>
            <a:r>
              <a:rPr lang="fr-FR" sz="1200" kern="1200" dirty="0">
                <a:solidFill>
                  <a:schemeClr val="tx1"/>
                </a:solidFill>
                <a:latin typeface="+mn-lt"/>
                <a:ea typeface="+mn-ea"/>
                <a:cs typeface="+mn-cs"/>
              </a:rPr>
              <a:t>_</a:t>
            </a:r>
            <a:r>
              <a:rPr lang="fr-FR" sz="1200" kern="1200" dirty="0" err="1">
                <a:solidFill>
                  <a:schemeClr val="tx1"/>
                </a:solidFill>
                <a:latin typeface="+mn-lt"/>
                <a:ea typeface="+mn-ea"/>
                <a:cs typeface="+mn-cs"/>
              </a:rPr>
              <a:t>token</a:t>
            </a:r>
            <a:r>
              <a:rPr lang="fr-FR" dirty="0"/>
              <a:t> </a:t>
            </a:r>
            <a:r>
              <a:rPr lang="fr-FR" dirty="0" err="1"/>
              <a:t>enviado</a:t>
            </a:r>
            <a:r>
              <a:rPr lang="fr-FR" dirty="0"/>
              <a:t> </a:t>
            </a:r>
            <a:r>
              <a:rPr lang="fr-FR" dirty="0" err="1"/>
              <a:t>dentro</a:t>
            </a:r>
            <a:r>
              <a:rPr lang="fr-FR" dirty="0"/>
              <a:t> do </a:t>
            </a:r>
            <a:r>
              <a:rPr lang="fr-FR" dirty="0" err="1"/>
              <a:t>payload</a:t>
            </a:r>
            <a:r>
              <a:rPr lang="fr-FR" dirty="0"/>
              <a:t> da </a:t>
            </a:r>
            <a:r>
              <a:rPr lang="fr-FR" dirty="0" err="1"/>
              <a:t>requisição</a:t>
            </a:r>
            <a:r>
              <a:rPr lang="fr-FR" dirty="0"/>
              <a:t> POST.</a:t>
            </a:r>
          </a:p>
          <a:p>
            <a:pPr lvl="0"/>
            <a:r>
              <a:rPr lang="fr-FR" dirty="0" err="1"/>
              <a:t>evitar</a:t>
            </a:r>
            <a:r>
              <a:rPr lang="fr-FR" dirty="0"/>
              <a:t> </a:t>
            </a:r>
            <a:r>
              <a:rPr lang="fr-FR" dirty="0" err="1"/>
              <a:t>ataques</a:t>
            </a:r>
            <a:r>
              <a:rPr lang="fr-FR" dirty="0"/>
              <a:t> de </a:t>
            </a:r>
            <a:r>
              <a:rPr lang="fr-FR" i="1" dirty="0"/>
              <a:t>Cross-Site </a:t>
            </a:r>
            <a:r>
              <a:rPr lang="fr-FR" i="1" dirty="0" err="1"/>
              <a:t>Request</a:t>
            </a:r>
            <a:r>
              <a:rPr lang="fr-FR" i="1" dirty="0"/>
              <a:t> </a:t>
            </a:r>
            <a:r>
              <a:rPr lang="fr-FR" i="1" dirty="0" err="1"/>
              <a:t>Forgery</a:t>
            </a:r>
            <a:r>
              <a:rPr lang="fr-FR" i="1" dirty="0"/>
              <a:t> (CSRF)</a:t>
            </a:r>
            <a:r>
              <a:rPr lang="fr-FR" dirty="0"/>
              <a:t>, </a:t>
            </a:r>
            <a:r>
              <a:rPr lang="fr-FR" dirty="0" err="1"/>
              <a:t>garantindo</a:t>
            </a:r>
            <a:r>
              <a:rPr lang="fr-FR" dirty="0"/>
              <a:t> que a </a:t>
            </a:r>
            <a:r>
              <a:rPr lang="fr-FR" dirty="0" err="1"/>
              <a:t>solicitação</a:t>
            </a:r>
            <a:r>
              <a:rPr lang="fr-FR" dirty="0"/>
              <a:t> de </a:t>
            </a:r>
            <a:r>
              <a:rPr lang="fr-FR" dirty="0" err="1"/>
              <a:t>exclusão</a:t>
            </a:r>
            <a:r>
              <a:rPr lang="fr-FR" dirty="0"/>
              <a:t> </a:t>
            </a:r>
            <a:r>
              <a:rPr lang="fr-FR" dirty="0" err="1"/>
              <a:t>realmente</a:t>
            </a:r>
            <a:r>
              <a:rPr lang="fr-FR" dirty="0"/>
              <a:t> </a:t>
            </a:r>
            <a:r>
              <a:rPr lang="fr-FR" dirty="0" err="1"/>
              <a:t>veio</a:t>
            </a:r>
            <a:r>
              <a:rPr lang="fr-FR" dirty="0"/>
              <a:t> do </a:t>
            </a:r>
            <a:r>
              <a:rPr lang="fr-FR" dirty="0" err="1"/>
              <a:t>nosso</a:t>
            </a:r>
            <a:r>
              <a:rPr lang="fr-FR" dirty="0"/>
              <a:t> site/</a:t>
            </a:r>
            <a:r>
              <a:rPr lang="fr-FR" dirty="0" err="1"/>
              <a:t>sistema</a:t>
            </a:r>
            <a:r>
              <a:rPr lang="fr-FR" dirty="0"/>
              <a:t> e </a:t>
            </a:r>
            <a:r>
              <a:rPr lang="fr-FR" dirty="0" err="1"/>
              <a:t>não</a:t>
            </a:r>
            <a:r>
              <a:rPr lang="fr-FR" dirty="0"/>
              <a:t> de um site </a:t>
            </a:r>
            <a:r>
              <a:rPr lang="fr-FR" dirty="0" err="1"/>
              <a:t>malicioso</a:t>
            </a:r>
            <a:r>
              <a:rPr lang="fr-FR" dirty="0"/>
              <a:t> </a:t>
            </a:r>
            <a:r>
              <a:rPr lang="fr-FR" dirty="0" err="1"/>
              <a:t>externo</a:t>
            </a:r>
            <a:r>
              <a:rPr lang="fr-FR" dirty="0"/>
              <a:t> </a:t>
            </a:r>
            <a:r>
              <a:rPr lang="fr-FR" dirty="0" err="1"/>
              <a:t>tentando</a:t>
            </a:r>
            <a:r>
              <a:rPr lang="fr-FR" dirty="0"/>
              <a:t> </a:t>
            </a:r>
            <a:r>
              <a:rPr lang="fr-FR" dirty="0" err="1"/>
              <a:t>forçar</a:t>
            </a:r>
            <a:r>
              <a:rPr lang="fr-FR" dirty="0"/>
              <a:t> a </a:t>
            </a:r>
            <a:r>
              <a:rPr lang="fr-FR" dirty="0" err="1"/>
              <a:t>ação</a:t>
            </a:r>
            <a:r>
              <a:rPr lang="fr-FR"/>
              <a:t>.</a:t>
            </a:r>
          </a:p>
          <a:p>
            <a:pPr lvl="0"/>
            <a:endParaRPr lang="fr-FR" dirty="0"/>
          </a:p>
          <a:p>
            <a:pPr lvl="0"/>
            <a:r>
              <a:rPr lang="fr-FR" dirty="0"/>
              <a:t>O </a:t>
            </a:r>
            <a:r>
              <a:rPr lang="fr-FR" dirty="0" err="1"/>
              <a:t>servidor</a:t>
            </a:r>
            <a:r>
              <a:rPr lang="fr-FR" dirty="0"/>
              <a:t> </a:t>
            </a:r>
            <a:r>
              <a:rPr lang="fr-FR" dirty="0" err="1"/>
              <a:t>verifica</a:t>
            </a:r>
            <a:r>
              <a:rPr lang="fr-FR" dirty="0"/>
              <a:t> um </a:t>
            </a:r>
            <a:r>
              <a:rPr lang="fr-FR" dirty="0" err="1"/>
              <a:t>token</a:t>
            </a:r>
            <a:r>
              <a:rPr lang="fr-FR" dirty="0"/>
              <a:t> </a:t>
            </a:r>
            <a:r>
              <a:rPr lang="fr-FR" dirty="0" err="1"/>
              <a:t>associado</a:t>
            </a:r>
            <a:r>
              <a:rPr lang="fr-FR" dirty="0"/>
              <a:t> à </a:t>
            </a:r>
            <a:r>
              <a:rPr lang="fr-FR" dirty="0" err="1"/>
              <a:t>sessão</a:t>
            </a:r>
            <a:r>
              <a:rPr lang="fr-FR" dirty="0"/>
              <a:t> e à </a:t>
            </a:r>
            <a:r>
              <a:rPr lang="fr-FR" dirty="0" err="1"/>
              <a:t>ação</a:t>
            </a:r>
            <a:r>
              <a:rPr lang="fr-FR" dirty="0"/>
              <a:t> de </a:t>
            </a:r>
            <a:r>
              <a:rPr lang="fr-FR" dirty="0" err="1"/>
              <a:t>exclusão</a:t>
            </a:r>
            <a:r>
              <a:rPr lang="fr-FR" dirty="0"/>
              <a:t> </a:t>
            </a:r>
            <a:r>
              <a:rPr lang="fr-FR" dirty="0" err="1"/>
              <a:t>daquele</a:t>
            </a:r>
            <a:r>
              <a:rPr lang="fr-FR" dirty="0"/>
              <a:t> </a:t>
            </a:r>
            <a:r>
              <a:rPr lang="fr-FR" dirty="0" err="1"/>
              <a:t>produto</a:t>
            </a:r>
            <a:r>
              <a:rPr lang="fr-FR" dirty="0"/>
              <a:t>. </a:t>
            </a:r>
            <a:r>
              <a:rPr lang="fr-FR" dirty="0" err="1"/>
              <a:t>Isso</a:t>
            </a:r>
            <a:r>
              <a:rPr lang="fr-FR" dirty="0"/>
              <a:t> </a:t>
            </a:r>
            <a:r>
              <a:rPr lang="fr-FR" dirty="0" err="1"/>
              <a:t>ajuda</a:t>
            </a:r>
            <a:r>
              <a:rPr lang="fr-FR" dirty="0"/>
              <a:t> a </a:t>
            </a:r>
            <a:r>
              <a:rPr lang="fr-FR" dirty="0" err="1"/>
              <a:t>impedir</a:t>
            </a:r>
            <a:r>
              <a:rPr lang="fr-FR" dirty="0"/>
              <a:t> que </a:t>
            </a:r>
            <a:r>
              <a:rPr lang="fr-FR" dirty="0" err="1"/>
              <a:t>outro</a:t>
            </a:r>
            <a:r>
              <a:rPr lang="fr-FR" dirty="0"/>
              <a:t> site provoque </a:t>
            </a:r>
            <a:r>
              <a:rPr lang="fr-FR" dirty="0" err="1"/>
              <a:t>essa</a:t>
            </a:r>
            <a:r>
              <a:rPr lang="fr-FR" dirty="0"/>
              <a:t> </a:t>
            </a:r>
            <a:r>
              <a:rPr lang="fr-FR" dirty="0" err="1"/>
              <a:t>ação</a:t>
            </a:r>
            <a:r>
              <a:rPr lang="fr-FR" dirty="0"/>
              <a:t> </a:t>
            </a:r>
            <a:r>
              <a:rPr lang="fr-FR" dirty="0" err="1"/>
              <a:t>usando</a:t>
            </a:r>
            <a:r>
              <a:rPr lang="fr-FR" dirty="0"/>
              <a:t> a </a:t>
            </a:r>
            <a:r>
              <a:rPr lang="fr-FR" dirty="0" err="1"/>
              <a:t>sessão</a:t>
            </a:r>
            <a:r>
              <a:rPr lang="fr-FR" dirty="0"/>
              <a:t> do </a:t>
            </a:r>
            <a:r>
              <a:rPr lang="fr-FR" dirty="0" err="1"/>
              <a:t>usuário</a:t>
            </a:r>
            <a:r>
              <a:rPr lang="fr-FR" dirty="0"/>
              <a:t>. A </a:t>
            </a:r>
            <a:r>
              <a:rPr lang="fr-FR" dirty="0" err="1"/>
              <a:t>verificação</a:t>
            </a:r>
            <a:r>
              <a:rPr lang="fr-FR" dirty="0"/>
              <a:t> de ROLE_ADMIN continua </a:t>
            </a:r>
            <a:r>
              <a:rPr lang="fr-FR" dirty="0" err="1"/>
              <a:t>necessária</a:t>
            </a:r>
            <a:r>
              <a:rPr lang="fr-FR" dirty="0"/>
              <a:t>.</a:t>
            </a:r>
          </a:p>
          <a:p>
            <a:pPr lvl="0"/>
            <a:endParaRPr lang="fr-FR" dirty="0"/>
          </a:p>
          <a:p>
            <a:r>
              <a:rPr lang="fr-FR" dirty="0"/>
              <a:t>Pour la suppression, l’action utilise POST et vérifie un jeton CSRF associé au produit. Le contrôle du rôle administratif reste nécessaire : le jeton CSRF ne remplace pas les droits d’accès.</a:t>
            </a:r>
          </a:p>
          <a:p>
            <a:r>
              <a:rPr lang="fr-FR" dirty="0"/>
              <a:t>Enfin, supprimer et désactiver sont deux actions différentes. Désactiver conserve le produit dans la base mais le retire de l’affichage public. Supprimer enlève l’enregistrement.</a:t>
            </a:r>
          </a:p>
          <a:p>
            <a:r>
              <a:rPr lang="fr-FR" dirty="0"/>
              <a:t>[Montrer la vérification du jeton, </a:t>
            </a:r>
            <a:r>
              <a:rPr lang="fr-FR" dirty="0" err="1"/>
              <a:t>remove</a:t>
            </a:r>
            <a:r>
              <a:rPr lang="fr-FR" dirty="0"/>
              <a:t> et flush.]</a:t>
            </a:r>
          </a:p>
          <a:p>
            <a:pPr lvl="0"/>
            <a:endParaRPr lang="fr-FR" dirty="0"/>
          </a:p>
          <a:p>
            <a:endParaRPr lang="fr-FR" dirty="0"/>
          </a:p>
          <a:p>
            <a:endParaRPr dirty="0"/>
          </a:p>
        </p:txBody>
      </p:sp>
      <p:sp>
        <p:nvSpPr>
          <p:cNvPr id="4" name="Slide Number Placeholder 3">
            <a:extLst>
              <a:ext uri="{FF2B5EF4-FFF2-40B4-BE49-F238E27FC236}">
                <a16:creationId xmlns:a16="http://schemas.microsoft.com/office/drawing/2014/main" id="{AC714190-D623-97D1-4157-043DF7878153}"/>
              </a:ext>
            </a:extLst>
          </p:cNvPr>
          <p:cNvSpPr>
            <a:spLocks noGrp="1"/>
          </p:cNvSpPr>
          <p:nvPr>
            <p:ph type="sldNum" sz="quarter" idx="5"/>
          </p:nvPr>
        </p:nvSpPr>
        <p:spPr/>
      </p:sp>
    </p:spTree>
    <p:extLst>
      <p:ext uri="{BB962C8B-B14F-4D97-AF65-F5344CB8AC3E}">
        <p14:creationId xmlns:p14="http://schemas.microsoft.com/office/powerpoint/2010/main" val="560285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2 minutes</a:t>
            </a:r>
            <a:endParaRPr lang="fr-FR" dirty="0"/>
          </a:p>
          <a:p>
            <a:r>
              <a:rPr lang="fr-FR" dirty="0"/>
              <a:t>Le formulaire de devis relie les besoins du visiteur aux données utilisées par l’atelier.</a:t>
            </a:r>
          </a:p>
          <a:p>
            <a:r>
              <a:rPr lang="fr-FR" dirty="0" err="1"/>
              <a:t>QuoteRequestType</a:t>
            </a:r>
            <a:r>
              <a:rPr lang="fr-FR" dirty="0"/>
              <a:t> définit les champs et les contraintes. Par exemple, la quantité doit être renseignée et être supérieure ou égale à un.</a:t>
            </a:r>
          </a:p>
          <a:p>
            <a:r>
              <a:rPr lang="fr-FR" dirty="0"/>
              <a:t>L’attribut HTML min aide l’utilisateur dans le navigateur. Les contraintes Symfony vérifient la règle côté serveur, même si une requête est envoyée autrement que par la page habituelle.</a:t>
            </a:r>
          </a:p>
          <a:p>
            <a:r>
              <a:rPr lang="fr-FR" dirty="0"/>
              <a:t>[Montrer le champ </a:t>
            </a:r>
            <a:r>
              <a:rPr lang="fr-FR" dirty="0" err="1"/>
              <a:t>quantity</a:t>
            </a:r>
            <a:r>
              <a:rPr lang="fr-FR" dirty="0"/>
              <a:t> et ses contraintes.]</a:t>
            </a:r>
          </a:p>
          <a:p>
            <a:r>
              <a:rPr lang="fr-FR" dirty="0"/>
              <a:t>Le contrôleur crée une demande, traite le formulaire et vérifie qu’il est envoyé et valide.</a:t>
            </a:r>
          </a:p>
          <a:p>
            <a:r>
              <a:rPr lang="fr-FR" dirty="0"/>
              <a:t>Si un utilisateur est connecté, son compte peut être associé à la demande. Sinon, les coordonnées saisies permettent quand même de recevoir le devis.</a:t>
            </a:r>
          </a:p>
          <a:p>
            <a:r>
              <a:rPr lang="fr-FR" dirty="0"/>
              <a:t>Le serveur définit la date et le statut initial. Le visiteur ne choisit pas lui-même que son devis est déjà traité.</a:t>
            </a:r>
          </a:p>
          <a:p>
            <a:r>
              <a:rPr lang="fr-FR" dirty="0"/>
              <a:t>Lorsqu’un logo est fourni, un service dédié s’occupe de son stockage. La base conserve sa référence.</a:t>
            </a:r>
          </a:p>
          <a:p>
            <a:r>
              <a:rPr lang="fr-FR" dirty="0"/>
              <a:t>Enfin, </a:t>
            </a:r>
            <a:r>
              <a:rPr lang="fr-FR" dirty="0" err="1"/>
              <a:t>persist</a:t>
            </a:r>
            <a:r>
              <a:rPr lang="fr-FR" dirty="0"/>
              <a:t> prépare le nouvel objet et flush exécute l’écriture en base. Un message confirme l’enregistrement.</a:t>
            </a:r>
          </a:p>
          <a:p>
            <a:r>
              <a:rPr lang="fr-FR" dirty="0"/>
              <a:t>Si l’écriture échoue après le stockage du logo, le contrôleur demande sa suppression pour limiter les fichiers sans demande associée.</a:t>
            </a:r>
          </a:p>
          <a:p>
            <a:r>
              <a:rPr lang="fr-FR" dirty="0"/>
              <a:t>[Suivre le parcours : saisie, validation, préparation des données, stockage et confirmation.]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C97AA-2146-B6E3-3992-9109E6A5D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7269D-15FE-8118-C07E-EDC182F3B80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C13881-46F4-E8AD-D046-04404F599D64}"/>
              </a:ext>
            </a:extLst>
          </p:cNvPr>
          <p:cNvSpPr>
            <a:spLocks noGrp="1"/>
          </p:cNvSpPr>
          <p:nvPr>
            <p:ph type="body" sz="quarter" idx="3"/>
          </p:nvPr>
        </p:nvSpPr>
        <p:spPr/>
        <p:txBody>
          <a:bodyPr/>
          <a:lstStyle/>
          <a:p>
            <a:r>
              <a:rPr lang="fr-FR" b="1" dirty="0"/>
              <a:t>1 minute 15</a:t>
            </a:r>
          </a:p>
          <a:p>
            <a:r>
              <a:rPr lang="fr-FR" b="1" dirty="0"/>
              <a:t>/config/packages/</a:t>
            </a:r>
            <a:r>
              <a:rPr lang="fr-FR" b="1" dirty="0" err="1"/>
              <a:t>security.yaml</a:t>
            </a:r>
            <a:endParaRPr lang="fr-FR" dirty="0"/>
          </a:p>
          <a:p>
            <a:r>
              <a:rPr lang="fr-FR" dirty="0"/>
              <a:t>La sécurité commence par la protection des comptes. Lors de l’inscription, le mot de passe est haché avant son enregistrement. Le site conserve une valeur permettant de vérifier le mot de passe, sans enregistrer celui-ci en clair.</a:t>
            </a:r>
          </a:p>
          <a:p>
            <a:r>
              <a:rPr lang="fr-FR" dirty="0"/>
              <a:t>La connexion utilise également une protection CSRF et une limitation configurée à cinq tentatives par minute.</a:t>
            </a:r>
          </a:p>
          <a:p>
            <a:r>
              <a:rPr lang="fr-FR" dirty="0"/>
              <a:t>[Montrer </a:t>
            </a:r>
            <a:r>
              <a:rPr lang="fr-FR" dirty="0" err="1"/>
              <a:t>login_throttling</a:t>
            </a:r>
            <a:r>
              <a:rPr lang="fr-FR" dirty="0"/>
              <a:t> et </a:t>
            </a:r>
            <a:r>
              <a:rPr lang="fr-FR" dirty="0" err="1"/>
              <a:t>enable_csrf</a:t>
            </a:r>
            <a:r>
              <a:rPr lang="fr-FR" dirty="0"/>
              <a:t>.]</a:t>
            </a:r>
          </a:p>
          <a:p>
            <a:r>
              <a:rPr lang="fr-FR" dirty="0"/>
              <a:t>Il faut distinguer deux notions : l’authentification permet de reconnaître l’utilisateur, tandis que l’autorisation détermine ce qu’il peut faire.</a:t>
            </a:r>
          </a:p>
          <a:p>
            <a:r>
              <a:rPr lang="fr-FR" dirty="0"/>
              <a:t>Dans mon projet, être connecté ne suffit pas pour accéder à l’administration. La règle </a:t>
            </a:r>
            <a:r>
              <a:rPr lang="fr-FR" dirty="0" err="1"/>
              <a:t>access_control</a:t>
            </a:r>
            <a:r>
              <a:rPr lang="fr-FR" dirty="0"/>
              <a:t> exige le rôle ROLE_ADMIN pour les routes dont le nom commence par admin_.</a:t>
            </a:r>
          </a:p>
          <a:p>
            <a:r>
              <a:rPr lang="fr-FR" dirty="0"/>
              <a:t>[Montrer la règle </a:t>
            </a:r>
            <a:r>
              <a:rPr lang="fr-FR" dirty="0" err="1"/>
              <a:t>access_control</a:t>
            </a:r>
            <a:r>
              <a:rPr lang="fr-FR" dirty="0"/>
              <a:t>.]</a:t>
            </a:r>
          </a:p>
          <a:p>
            <a:r>
              <a:rPr lang="fr-FR" dirty="0"/>
              <a:t>Cette vérification se fait côté serveur. Elle protège donc l’accès même si une personne essaie d’ouvrir directement une adresse administrative.</a:t>
            </a:r>
          </a:p>
        </p:txBody>
      </p:sp>
      <p:sp>
        <p:nvSpPr>
          <p:cNvPr id="4" name="Slide Number Placeholder 3">
            <a:extLst>
              <a:ext uri="{FF2B5EF4-FFF2-40B4-BE49-F238E27FC236}">
                <a16:creationId xmlns:a16="http://schemas.microsoft.com/office/drawing/2014/main" id="{8E4A9F32-BC33-79B8-9B17-D16CE7338759}"/>
              </a:ext>
            </a:extLst>
          </p:cNvPr>
          <p:cNvSpPr>
            <a:spLocks noGrp="1"/>
          </p:cNvSpPr>
          <p:nvPr>
            <p:ph type="sldNum" sz="quarter" idx="5"/>
          </p:nvPr>
        </p:nvSpPr>
        <p:spPr/>
      </p:sp>
    </p:spTree>
    <p:extLst>
      <p:ext uri="{BB962C8B-B14F-4D97-AF65-F5344CB8AC3E}">
        <p14:creationId xmlns:p14="http://schemas.microsoft.com/office/powerpoint/2010/main" val="414176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2B34E-58FF-A3C6-2137-C1BAFCFB8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D12AD-325D-24A0-B7E3-4E5C9D8B20C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99FAE4-360E-A93E-C59D-80BF20076E95}"/>
              </a:ext>
            </a:extLst>
          </p:cNvPr>
          <p:cNvSpPr>
            <a:spLocks noGrp="1"/>
          </p:cNvSpPr>
          <p:nvPr>
            <p:ph type="body" sz="quarter" idx="3"/>
          </p:nvPr>
        </p:nvSpPr>
        <p:spPr/>
        <p:txBody>
          <a:bodyPr/>
          <a:lstStyle/>
          <a:p>
            <a:r>
              <a:rPr lang="fr-FR" b="1" dirty="0"/>
              <a:t>1 minute 30</a:t>
            </a:r>
            <a:endParaRPr lang="fr-FR" dirty="0"/>
          </a:p>
          <a:p>
            <a:r>
              <a:rPr lang="fr-FR" dirty="0"/>
              <a:t>Un visiteur peut joindre un logo à sa demande de devis. Ce fichier peut concerner un projet privé : il ne doit pas être accessible comme une image du catalogue.</a:t>
            </a:r>
          </a:p>
          <a:p>
            <a:r>
              <a:rPr lang="fr-FR" dirty="0"/>
              <a:t>J’ai regroupé son traitement dans le service </a:t>
            </a:r>
            <a:r>
              <a:rPr lang="fr-FR" dirty="0" err="1"/>
              <a:t>QuoteLogoStorage</a:t>
            </a:r>
            <a:r>
              <a:rPr lang="fr-FR" dirty="0"/>
              <a:t>.</a:t>
            </a:r>
          </a:p>
          <a:p>
            <a:r>
              <a:rPr lang="fr-FR" dirty="0"/>
              <a:t>Le service vérifie que le fichier a été reçu correctement, que sa taille ne dépasse pas quinze mégaoctets et que son format est autorisé. Les formats acceptés sont PNG, JPEG et </a:t>
            </a:r>
            <a:r>
              <a:rPr lang="fr-FR" dirty="0" err="1"/>
              <a:t>WebP</a:t>
            </a:r>
            <a:r>
              <a:rPr lang="fr-FR" dirty="0"/>
              <a:t>. Il vérifie aussi la cohérence entre le type détecté et les informations de l’image.</a:t>
            </a:r>
          </a:p>
          <a:p>
            <a:r>
              <a:rPr lang="fr-FR" dirty="0"/>
              <a:t>[Montrer la condition de validation.]</a:t>
            </a:r>
          </a:p>
          <a:p>
            <a:r>
              <a:rPr lang="fr-FR" dirty="0"/>
              <a:t>Ensuite, l’application génère un nom aléatoire et enregistre le fichier dans </a:t>
            </a:r>
            <a:r>
              <a:rPr lang="fr-FR" dirty="0" err="1"/>
              <a:t>private</a:t>
            </a:r>
            <a:r>
              <a:rPr lang="fr-FR" dirty="0"/>
              <a:t>/</a:t>
            </a:r>
            <a:r>
              <a:rPr lang="fr-FR" dirty="0" err="1"/>
              <a:t>quote</a:t>
            </a:r>
            <a:r>
              <a:rPr lang="fr-FR" dirty="0"/>
              <a:t>-logos, hors du dossier public.</a:t>
            </a:r>
          </a:p>
          <a:p>
            <a:r>
              <a:rPr lang="fr-FR" dirty="0"/>
              <a:t>[Montrer la génération du nom et move().]</a:t>
            </a:r>
          </a:p>
          <a:p>
            <a:r>
              <a:rPr lang="fr-FR" dirty="0"/>
              <a:t>Si le stockage échoue, le service tente de nettoyer le fichier et signale l’erreur. Sinon, il retourne le nom enregistré, que le contrôleur associe au devis.</a:t>
            </a:r>
          </a:p>
          <a:p>
            <a:r>
              <a:rPr lang="fr-FR" dirty="0"/>
              <a:t>Le téléchargement passe par un autre traitement, dans le contrôleur administratif, qui exige ROLE_ADMIN.</a:t>
            </a:r>
          </a:p>
          <a:p>
            <a:r>
              <a:rPr lang="fr-FR" dirty="0"/>
              <a:t>Pour ces choix, je me suis appuyé sur les recommandations OWASP concernant les fichiers envoyés, notamment leur contrôle et leur stockage hors de l’accès public.</a:t>
            </a:r>
          </a:p>
          <a:p>
            <a:endParaRPr lang="fr-FR" dirty="0"/>
          </a:p>
          <a:p>
            <a:endParaRPr dirty="0"/>
          </a:p>
        </p:txBody>
      </p:sp>
      <p:sp>
        <p:nvSpPr>
          <p:cNvPr id="4" name="Slide Number Placeholder 3">
            <a:extLst>
              <a:ext uri="{FF2B5EF4-FFF2-40B4-BE49-F238E27FC236}">
                <a16:creationId xmlns:a16="http://schemas.microsoft.com/office/drawing/2014/main" id="{BCBD7DDC-779C-FC50-BEA4-0C0216A19240}"/>
              </a:ext>
            </a:extLst>
          </p:cNvPr>
          <p:cNvSpPr>
            <a:spLocks noGrp="1"/>
          </p:cNvSpPr>
          <p:nvPr>
            <p:ph type="sldNum" sz="quarter" idx="5"/>
          </p:nvPr>
        </p:nvSpPr>
        <p:spPr/>
      </p:sp>
    </p:spTree>
    <p:extLst>
      <p:ext uri="{BB962C8B-B14F-4D97-AF65-F5344CB8AC3E}">
        <p14:creationId xmlns:p14="http://schemas.microsoft.com/office/powerpoint/2010/main" val="5800810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4 minutes</a:t>
            </a:r>
            <a:endParaRPr lang="fr-FR" dirty="0"/>
          </a:p>
          <a:p>
            <a:r>
              <a:rPr lang="fr-FR" dirty="0"/>
              <a:t>Je vais montrer un parcours complet avec des données fictives : consulter une réalisation, envoyer un devis et le retrouver dans l’administration.</a:t>
            </a:r>
          </a:p>
          <a:p>
            <a:r>
              <a:rPr lang="fr-FR" dirty="0"/>
              <a:t>[0:00 à 0:40 — Montrer l’accueil, ouvrir une catégorie puis une fiche produit.]</a:t>
            </a:r>
          </a:p>
          <a:p>
            <a:r>
              <a:rPr lang="fr-FR" dirty="0"/>
              <a:t>Le catalogue présente les réalisations actives. Les catégories facilitent la navigation vers les produits.</a:t>
            </a:r>
          </a:p>
          <a:p>
            <a:r>
              <a:rPr lang="fr-FR" dirty="0"/>
              <a:t>[0:40 à 2:10 — Ouvrir le devis. Montrer brièvement une validation, puis envoyer une demande préparée avec des données fictives.]</a:t>
            </a:r>
          </a:p>
          <a:p>
            <a:r>
              <a:rPr lang="fr-FR" dirty="0"/>
              <a:t>La demande peut être envoyée sans compte. Le formulaire recueille les informations utiles à l’atelier. Après validation, elle est enregistrée dans la base.</a:t>
            </a:r>
          </a:p>
          <a:p>
            <a:r>
              <a:rPr lang="fr-FR" dirty="0"/>
              <a:t>La confirmation de l’enregistrement ne signifie pas qu’un courriel a été envoyé.</a:t>
            </a:r>
          </a:p>
          <a:p>
            <a:r>
              <a:rPr lang="fr-FR" dirty="0"/>
              <a:t>[2:10 à 3:20 — Passer dans une session administrative déjà préparée. Retrouver la demande et montrer son statut.]</a:t>
            </a:r>
          </a:p>
          <a:p>
            <a:r>
              <a:rPr lang="fr-FR" dirty="0"/>
              <a:t>Voici la demande reçue. L’administratrice peut consulter les informations et faire évoluer son statut. Le visiteur n’a pas accès à cet espace.</a:t>
            </a:r>
          </a:p>
          <a:p>
            <a:r>
              <a:rPr lang="fr-FR" dirty="0"/>
              <a:t>[3:20 à 4:00 — Montrer une largeur mobile et le changement de thème.]</a:t>
            </a:r>
          </a:p>
          <a:p>
            <a:r>
              <a:rPr lang="fr-FR" dirty="0"/>
              <a:t>La disposition s’adapte à la largeur disponible. Le changement de thème est géré par le JavaScript présenté précédemment.</a:t>
            </a:r>
          </a:p>
          <a:p>
            <a:r>
              <a:rPr lang="fr-FR" dirty="0"/>
              <a:t>Ce parcours relie l’interface, la validation, l’enregistrement et le contrôle des droits.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A454-142C-C8A4-5EBF-793A6B6BF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28276-D41E-90F4-C828-A927083BD9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ECA8C5C-91E0-ACD2-65C6-71F3CE67FF82}"/>
              </a:ext>
            </a:extLst>
          </p:cNvPr>
          <p:cNvSpPr>
            <a:spLocks noGrp="1"/>
          </p:cNvSpPr>
          <p:nvPr>
            <p:ph type="body" sz="quarter" idx="3"/>
          </p:nvPr>
        </p:nvSpPr>
        <p:spPr/>
        <p:txBody>
          <a:bodyPr/>
          <a:lstStyle/>
          <a:p>
            <a:r>
              <a:rPr lang="fr-FR" b="1" dirty="0"/>
              <a:t>2 minutes</a:t>
            </a:r>
            <a:endParaRPr lang="fr-FR" dirty="0"/>
          </a:p>
          <a:p>
            <a:r>
              <a:rPr lang="fr-FR" dirty="0"/>
              <a:t>J’ai combiné des vérifications manuelles et des tests automatisés.</a:t>
            </a:r>
          </a:p>
          <a:p>
            <a:r>
              <a:rPr lang="fr-FR" dirty="0"/>
              <a:t>Les essais manuels portent notamment sur la navigation, les formulaires et l’affichage à différentes largeurs.</a:t>
            </a:r>
          </a:p>
          <a:p>
            <a:r>
              <a:rPr lang="fr-FR" dirty="0"/>
              <a:t>Les résultats affichés ici proviennent de l’exécution locale du 18 octobre 2026 : 63 tests et 229 assertions réussis avec </a:t>
            </a:r>
            <a:r>
              <a:rPr lang="fr-FR" dirty="0" err="1"/>
              <a:t>PHPUnit</a:t>
            </a:r>
            <a:r>
              <a:rPr lang="fr-FR" dirty="0"/>
              <a:t>. Le contrôle Doctrine confirme le mapping et la synchronisation du schéma. Le contrôle Twig valide la syntaxe de 54 </a:t>
            </a:r>
            <a:r>
              <a:rPr lang="fr-FR" dirty="0" err="1"/>
              <a:t>templates</a:t>
            </a:r>
            <a:r>
              <a:rPr lang="fr-FR" dirty="0"/>
              <a:t>.</a:t>
            </a:r>
          </a:p>
          <a:p>
            <a:r>
              <a:rPr lang="fr-FR" dirty="0"/>
              <a:t>Ces contrôles n’ont pas tous le même rôle. Une syntaxe Twig valide ne garantit pas que la page est agréable à utiliser.</a:t>
            </a:r>
          </a:p>
          <a:p>
            <a:r>
              <a:rPr lang="fr-FR" dirty="0"/>
              <a:t>[Montrer les résultats, puis la table du jeu d’essai.]</a:t>
            </a:r>
          </a:p>
          <a:p>
            <a:r>
              <a:rPr lang="fr-FR" dirty="0"/>
              <a:t>Pour expliquer un test, je prends une demande fictive de douze polos.</a:t>
            </a:r>
          </a:p>
          <a:p>
            <a:r>
              <a:rPr lang="fr-FR" dirty="0"/>
              <a:t>Avec les données valides, le formulaire doit être accepté, et le test confirme ce résultat.</a:t>
            </a:r>
          </a:p>
          <a:p>
            <a:r>
              <a:rPr lang="fr-FR" dirty="0"/>
              <a:t>Je remplace ensuite uniquement la quantité par zéro. Le résultat attendu est un formulaire invalide avec une erreur sur la quantité. C’est le résultat obtenu.</a:t>
            </a:r>
          </a:p>
          <a:p>
            <a:r>
              <a:rPr lang="fr-FR" dirty="0"/>
              <a:t>Un autre cas utilise une adresse e-mail invalide, qui doit également être refusée.</a:t>
            </a:r>
          </a:p>
          <a:p>
            <a:r>
              <a:rPr lang="fr-FR" dirty="0"/>
              <a:t>Le test isolé vérifie la validation du formulaire. Il ne prouve pas à lui seul l’absence d’écriture en base : un test fonctionnel distinct vérifie qu’une demande invalide n’est pas enregistrée.</a:t>
            </a:r>
          </a:p>
          <a:p>
            <a:r>
              <a:rPr lang="fr-FR" dirty="0"/>
              <a:t>Les tests réussis donnent des preuves sur les scénarios couverts, sans garantir l’absence de toute anomalie.</a:t>
            </a:r>
          </a:p>
          <a:p>
            <a:endParaRPr dirty="0"/>
          </a:p>
        </p:txBody>
      </p:sp>
      <p:sp>
        <p:nvSpPr>
          <p:cNvPr id="4" name="Slide Number Placeholder 3">
            <a:extLst>
              <a:ext uri="{FF2B5EF4-FFF2-40B4-BE49-F238E27FC236}">
                <a16:creationId xmlns:a16="http://schemas.microsoft.com/office/drawing/2014/main" id="{E24C3083-D0A2-6C02-2CAE-EA62DADC5D88}"/>
              </a:ext>
            </a:extLst>
          </p:cNvPr>
          <p:cNvSpPr>
            <a:spLocks noGrp="1"/>
          </p:cNvSpPr>
          <p:nvPr>
            <p:ph type="sldNum" sz="quarter" idx="5"/>
          </p:nvPr>
        </p:nvSpPr>
        <p:spPr/>
      </p:sp>
    </p:spTree>
    <p:extLst>
      <p:ext uri="{BB962C8B-B14F-4D97-AF65-F5344CB8AC3E}">
        <p14:creationId xmlns:p14="http://schemas.microsoft.com/office/powerpoint/2010/main" val="10641674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 15</a:t>
            </a:r>
            <a:endParaRPr lang="fr-FR" dirty="0"/>
          </a:p>
          <a:p>
            <a:r>
              <a:rPr lang="fr-FR" dirty="0"/>
              <a:t>Une première difficulté a été de répondre au besoin d’une autre personne. Pour le devis, j’ai dû choisir les champs utiles à l’atelier et conserver un formulaire compréhensible pour le visiteur.</a:t>
            </a:r>
          </a:p>
          <a:p>
            <a:r>
              <a:rPr lang="fr-FR" dirty="0"/>
              <a:t>Une autre difficulté concernait la circulation des données entre le contrôleur, le repository et Twig.</a:t>
            </a:r>
          </a:p>
          <a:p>
            <a:r>
              <a:rPr lang="fr-FR" dirty="0"/>
              <a:t>Pour chercher une erreur, j’ai appris à suivre le parcours : vérifier la recherche, regarder les valeurs transmises, puis contrôler le </a:t>
            </a:r>
            <a:r>
              <a:rPr lang="fr-FR" dirty="0" err="1"/>
              <a:t>template</a:t>
            </a:r>
            <a:r>
              <a:rPr lang="fr-FR" dirty="0"/>
              <a:t>.</a:t>
            </a:r>
          </a:p>
          <a:p>
            <a:r>
              <a:rPr lang="fr-FR" dirty="0"/>
              <a:t>Un exemple concret concerne les produits inactifs. Ils ne devaient pas réapparaître par une autre route de catégorie. La recherche a été regroupée dans le repository, puis les accès concernés ont été vérifiés.</a:t>
            </a:r>
          </a:p>
          <a:p>
            <a:r>
              <a:rPr lang="fr-FR" dirty="0"/>
              <a:t>Cette méthode m’a aidé à corriger un problème précis et à conserver un test pour le retrouver si le code évolue.</a:t>
            </a:r>
          </a:p>
          <a:p>
            <a:endParaRPr lang="fr-FR" dirty="0"/>
          </a:p>
          <a:p>
            <a:r>
              <a:rPr lang="fr-FR" dirty="0"/>
              <a:t>“Préparation aux questions — ne pas lire pendant la présentation”</a:t>
            </a:r>
          </a:p>
          <a:p>
            <a:endParaRPr lang="fr-FR" dirty="0"/>
          </a:p>
          <a:p>
            <a:r>
              <a:rPr lang="fr-FR" dirty="0"/>
              <a:t>Une des premières difficultés a été de bien comprendre la manière dont les différentes parties de Symfony communiquent entre elles.</a:t>
            </a:r>
          </a:p>
          <a:p>
            <a:endParaRPr lang="fr-FR" dirty="0"/>
          </a:p>
          <a:p>
            <a:r>
              <a:rPr lang="fr-FR" dirty="0"/>
              <a:t>Par exemple, il faut comprendre la différence entre une entité, un repository et un </a:t>
            </a:r>
            <a:r>
              <a:rPr lang="fr-FR" dirty="0" err="1"/>
              <a:t>controller</a:t>
            </a:r>
            <a:r>
              <a:rPr lang="fr-FR" dirty="0"/>
              <a:t>, et surtout savoir où placer chaque responsabilité.</a:t>
            </a:r>
          </a:p>
          <a:p>
            <a:endParaRPr lang="fr-FR" dirty="0"/>
          </a:p>
          <a:p>
            <a:r>
              <a:rPr lang="fr-FR" dirty="0"/>
              <a:t>J'ai également rencontré des difficultés avec les relations entre les entités Doctrine, notamment les relations entre produits et catégories.</a:t>
            </a:r>
          </a:p>
          <a:p>
            <a:endParaRPr lang="fr-FR" dirty="0"/>
          </a:p>
          <a:p>
            <a:r>
              <a:rPr lang="fr-FR" dirty="0"/>
              <a:t>Côté </a:t>
            </a:r>
            <a:r>
              <a:rPr lang="fr-FR" dirty="0" err="1"/>
              <a:t>front-end</a:t>
            </a:r>
            <a:r>
              <a:rPr lang="fr-FR" dirty="0"/>
              <a:t>, l'intégration de la maquette a demandé plusieurs adaptations pour obtenir un résultat responsif.</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1 minute 30</a:t>
            </a:r>
            <a:endParaRPr lang="fr-FR" dirty="0"/>
          </a:p>
          <a:p>
            <a:r>
              <a:rPr lang="fr-FR" dirty="0"/>
              <a:t>Une première version du site a déjà été publiée sur OVH. J’ai transféré les fichiers avec </a:t>
            </a:r>
            <a:r>
              <a:rPr lang="fr-FR" dirty="0" err="1"/>
              <a:t>FileZilla</a:t>
            </a:r>
            <a:r>
              <a:rPr lang="fr-FR" dirty="0"/>
              <a:t> et importé la base de données avec phpMyAdmin.</a:t>
            </a:r>
          </a:p>
          <a:p>
            <a:r>
              <a:rPr lang="fr-FR" dirty="0"/>
              <a:t>Le site hébergé est en maintenance. Les dernières corrections ont été validées localement ; la prochaine étape est de déployer cette version et de vérifier les parcours sur l’hébergement.</a:t>
            </a:r>
          </a:p>
          <a:p>
            <a:r>
              <a:rPr lang="fr-FR" dirty="0"/>
              <a:t>Avant cette mise à jour, je dois sauvegarder les données et préparer les fichiers de production. Le dossier public doit rester l’entrée web, tandis que les fichiers internes et les logos privés restent hors de l’accès direct du navigateur.</a:t>
            </a:r>
          </a:p>
          <a:p>
            <a:r>
              <a:rPr lang="fr-FR" dirty="0"/>
              <a:t>Je souhaite également migrer le projet vers PHP 8.5. Cette évolution demandera de vérifier la compatibilité des dépendances et de l’hébergement, puis de relancer les tests.</a:t>
            </a:r>
          </a:p>
          <a:p>
            <a:r>
              <a:rPr lang="fr-FR" dirty="0"/>
              <a:t>La messagerie reste à configurer et à tester. Les demandes de devis sont déjà enregistrées en base indépendamment de l’envoi de courriels.</a:t>
            </a:r>
          </a:p>
          <a:p>
            <a:r>
              <a:rPr lang="fr-FR" dirty="0"/>
              <a:t>Après les vérifications, l’objectif est l’ouverture publique du site. Les évolutions suivantes dépendront des besoins réels de l’atelier : pagination, recherche enrichie et éventuellement traduction.</a:t>
            </a:r>
          </a:p>
          <a:p>
            <a:endParaRPr lang="fr-F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45 secondes</a:t>
            </a:r>
            <a:endParaRPr lang="fr-FR" dirty="0"/>
          </a:p>
          <a:p>
            <a:r>
              <a:rPr lang="fr-FR" dirty="0"/>
              <a:t>Ce projet m’a permis de relier la conception des interfaces, le développement </a:t>
            </a:r>
            <a:r>
              <a:rPr lang="fr-FR" dirty="0" err="1"/>
              <a:t>front-end</a:t>
            </a:r>
            <a:r>
              <a:rPr lang="fr-FR" dirty="0"/>
              <a:t>, le traitement côté serveur et une base relationnelle.</a:t>
            </a:r>
          </a:p>
          <a:p>
            <a:r>
              <a:rPr lang="fr-FR" dirty="0"/>
              <a:t>Le résultat principal est un parcours fonctionnel : le visiteur consulte les réalisations et transmet une demande, puis l’administratrice peut la suivre.</a:t>
            </a:r>
          </a:p>
          <a:p>
            <a:r>
              <a:rPr lang="fr-FR" dirty="0"/>
              <a:t>J’ai surtout appris à comprendre le trajet des données et à vérifier les erreurs aussi bien que les cas corrects.</a:t>
            </a:r>
          </a:p>
          <a:p>
            <a:r>
              <a:rPr lang="fr-FR" dirty="0"/>
              <a:t>Les prochaines étapes concernent la mise à jour de l’hébergement, la messagerie et les derniers contrôles avant l’ouverture publique.</a:t>
            </a:r>
          </a:p>
          <a:p>
            <a:r>
              <a:rPr lang="fr-FR" dirty="0"/>
              <a:t>Merci pour votre attention.</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3F0BBF9-FDDA-4B23-B401-580D566EDE34}"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8F0B54-4CA1-462C-A3CA-145342ABB252}"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FC4D4C-880A-4F8B-B5C2-53B3C9C28657}"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023AE9-28DD-4232-84BB-EC01B1CFADA4}"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BD6F03-AB67-4719-A2A7-2BBD689EEC74}" type="datetime1">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D7D015-B9A4-41F9-B951-2C0BCF7D78D1}" type="datetime1">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0009B-7227-4240-9450-4F66351B3DBE}" type="datetime1">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09018" y="6311900"/>
            <a:ext cx="2133600" cy="365125"/>
          </a:xfrm>
        </p:spPr>
        <p:txBody>
          <a:bodyPr/>
          <a:lstStyle>
            <a:lvl1pPr>
              <a:defRPr sz="2000">
                <a:solidFill>
                  <a:schemeClr val="tx1"/>
                </a:solidFill>
              </a:defRPr>
            </a:lvl1pPr>
          </a:lstStyle>
          <a:p>
            <a:fld id="{C1FF6DA9-008F-8B48-92A6-B652298478BF}" type="slidenum">
              <a:rPr lang="en-US" smtClean="0"/>
              <a:pPr/>
              <a:t>‹N°›</a:t>
            </a:fld>
            <a:endParaRPr lang="en-US" dirty="0">
              <a:solidFill>
                <a:schemeClr val="tx1"/>
              </a:solidFill>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5A1ACD-57D8-4D0A-A94D-EA57B0159C4D}"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5BC11E-83E0-47F6-B517-684087A81E6E}"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79FFBD-AE49-41AD-83FB-FE94F5340E39}"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0E8715-E3F0-4689-8D1F-767FDF19E4B2}"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r="-4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E1938-7668-4051-B501-987B32E23C0F}" type="datetime1">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46000"/>
          </a:stretch>
        </a:blipFill>
        <a:effectLst/>
      </p:bgPr>
    </p:bg>
    <p:spTree>
      <p:nvGrpSpPr>
        <p:cNvPr id="1" name=""/>
        <p:cNvGrpSpPr/>
        <p:nvPr/>
      </p:nvGrpSpPr>
      <p:grpSpPr>
        <a:xfrm>
          <a:off x="0" y="0"/>
          <a:ext cx="0" cy="0"/>
          <a:chOff x="0" y="0"/>
          <a:chExt cx="0" cy="0"/>
        </a:xfrm>
      </p:grpSpPr>
      <p:sp>
        <p:nvSpPr>
          <p:cNvPr id="4" name="TextBox 3"/>
          <p:cNvSpPr txBox="1"/>
          <p:nvPr/>
        </p:nvSpPr>
        <p:spPr>
          <a:xfrm>
            <a:off x="3300619" y="451794"/>
            <a:ext cx="5590761" cy="1815882"/>
          </a:xfrm>
          <a:prstGeom prst="rect">
            <a:avLst/>
          </a:prstGeom>
          <a:noFill/>
        </p:spPr>
        <p:txBody>
          <a:bodyPr wrap="none">
            <a:spAutoFit/>
          </a:bodyPr>
          <a:lstStyle/>
          <a:p>
            <a:pPr algn="ctr"/>
            <a:r>
              <a:rPr lang="fr-FR" sz="4800" b="1" noProof="0" dirty="0">
                <a:solidFill>
                  <a:srgbClr val="2C2522"/>
                </a:solidFill>
              </a:rPr>
              <a:t>Site web de broderie</a:t>
            </a:r>
          </a:p>
          <a:p>
            <a:pPr algn="ctr"/>
            <a:r>
              <a:rPr lang="fr-FR" sz="4000" noProof="0" dirty="0">
                <a:solidFill>
                  <a:schemeClr val="accent6">
                    <a:lumMod val="50000"/>
                  </a:schemeClr>
                </a:solidFill>
              </a:rPr>
              <a:t>et personnalisation textile</a:t>
            </a:r>
          </a:p>
          <a:p>
            <a:pPr algn="ctr"/>
            <a:r>
              <a:rPr lang="fr-FR" sz="2400" noProof="0" dirty="0"/>
              <a:t>Application web développée avec Symfony</a:t>
            </a:r>
          </a:p>
        </p:txBody>
      </p:sp>
      <p:pic>
        <p:nvPicPr>
          <p:cNvPr id="8" name="Image 7">
            <a:extLst>
              <a:ext uri="{FF2B5EF4-FFF2-40B4-BE49-F238E27FC236}">
                <a16:creationId xmlns:a16="http://schemas.microsoft.com/office/drawing/2014/main" id="{6701434F-79A2-DB61-127D-E1C7527F132B}"/>
              </a:ext>
            </a:extLst>
          </p:cNvPr>
          <p:cNvPicPr>
            <a:picLocks noChangeAspect="1"/>
          </p:cNvPicPr>
          <p:nvPr/>
        </p:nvPicPr>
        <p:blipFill>
          <a:blip r:embed="rId4"/>
          <a:stretch>
            <a:fillRect/>
          </a:stretch>
        </p:blipFill>
        <p:spPr>
          <a:xfrm>
            <a:off x="4326240" y="2651760"/>
            <a:ext cx="3539517" cy="2319531"/>
          </a:xfrm>
          <a:prstGeom prst="rect">
            <a:avLst/>
          </a:prstGeom>
        </p:spPr>
      </p:pic>
      <p:sp>
        <p:nvSpPr>
          <p:cNvPr id="5" name="Aureo Ruffier">
            <a:extLst>
              <a:ext uri="{FF2B5EF4-FFF2-40B4-BE49-F238E27FC236}">
                <a16:creationId xmlns:a16="http://schemas.microsoft.com/office/drawing/2014/main" id="{88E28915-DF6B-2942-0F6C-C577F367403C}"/>
              </a:ext>
            </a:extLst>
          </p:cNvPr>
          <p:cNvSpPr>
            <a:spLocks noGrp="1"/>
          </p:cNvSpPr>
          <p:nvPr/>
        </p:nvSpPr>
        <p:spPr>
          <a:xfrm>
            <a:off x="724215" y="5155736"/>
            <a:ext cx="5905500" cy="1255619"/>
          </a:xfrm>
          <a:prstGeom prst="rect">
            <a:avLst/>
          </a:prstGeom>
          <a:noFill/>
          <a:ln w="0">
            <a:noFill/>
          </a:ln>
        </p:spPr>
        <p:txBody>
          <a:bodyPr lIns="0" tIns="0" rIns="0" bIns="0"/>
          <a:lstStyle>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a:pPr>
              <a:defRPr sz="1875" b="0">
                <a:solidFill>
                  <a:srgbClr val="262B29"/>
                </a:solidFill>
                <a:latin typeface="Arial"/>
                <a:ea typeface="Arial"/>
                <a:cs typeface="Arial"/>
              </a:defRPr>
            </a:pPr>
            <a:r>
              <a:rPr lang="fr-FR" sz="2000" b="1" noProof="0" dirty="0">
                <a:solidFill>
                  <a:srgbClr val="262B29"/>
                </a:solidFill>
                <a:latin typeface="+mj-lt"/>
                <a:ea typeface="Arial"/>
                <a:cs typeface="Arial"/>
              </a:rPr>
              <a:t>Aureo Ruffier</a:t>
            </a:r>
          </a:p>
          <a:p>
            <a:pPr>
              <a:defRPr sz="1875" b="0">
                <a:solidFill>
                  <a:srgbClr val="262B29"/>
                </a:solidFill>
                <a:latin typeface="Arial"/>
                <a:ea typeface="Arial"/>
                <a:cs typeface="Arial"/>
              </a:defRPr>
            </a:pPr>
            <a:endParaRPr lang="fr-FR" sz="800" b="1" noProof="0" dirty="0">
              <a:solidFill>
                <a:srgbClr val="262B29"/>
              </a:solidFill>
              <a:latin typeface="+mj-lt"/>
              <a:ea typeface="Arial"/>
              <a:cs typeface="Arial"/>
            </a:endParaRPr>
          </a:p>
          <a:p>
            <a:pPr>
              <a:defRPr sz="1875" b="0">
                <a:solidFill>
                  <a:srgbClr val="262B29"/>
                </a:solidFill>
                <a:latin typeface="Arial"/>
                <a:ea typeface="Arial"/>
                <a:cs typeface="Arial"/>
              </a:defRPr>
            </a:pPr>
            <a:r>
              <a:rPr lang="fr-FR" sz="2000" noProof="0" dirty="0">
                <a:latin typeface="+mj-lt"/>
              </a:rPr>
              <a:t>Centre de formation : Institut de la PME</a:t>
            </a:r>
            <a:endParaRPr lang="fr-FR" sz="2000" b="0" noProof="0" dirty="0">
              <a:solidFill>
                <a:srgbClr val="262B29"/>
              </a:solidFill>
              <a:latin typeface="+mj-lt"/>
              <a:ea typeface="Arial"/>
              <a:cs typeface="Arial"/>
            </a:endParaRPr>
          </a:p>
          <a:p>
            <a:pPr>
              <a:defRPr sz="1875" b="0">
                <a:solidFill>
                  <a:srgbClr val="262B29"/>
                </a:solidFill>
                <a:latin typeface="Arial"/>
                <a:ea typeface="Arial"/>
                <a:cs typeface="Arial"/>
              </a:defRPr>
            </a:pPr>
            <a:r>
              <a:rPr lang="fr-FR" sz="2000" noProof="0" dirty="0">
                <a:latin typeface="+mj-lt"/>
              </a:rPr>
              <a:t>Titre professionnel DWWM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759200" cy="523220"/>
          </a:xfrm>
          <a:prstGeom prst="rect">
            <a:avLst/>
          </a:prstGeom>
          <a:noFill/>
        </p:spPr>
        <p:txBody>
          <a:bodyPr wrap="none">
            <a:spAutoFit/>
          </a:bodyPr>
          <a:lstStyle/>
          <a:p>
            <a:r>
              <a:rPr lang="fr-FR" sz="2800" b="1" noProof="0" dirty="0">
                <a:solidFill>
                  <a:srgbClr val="2C2522"/>
                </a:solidFill>
                <a:latin typeface="Aptos Display"/>
              </a:rPr>
              <a:t>Sommaire</a:t>
            </a:r>
          </a:p>
        </p:txBody>
      </p:sp>
      <p:sp>
        <p:nvSpPr>
          <p:cNvPr id="4" name="Rounded Rectangle 3"/>
          <p:cNvSpPr/>
          <p:nvPr/>
        </p:nvSpPr>
        <p:spPr>
          <a:xfrm>
            <a:off x="1216702" y="1730271"/>
            <a:ext cx="9758595" cy="339745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numCol="2" rtlCol="0" anchor="ct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Contexte et objectifs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Technologies et environnement</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Diagramme de cas d’utilisation</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Schéma UML / BDD</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Maquette → réalisation</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Fixtures → Faker</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err="1">
                <a:ln>
                  <a:noFill/>
                </a:ln>
                <a:solidFill>
                  <a:srgbClr val="F79646">
                    <a:lumMod val="50000"/>
                  </a:srgbClr>
                </a:solidFill>
                <a:effectLst/>
                <a:uLnTx/>
                <a:uFillTx/>
                <a:latin typeface="Calibri"/>
                <a:ea typeface="+mn-ea"/>
                <a:cs typeface="+mn-cs"/>
              </a:rPr>
              <a:t>Front-end</a:t>
            </a:r>
            <a:endPar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err="1">
                <a:ln>
                  <a:noFill/>
                </a:ln>
                <a:solidFill>
                  <a:srgbClr val="F79646">
                    <a:lumMod val="50000"/>
                  </a:srgbClr>
                </a:solidFill>
                <a:effectLst/>
                <a:uLnTx/>
                <a:uFillTx/>
                <a:latin typeface="Calibri"/>
                <a:ea typeface="+mn-ea"/>
                <a:cs typeface="+mn-cs"/>
              </a:rPr>
              <a:t>Back-end</a:t>
            </a: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 — MVC</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Repository → Doctrine → SQL</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CRUD</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Forms et sécurité</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Démonstration</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Tests et Vérifications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Difficultés rencontrées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Publication et prochaines étapes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200" b="1" i="0" u="none" strike="noStrike" kern="1200" cap="none" spc="0" normalizeH="0" baseline="0" noProof="0" dirty="0">
                <a:ln>
                  <a:noFill/>
                </a:ln>
                <a:solidFill>
                  <a:srgbClr val="F79646">
                    <a:lumMod val="50000"/>
                  </a:srgbClr>
                </a:solidFill>
                <a:effectLst/>
                <a:uLnTx/>
                <a:uFillTx/>
                <a:latin typeface="Calibri"/>
                <a:ea typeface="+mn-ea"/>
                <a:cs typeface="+mn-cs"/>
              </a:rPr>
              <a:t>Conclusion</a:t>
            </a:r>
          </a:p>
        </p:txBody>
      </p:sp>
      <p:sp>
        <p:nvSpPr>
          <p:cNvPr id="5" name="Espace réservé du numéro de diapositive 4">
            <a:extLst>
              <a:ext uri="{FF2B5EF4-FFF2-40B4-BE49-F238E27FC236}">
                <a16:creationId xmlns:a16="http://schemas.microsoft.com/office/drawing/2014/main" id="{FBC80B67-F870-D986-9C57-372F98C16AA9}"/>
              </a:ext>
            </a:extLst>
          </p:cNvPr>
          <p:cNvSpPr>
            <a:spLocks noGrp="1"/>
          </p:cNvSpPr>
          <p:nvPr>
            <p:ph type="sldNum" sz="quarter" idx="12"/>
          </p:nvPr>
        </p:nvSpPr>
        <p:spPr/>
        <p:txBody>
          <a:bodyPr/>
          <a:lstStyle/>
          <a:p>
            <a:fld id="{C1FF6DA9-008F-8B48-92A6-B652298478BF}" type="slidenum">
              <a:rPr lang="fr-FR" noProof="0" smtClean="0"/>
              <a:t>2</a:t>
            </a:fld>
            <a:endParaRPr lang="fr-FR"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38AA3-96AC-5444-2510-7A6F1F360A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D45151-A5B0-6B8F-71F3-DEEA0B5ACAAF}"/>
              </a:ext>
            </a:extLst>
          </p:cNvPr>
          <p:cNvSpPr txBox="1"/>
          <p:nvPr/>
        </p:nvSpPr>
        <p:spPr>
          <a:xfrm>
            <a:off x="640080" y="411480"/>
            <a:ext cx="10972800" cy="594360"/>
          </a:xfrm>
          <a:prstGeom prst="rect">
            <a:avLst/>
          </a:prstGeom>
          <a:noFill/>
        </p:spPr>
        <p:txBody>
          <a:bodyPr wrap="none">
            <a:spAutoFit/>
          </a:bodyPr>
          <a:lstStyle/>
          <a:p>
            <a:r>
              <a:rPr lang="fr-FR" sz="2800" b="1" noProof="0" dirty="0">
                <a:solidFill>
                  <a:srgbClr val="2C2522"/>
                </a:solidFill>
                <a:latin typeface="Aptos Display"/>
              </a:rPr>
              <a:t>Contexte et objectifs</a:t>
            </a:r>
          </a:p>
        </p:txBody>
      </p:sp>
      <p:sp>
        <p:nvSpPr>
          <p:cNvPr id="4" name="Rounded Rectangle 3">
            <a:extLst>
              <a:ext uri="{FF2B5EF4-FFF2-40B4-BE49-F238E27FC236}">
                <a16:creationId xmlns:a16="http://schemas.microsoft.com/office/drawing/2014/main" id="{A32800F5-2CEC-FE20-0280-6FFC5A1F13DF}"/>
              </a:ext>
            </a:extLst>
          </p:cNvPr>
          <p:cNvSpPr/>
          <p:nvPr/>
        </p:nvSpPr>
        <p:spPr>
          <a:xfrm>
            <a:off x="685800" y="1799776"/>
            <a:ext cx="5212080" cy="3303146"/>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rPr>
              <a:t>CONTEXTE</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Création d'un site web pour une activité de broderie et de personnalisation textile.</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Mettre en avant l'atelier « L’aiguille des volcans », spécialisé dans les créations artisanales sur mesure.</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Présenter l'activité, les services et les produits, tout en proposant des fonctionnalités dynamiques.</a:t>
            </a:r>
            <a:endParaRPr lang="fr-FR" sz="1600" noProof="0" dirty="0">
              <a:solidFill>
                <a:srgbClr val="2C2522"/>
              </a:solidFill>
              <a:latin typeface="Calibri"/>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Réalisation individuelle pendant la formation</a:t>
            </a:r>
          </a:p>
        </p:txBody>
      </p:sp>
      <p:sp>
        <p:nvSpPr>
          <p:cNvPr id="6" name="Rounded Rectangle 5">
            <a:extLst>
              <a:ext uri="{FF2B5EF4-FFF2-40B4-BE49-F238E27FC236}">
                <a16:creationId xmlns:a16="http://schemas.microsoft.com/office/drawing/2014/main" id="{BDDA0986-1F04-62CA-9F73-0D55AD80E395}"/>
              </a:ext>
            </a:extLst>
          </p:cNvPr>
          <p:cNvSpPr/>
          <p:nvPr/>
        </p:nvSpPr>
        <p:spPr>
          <a:xfrm>
            <a:off x="6217920" y="1799776"/>
            <a:ext cx="5212080" cy="3303146"/>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rPr>
              <a:t>OBJECTIFS</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Présenter l'entreprise et ses services</a:t>
            </a:r>
            <a:endParaRPr lang="fr-FR" sz="1600" noProof="0" dirty="0">
              <a:solidFill>
                <a:srgbClr val="2C2522"/>
              </a:solidFill>
              <a:latin typeface="Calibri"/>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Présenter les produits et catégories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Faciliter la prise de contact</a:t>
            </a:r>
            <a:endParaRPr lang="fr-FR" sz="1600" noProof="0" dirty="0">
              <a:solidFill>
                <a:srgbClr val="2C2522"/>
              </a:solidFill>
              <a:latin typeface="Calibri"/>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Permettre une demande de devis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Laisser un avis</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Gérer les contenus via un espace d'administration</a:t>
            </a:r>
          </a:p>
        </p:txBody>
      </p:sp>
      <p:sp>
        <p:nvSpPr>
          <p:cNvPr id="5" name="Espace réservé du numéro de diapositive 4">
            <a:extLst>
              <a:ext uri="{FF2B5EF4-FFF2-40B4-BE49-F238E27FC236}">
                <a16:creationId xmlns:a16="http://schemas.microsoft.com/office/drawing/2014/main" id="{E0DC280F-F4AC-9DEF-3F5F-5B1E831BC953}"/>
              </a:ext>
            </a:extLst>
          </p:cNvPr>
          <p:cNvSpPr>
            <a:spLocks noGrp="1"/>
          </p:cNvSpPr>
          <p:nvPr>
            <p:ph type="sldNum" sz="quarter" idx="12"/>
          </p:nvPr>
        </p:nvSpPr>
        <p:spPr/>
        <p:txBody>
          <a:bodyPr/>
          <a:lstStyle/>
          <a:p>
            <a:fld id="{C1FF6DA9-008F-8B48-92A6-B652298478BF}" type="slidenum">
              <a:rPr lang="fr-FR" noProof="0" smtClean="0"/>
              <a:t>3</a:t>
            </a:fld>
            <a:endParaRPr lang="fr-FR" noProof="0" dirty="0"/>
          </a:p>
        </p:txBody>
      </p:sp>
    </p:spTree>
    <p:extLst>
      <p:ext uri="{BB962C8B-B14F-4D97-AF65-F5344CB8AC3E}">
        <p14:creationId xmlns:p14="http://schemas.microsoft.com/office/powerpoint/2010/main" val="2909998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a:solidFill>
                  <a:srgbClr val="2C2522"/>
                </a:solidFill>
                <a:latin typeface="Aptos Display"/>
              </a:rPr>
              <a:t>Technologies et environnement</a:t>
            </a:r>
          </a:p>
        </p:txBody>
      </p:sp>
      <p:sp>
        <p:nvSpPr>
          <p:cNvPr id="4" name="Rounded Rectangle 3"/>
          <p:cNvSpPr/>
          <p:nvPr/>
        </p:nvSpPr>
        <p:spPr>
          <a:xfrm>
            <a:off x="640080" y="141732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TextBox 4"/>
          <p:cNvSpPr txBox="1"/>
          <p:nvPr/>
        </p:nvSpPr>
        <p:spPr>
          <a:xfrm>
            <a:off x="804671" y="1554480"/>
            <a:ext cx="3145536" cy="643766"/>
          </a:xfrm>
          <a:prstGeom prst="rect">
            <a:avLst/>
          </a:prstGeom>
          <a:noFill/>
        </p:spPr>
        <p:txBody>
          <a:bodyPr wrap="square">
            <a:spAutoFit/>
          </a:bodyPr>
          <a:lstStyle/>
          <a:p>
            <a:r>
              <a:rPr lang="fr-FR" sz="1600" b="1" noProof="0" dirty="0">
                <a:solidFill>
                  <a:schemeClr val="accent6">
                    <a:lumMod val="50000"/>
                  </a:schemeClr>
                </a:solidFill>
              </a:rPr>
              <a:t>PHP ≥ 8.2</a:t>
            </a:r>
          </a:p>
          <a:p>
            <a:pPr>
              <a:spcBef>
                <a:spcPts val="700"/>
              </a:spcBef>
              <a:defRPr sz="1200">
                <a:solidFill>
                  <a:srgbClr val="2C2522"/>
                </a:solidFill>
              </a:defRPr>
            </a:pPr>
            <a:r>
              <a:rPr lang="fr-FR" sz="1400" noProof="0" dirty="0"/>
              <a:t>Langage serveur</a:t>
            </a:r>
          </a:p>
        </p:txBody>
      </p:sp>
      <p:sp>
        <p:nvSpPr>
          <p:cNvPr id="6" name="Rounded Rectangle 5"/>
          <p:cNvSpPr/>
          <p:nvPr/>
        </p:nvSpPr>
        <p:spPr>
          <a:xfrm>
            <a:off x="4434840" y="141732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TextBox 6"/>
          <p:cNvSpPr txBox="1"/>
          <p:nvPr/>
        </p:nvSpPr>
        <p:spPr>
          <a:xfrm>
            <a:off x="4599432" y="1554480"/>
            <a:ext cx="3145536" cy="643766"/>
          </a:xfrm>
          <a:prstGeom prst="rect">
            <a:avLst/>
          </a:prstGeom>
          <a:noFill/>
        </p:spPr>
        <p:txBody>
          <a:bodyPr wrap="square">
            <a:spAutoFit/>
          </a:bodyPr>
          <a:lstStyle/>
          <a:p>
            <a:r>
              <a:rPr lang="fr-FR" sz="1600" b="1" noProof="0" dirty="0">
                <a:solidFill>
                  <a:schemeClr val="accent6">
                    <a:lumMod val="50000"/>
                  </a:schemeClr>
                </a:solidFill>
              </a:rPr>
              <a:t>Symfony 7.4 (LTS)</a:t>
            </a:r>
          </a:p>
          <a:p>
            <a:pPr>
              <a:spcBef>
                <a:spcPts val="700"/>
              </a:spcBef>
              <a:defRPr sz="1200">
                <a:solidFill>
                  <a:srgbClr val="2C2522"/>
                </a:solidFill>
              </a:defRPr>
            </a:pPr>
            <a:r>
              <a:rPr lang="fr-FR" sz="1400" noProof="0" dirty="0"/>
              <a:t>Framework web</a:t>
            </a:r>
          </a:p>
        </p:txBody>
      </p:sp>
      <p:sp>
        <p:nvSpPr>
          <p:cNvPr id="8" name="Rounded Rectangle 7"/>
          <p:cNvSpPr/>
          <p:nvPr/>
        </p:nvSpPr>
        <p:spPr>
          <a:xfrm>
            <a:off x="8229600" y="141732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TextBox 8"/>
          <p:cNvSpPr txBox="1"/>
          <p:nvPr/>
        </p:nvSpPr>
        <p:spPr>
          <a:xfrm>
            <a:off x="8394192" y="1554480"/>
            <a:ext cx="3145536" cy="643766"/>
          </a:xfrm>
          <a:prstGeom prst="rect">
            <a:avLst/>
          </a:prstGeom>
          <a:noFill/>
        </p:spPr>
        <p:txBody>
          <a:bodyPr wrap="square">
            <a:spAutoFit/>
          </a:bodyPr>
          <a:lstStyle/>
          <a:p>
            <a:r>
              <a:rPr lang="fr-FR" sz="1600" b="1" noProof="0" dirty="0">
                <a:solidFill>
                  <a:schemeClr val="accent6">
                    <a:lumMod val="50000"/>
                  </a:schemeClr>
                </a:solidFill>
              </a:rPr>
              <a:t>Doctrine ORM 3.6</a:t>
            </a:r>
          </a:p>
          <a:p>
            <a:pPr>
              <a:spcBef>
                <a:spcPts val="700"/>
              </a:spcBef>
              <a:defRPr sz="1200">
                <a:solidFill>
                  <a:srgbClr val="2C2522"/>
                </a:solidFill>
              </a:defRPr>
            </a:pPr>
            <a:r>
              <a:rPr lang="fr-FR" sz="1400" noProof="0" dirty="0"/>
              <a:t>ORM / BDD</a:t>
            </a:r>
          </a:p>
        </p:txBody>
      </p:sp>
      <p:sp>
        <p:nvSpPr>
          <p:cNvPr id="10" name="Rounded Rectangle 9"/>
          <p:cNvSpPr/>
          <p:nvPr/>
        </p:nvSpPr>
        <p:spPr>
          <a:xfrm>
            <a:off x="640080" y="260604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1" name="TextBox 10"/>
          <p:cNvSpPr txBox="1"/>
          <p:nvPr/>
        </p:nvSpPr>
        <p:spPr>
          <a:xfrm>
            <a:off x="804671" y="2743200"/>
            <a:ext cx="3145536" cy="643766"/>
          </a:xfrm>
          <a:prstGeom prst="rect">
            <a:avLst/>
          </a:prstGeom>
          <a:noFill/>
        </p:spPr>
        <p:txBody>
          <a:bodyPr wrap="square">
            <a:spAutoFit/>
          </a:bodyPr>
          <a:lstStyle/>
          <a:p>
            <a:r>
              <a:rPr lang="fr-FR" sz="1600" b="1" noProof="0" dirty="0" err="1">
                <a:solidFill>
                  <a:schemeClr val="accent6">
                    <a:lumMod val="50000"/>
                  </a:schemeClr>
                </a:solidFill>
              </a:rPr>
              <a:t>MariaDB</a:t>
            </a:r>
            <a:r>
              <a:rPr lang="fr-FR" sz="1600" b="1" noProof="0" dirty="0">
                <a:solidFill>
                  <a:schemeClr val="accent6">
                    <a:lumMod val="50000"/>
                  </a:schemeClr>
                </a:solidFill>
              </a:rPr>
              <a:t> 10.11.11</a:t>
            </a:r>
          </a:p>
          <a:p>
            <a:pPr>
              <a:spcBef>
                <a:spcPts val="700"/>
              </a:spcBef>
              <a:defRPr sz="1200">
                <a:solidFill>
                  <a:srgbClr val="2C2522"/>
                </a:solidFill>
              </a:defRPr>
            </a:pPr>
            <a:r>
              <a:rPr lang="fr-FR" sz="1400" noProof="0" dirty="0"/>
              <a:t>Base de données</a:t>
            </a:r>
          </a:p>
        </p:txBody>
      </p:sp>
      <p:sp>
        <p:nvSpPr>
          <p:cNvPr id="12" name="Rounded Rectangle 11"/>
          <p:cNvSpPr/>
          <p:nvPr/>
        </p:nvSpPr>
        <p:spPr>
          <a:xfrm>
            <a:off x="4434840" y="260604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TextBox 12"/>
          <p:cNvSpPr txBox="1"/>
          <p:nvPr/>
        </p:nvSpPr>
        <p:spPr>
          <a:xfrm>
            <a:off x="4599432" y="2743200"/>
            <a:ext cx="3145536" cy="643766"/>
          </a:xfrm>
          <a:prstGeom prst="rect">
            <a:avLst/>
          </a:prstGeom>
          <a:noFill/>
        </p:spPr>
        <p:txBody>
          <a:bodyPr wrap="square">
            <a:spAutoFit/>
          </a:bodyPr>
          <a:lstStyle/>
          <a:p>
            <a:r>
              <a:rPr lang="fr-FR" sz="1600" b="1" noProof="0" dirty="0">
                <a:solidFill>
                  <a:schemeClr val="accent6">
                    <a:lumMod val="50000"/>
                  </a:schemeClr>
                </a:solidFill>
              </a:rPr>
              <a:t>Twig</a:t>
            </a:r>
          </a:p>
          <a:p>
            <a:pPr>
              <a:spcBef>
                <a:spcPts val="700"/>
              </a:spcBef>
              <a:defRPr sz="1200">
                <a:solidFill>
                  <a:srgbClr val="2C2522"/>
                </a:solidFill>
              </a:defRPr>
            </a:pPr>
            <a:r>
              <a:rPr lang="fr-FR" sz="1400" noProof="0" dirty="0"/>
              <a:t>Moteur de </a:t>
            </a:r>
            <a:r>
              <a:rPr lang="fr-FR" sz="1400" noProof="0" dirty="0" err="1"/>
              <a:t>Templates</a:t>
            </a:r>
            <a:r>
              <a:rPr lang="fr-FR" sz="1400" noProof="0" dirty="0"/>
              <a:t> HTML</a:t>
            </a:r>
          </a:p>
        </p:txBody>
      </p:sp>
      <p:sp>
        <p:nvSpPr>
          <p:cNvPr id="14" name="Rounded Rectangle 13"/>
          <p:cNvSpPr/>
          <p:nvPr/>
        </p:nvSpPr>
        <p:spPr>
          <a:xfrm>
            <a:off x="8229600" y="260604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5" name="TextBox 14"/>
          <p:cNvSpPr txBox="1"/>
          <p:nvPr/>
        </p:nvSpPr>
        <p:spPr>
          <a:xfrm>
            <a:off x="8394192" y="2743200"/>
            <a:ext cx="3145536" cy="643766"/>
          </a:xfrm>
          <a:prstGeom prst="rect">
            <a:avLst/>
          </a:prstGeom>
          <a:noFill/>
        </p:spPr>
        <p:txBody>
          <a:bodyPr wrap="square">
            <a:spAutoFit/>
          </a:bodyPr>
          <a:lstStyle/>
          <a:p>
            <a:r>
              <a:rPr lang="fr-FR" sz="1600" b="1" noProof="0" dirty="0">
                <a:solidFill>
                  <a:schemeClr val="accent6">
                    <a:lumMod val="50000"/>
                  </a:schemeClr>
                </a:solidFill>
              </a:rPr>
              <a:t>Bootstrap 5.3.8</a:t>
            </a:r>
          </a:p>
          <a:p>
            <a:pPr>
              <a:spcBef>
                <a:spcPts val="700"/>
              </a:spcBef>
              <a:defRPr sz="1200">
                <a:solidFill>
                  <a:srgbClr val="2C2522"/>
                </a:solidFill>
              </a:defRPr>
            </a:pPr>
            <a:r>
              <a:rPr lang="fr-FR" sz="1400" noProof="0" dirty="0"/>
              <a:t>UI / responsive</a:t>
            </a:r>
          </a:p>
        </p:txBody>
      </p:sp>
      <p:sp>
        <p:nvSpPr>
          <p:cNvPr id="16" name="Rounded Rectangle 15"/>
          <p:cNvSpPr/>
          <p:nvPr/>
        </p:nvSpPr>
        <p:spPr>
          <a:xfrm>
            <a:off x="640080" y="379476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7" name="TextBox 16"/>
          <p:cNvSpPr txBox="1"/>
          <p:nvPr/>
        </p:nvSpPr>
        <p:spPr>
          <a:xfrm>
            <a:off x="804671" y="3931920"/>
            <a:ext cx="3145536" cy="643766"/>
          </a:xfrm>
          <a:prstGeom prst="rect">
            <a:avLst/>
          </a:prstGeom>
          <a:noFill/>
        </p:spPr>
        <p:txBody>
          <a:bodyPr wrap="square">
            <a:spAutoFit/>
          </a:bodyPr>
          <a:lstStyle/>
          <a:p>
            <a:r>
              <a:rPr lang="fr-FR" sz="1600" b="1" noProof="0" dirty="0">
                <a:solidFill>
                  <a:schemeClr val="accent6">
                    <a:lumMod val="50000"/>
                  </a:schemeClr>
                </a:solidFill>
              </a:rPr>
              <a:t>Font Awesome 7.3.1</a:t>
            </a:r>
          </a:p>
          <a:p>
            <a:pPr>
              <a:spcBef>
                <a:spcPts val="700"/>
              </a:spcBef>
              <a:defRPr sz="1200">
                <a:solidFill>
                  <a:srgbClr val="2C2522"/>
                </a:solidFill>
              </a:defRPr>
            </a:pPr>
            <a:r>
              <a:rPr lang="fr-FR" sz="1400" noProof="0" dirty="0"/>
              <a:t>Icônes</a:t>
            </a:r>
            <a:endParaRPr lang="fr-FR" noProof="0" dirty="0"/>
          </a:p>
        </p:txBody>
      </p:sp>
      <p:sp>
        <p:nvSpPr>
          <p:cNvPr id="18" name="Rounded Rectangle 17"/>
          <p:cNvSpPr/>
          <p:nvPr/>
        </p:nvSpPr>
        <p:spPr>
          <a:xfrm>
            <a:off x="4434840" y="379476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TextBox 18"/>
          <p:cNvSpPr txBox="1"/>
          <p:nvPr/>
        </p:nvSpPr>
        <p:spPr>
          <a:xfrm>
            <a:off x="4599432" y="3931920"/>
            <a:ext cx="3145536" cy="643766"/>
          </a:xfrm>
          <a:prstGeom prst="rect">
            <a:avLst/>
          </a:prstGeom>
          <a:noFill/>
        </p:spPr>
        <p:txBody>
          <a:bodyPr wrap="square">
            <a:spAutoFit/>
          </a:bodyPr>
          <a:lstStyle/>
          <a:p>
            <a:r>
              <a:rPr lang="fr-FR" sz="1600" b="1" noProof="0" dirty="0" err="1">
                <a:solidFill>
                  <a:schemeClr val="accent6">
                    <a:lumMod val="50000"/>
                  </a:schemeClr>
                </a:solidFill>
              </a:rPr>
              <a:t>Webpack</a:t>
            </a:r>
            <a:r>
              <a:rPr lang="fr-FR" sz="1600" b="1" noProof="0" dirty="0">
                <a:solidFill>
                  <a:schemeClr val="accent6">
                    <a:lumMod val="50000"/>
                  </a:schemeClr>
                </a:solidFill>
              </a:rPr>
              <a:t> Encore</a:t>
            </a:r>
          </a:p>
          <a:p>
            <a:pPr>
              <a:spcBef>
                <a:spcPts val="700"/>
              </a:spcBef>
              <a:defRPr sz="1200">
                <a:solidFill>
                  <a:srgbClr val="2C2522"/>
                </a:solidFill>
              </a:defRPr>
            </a:pPr>
            <a:r>
              <a:rPr lang="fr-FR" sz="1400" noProof="0" dirty="0"/>
              <a:t>Gestion des assets (CSS et JavaScript)</a:t>
            </a:r>
          </a:p>
        </p:txBody>
      </p:sp>
      <p:sp>
        <p:nvSpPr>
          <p:cNvPr id="20" name="Rounded Rectangle 19"/>
          <p:cNvSpPr/>
          <p:nvPr/>
        </p:nvSpPr>
        <p:spPr>
          <a:xfrm>
            <a:off x="8229600" y="379476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1" name="TextBox 20"/>
          <p:cNvSpPr txBox="1"/>
          <p:nvPr/>
        </p:nvSpPr>
        <p:spPr>
          <a:xfrm>
            <a:off x="8394192" y="3931920"/>
            <a:ext cx="3145536" cy="643766"/>
          </a:xfrm>
          <a:prstGeom prst="rect">
            <a:avLst/>
          </a:prstGeom>
          <a:noFill/>
        </p:spPr>
        <p:txBody>
          <a:bodyPr wrap="square">
            <a:spAutoFit/>
          </a:bodyPr>
          <a:lstStyle/>
          <a:p>
            <a:r>
              <a:rPr lang="fr-FR" sz="1600" b="1" noProof="0" dirty="0">
                <a:solidFill>
                  <a:schemeClr val="accent6">
                    <a:lumMod val="50000"/>
                  </a:schemeClr>
                </a:solidFill>
              </a:rPr>
              <a:t>Node.js 22</a:t>
            </a:r>
          </a:p>
          <a:p>
            <a:pPr>
              <a:spcBef>
                <a:spcPts val="700"/>
              </a:spcBef>
              <a:defRPr sz="1200">
                <a:solidFill>
                  <a:srgbClr val="2C2522"/>
                </a:solidFill>
              </a:defRPr>
            </a:pPr>
            <a:r>
              <a:rPr lang="fr-FR" sz="1400" noProof="0" dirty="0" err="1"/>
              <a:t>Build</a:t>
            </a:r>
            <a:r>
              <a:rPr lang="fr-FR" sz="1400" noProof="0" dirty="0"/>
              <a:t> frontend</a:t>
            </a:r>
          </a:p>
        </p:txBody>
      </p:sp>
      <p:sp>
        <p:nvSpPr>
          <p:cNvPr id="22" name="Rounded Rectangle 21"/>
          <p:cNvSpPr/>
          <p:nvPr/>
        </p:nvSpPr>
        <p:spPr>
          <a:xfrm>
            <a:off x="640080" y="498348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804671" y="5120640"/>
            <a:ext cx="3145536" cy="643766"/>
          </a:xfrm>
          <a:prstGeom prst="rect">
            <a:avLst/>
          </a:prstGeom>
          <a:noFill/>
        </p:spPr>
        <p:txBody>
          <a:bodyPr wrap="square">
            <a:spAutoFit/>
          </a:bodyPr>
          <a:lstStyle/>
          <a:p>
            <a:r>
              <a:rPr lang="fr-FR" sz="1600" b="1" noProof="0" dirty="0">
                <a:solidFill>
                  <a:schemeClr val="accent6">
                    <a:lumMod val="50000"/>
                  </a:schemeClr>
                </a:solidFill>
              </a:rPr>
              <a:t>Docker</a:t>
            </a:r>
          </a:p>
          <a:p>
            <a:pPr>
              <a:spcBef>
                <a:spcPts val="700"/>
              </a:spcBef>
              <a:defRPr sz="1200">
                <a:solidFill>
                  <a:srgbClr val="2C2522"/>
                </a:solidFill>
              </a:defRPr>
            </a:pPr>
            <a:r>
              <a:rPr lang="fr-FR" sz="1400" noProof="0" dirty="0"/>
              <a:t>Environnement</a:t>
            </a:r>
            <a:endParaRPr lang="fr-FR" noProof="0" dirty="0"/>
          </a:p>
        </p:txBody>
      </p:sp>
      <p:sp>
        <p:nvSpPr>
          <p:cNvPr id="24" name="Rounded Rectangle 23"/>
          <p:cNvSpPr/>
          <p:nvPr/>
        </p:nvSpPr>
        <p:spPr>
          <a:xfrm>
            <a:off x="4434840" y="498348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TextBox 24"/>
          <p:cNvSpPr txBox="1"/>
          <p:nvPr/>
        </p:nvSpPr>
        <p:spPr>
          <a:xfrm>
            <a:off x="4599432" y="5120640"/>
            <a:ext cx="3145536" cy="643766"/>
          </a:xfrm>
          <a:prstGeom prst="rect">
            <a:avLst/>
          </a:prstGeom>
          <a:noFill/>
        </p:spPr>
        <p:txBody>
          <a:bodyPr wrap="square">
            <a:spAutoFit/>
          </a:bodyPr>
          <a:lstStyle/>
          <a:p>
            <a:r>
              <a:rPr lang="fr-FR" sz="1600" b="1" noProof="0" dirty="0">
                <a:solidFill>
                  <a:schemeClr val="accent6">
                    <a:lumMod val="50000"/>
                  </a:schemeClr>
                </a:solidFill>
              </a:rPr>
              <a:t>Git</a:t>
            </a:r>
          </a:p>
          <a:p>
            <a:pPr>
              <a:spcBef>
                <a:spcPts val="700"/>
              </a:spcBef>
              <a:defRPr sz="1200">
                <a:solidFill>
                  <a:srgbClr val="2C2522"/>
                </a:solidFill>
              </a:defRPr>
            </a:pPr>
            <a:r>
              <a:rPr lang="fr-FR" sz="1400" noProof="0" dirty="0" err="1"/>
              <a:t>Versionnement</a:t>
            </a:r>
            <a:endParaRPr lang="fr-FR" sz="1400" noProof="0" dirty="0"/>
          </a:p>
        </p:txBody>
      </p:sp>
      <p:sp>
        <p:nvSpPr>
          <p:cNvPr id="26" name="Rounded Rectangle 25"/>
          <p:cNvSpPr/>
          <p:nvPr/>
        </p:nvSpPr>
        <p:spPr>
          <a:xfrm>
            <a:off x="8229600" y="4983480"/>
            <a:ext cx="3474720" cy="960120"/>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8394192" y="5120640"/>
            <a:ext cx="3145536" cy="643766"/>
          </a:xfrm>
          <a:prstGeom prst="rect">
            <a:avLst/>
          </a:prstGeom>
          <a:noFill/>
        </p:spPr>
        <p:txBody>
          <a:bodyPr wrap="square">
            <a:spAutoFit/>
          </a:bodyPr>
          <a:lstStyle/>
          <a:p>
            <a:r>
              <a:rPr lang="fr-FR" sz="1600" b="1" noProof="0" dirty="0">
                <a:solidFill>
                  <a:schemeClr val="accent6">
                    <a:lumMod val="50000"/>
                  </a:schemeClr>
                </a:solidFill>
              </a:rPr>
              <a:t>Windows 11/Ubuntu/WSL</a:t>
            </a:r>
          </a:p>
          <a:p>
            <a:pPr>
              <a:spcBef>
                <a:spcPts val="700"/>
              </a:spcBef>
              <a:defRPr sz="1200">
                <a:solidFill>
                  <a:srgbClr val="2C2522"/>
                </a:solidFill>
              </a:defRPr>
            </a:pPr>
            <a:r>
              <a:rPr lang="fr-FR" sz="1400" noProof="0" dirty="0"/>
              <a:t>OS</a:t>
            </a:r>
            <a:endParaRPr lang="fr-FR" noProof="0" dirty="0"/>
          </a:p>
        </p:txBody>
      </p:sp>
      <p:sp>
        <p:nvSpPr>
          <p:cNvPr id="30" name="Espace réservé du numéro de diapositive 29">
            <a:extLst>
              <a:ext uri="{FF2B5EF4-FFF2-40B4-BE49-F238E27FC236}">
                <a16:creationId xmlns:a16="http://schemas.microsoft.com/office/drawing/2014/main" id="{E4A9B039-B4C4-AC3D-5114-3E3B4481391E}"/>
              </a:ext>
            </a:extLst>
          </p:cNvPr>
          <p:cNvSpPr>
            <a:spLocks noGrp="1"/>
          </p:cNvSpPr>
          <p:nvPr>
            <p:ph type="sldNum" sz="quarter" idx="12"/>
          </p:nvPr>
        </p:nvSpPr>
        <p:spPr/>
        <p:txBody>
          <a:bodyPr/>
          <a:lstStyle/>
          <a:p>
            <a:fld id="{C1FF6DA9-008F-8B48-92A6-B652298478BF}" type="slidenum">
              <a:rPr lang="fr-FR" noProof="0" smtClean="0"/>
              <a:t>4</a:t>
            </a:fld>
            <a:endParaRPr lang="fr-FR"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C820-8A12-F8D8-40D2-8C2974D273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756C0A-0ED5-A548-C5DE-962D65E3BB19}"/>
              </a:ext>
            </a:extLst>
          </p:cNvPr>
          <p:cNvSpPr txBox="1"/>
          <p:nvPr/>
        </p:nvSpPr>
        <p:spPr>
          <a:xfrm>
            <a:off x="640080" y="411480"/>
            <a:ext cx="6088013" cy="523220"/>
          </a:xfrm>
          <a:prstGeom prst="rect">
            <a:avLst/>
          </a:prstGeom>
          <a:noFill/>
        </p:spPr>
        <p:txBody>
          <a:bodyPr wrap="none">
            <a:spAutoFit/>
          </a:bodyPr>
          <a:lstStyle/>
          <a:p>
            <a:r>
              <a:rPr lang="fr-FR" sz="2800" b="1" noProof="0" dirty="0">
                <a:solidFill>
                  <a:srgbClr val="2C2522"/>
                </a:solidFill>
                <a:latin typeface="Aptos Display"/>
              </a:rPr>
              <a:t>Cas d’utilisation et Parcours utilisateur</a:t>
            </a:r>
          </a:p>
        </p:txBody>
      </p:sp>
      <p:sp>
        <p:nvSpPr>
          <p:cNvPr id="4" name="Espace réservé du numéro de diapositive 3">
            <a:extLst>
              <a:ext uri="{FF2B5EF4-FFF2-40B4-BE49-F238E27FC236}">
                <a16:creationId xmlns:a16="http://schemas.microsoft.com/office/drawing/2014/main" id="{55C967F8-BAF8-7EC8-FB8D-6F7BDA9E89C6}"/>
              </a:ext>
            </a:extLst>
          </p:cNvPr>
          <p:cNvSpPr>
            <a:spLocks noGrp="1"/>
          </p:cNvSpPr>
          <p:nvPr>
            <p:ph type="sldNum" sz="quarter" idx="12"/>
          </p:nvPr>
        </p:nvSpPr>
        <p:spPr/>
        <p:txBody>
          <a:bodyPr/>
          <a:lstStyle/>
          <a:p>
            <a:fld id="{C1FF6DA9-008F-8B48-92A6-B652298478BF}" type="slidenum">
              <a:rPr lang="fr-FR" noProof="0" smtClean="0"/>
              <a:t>5</a:t>
            </a:fld>
            <a:endParaRPr lang="fr-FR" noProof="0" dirty="0"/>
          </a:p>
        </p:txBody>
      </p:sp>
      <p:pic>
        <p:nvPicPr>
          <p:cNvPr id="6" name="Image 5">
            <a:extLst>
              <a:ext uri="{FF2B5EF4-FFF2-40B4-BE49-F238E27FC236}">
                <a16:creationId xmlns:a16="http://schemas.microsoft.com/office/drawing/2014/main" id="{A583FF1F-6A7A-8012-965B-E418EBC179C6}"/>
              </a:ext>
            </a:extLst>
          </p:cNvPr>
          <p:cNvPicPr>
            <a:picLocks noChangeAspect="1"/>
          </p:cNvPicPr>
          <p:nvPr/>
        </p:nvPicPr>
        <p:blipFill>
          <a:blip r:embed="rId3"/>
          <a:stretch>
            <a:fillRect/>
          </a:stretch>
        </p:blipFill>
        <p:spPr>
          <a:xfrm>
            <a:off x="428252" y="1024640"/>
            <a:ext cx="6841978" cy="4893051"/>
          </a:xfrm>
          <a:prstGeom prst="rect">
            <a:avLst/>
          </a:prstGeom>
          <a:ln>
            <a:noFill/>
          </a:ln>
          <a:effectLst>
            <a:outerShdw blurRad="190500" algn="tl" rotWithShape="0">
              <a:srgbClr val="000000">
                <a:alpha val="70000"/>
              </a:srgbClr>
            </a:outerShdw>
          </a:effectLst>
        </p:spPr>
      </p:pic>
      <p:sp>
        <p:nvSpPr>
          <p:cNvPr id="5" name="Rounded Rectangle 4">
            <a:extLst>
              <a:ext uri="{FF2B5EF4-FFF2-40B4-BE49-F238E27FC236}">
                <a16:creationId xmlns:a16="http://schemas.microsoft.com/office/drawing/2014/main" id="{EB8A566F-239F-FFF5-0D2F-89F526BA2BFE}"/>
              </a:ext>
            </a:extLst>
          </p:cNvPr>
          <p:cNvSpPr/>
          <p:nvPr/>
        </p:nvSpPr>
        <p:spPr>
          <a:xfrm>
            <a:off x="7570488" y="1384406"/>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Accueil</a:t>
            </a:r>
          </a:p>
          <a:p>
            <a:pPr algn="ctr"/>
            <a:r>
              <a:rPr lang="fr-FR" sz="1400" noProof="0" dirty="0">
                <a:solidFill>
                  <a:srgbClr val="2C2522"/>
                </a:solidFill>
              </a:rPr>
              <a:t>Présentation de l’atelier</a:t>
            </a:r>
          </a:p>
          <a:p>
            <a:pPr algn="ctr"/>
            <a:r>
              <a:rPr lang="fr-FR" sz="1400" noProof="0" dirty="0">
                <a:solidFill>
                  <a:srgbClr val="2C2522"/>
                </a:solidFill>
              </a:rPr>
              <a:t>Accès aux prestations</a:t>
            </a:r>
          </a:p>
        </p:txBody>
      </p:sp>
      <p:sp>
        <p:nvSpPr>
          <p:cNvPr id="8" name="Rounded Rectangle 4">
            <a:extLst>
              <a:ext uri="{FF2B5EF4-FFF2-40B4-BE49-F238E27FC236}">
                <a16:creationId xmlns:a16="http://schemas.microsoft.com/office/drawing/2014/main" id="{7082BBEB-AA2A-2D8A-635E-EA105217FFCD}"/>
              </a:ext>
            </a:extLst>
          </p:cNvPr>
          <p:cNvSpPr/>
          <p:nvPr/>
        </p:nvSpPr>
        <p:spPr>
          <a:xfrm>
            <a:off x="7570488" y="3046492"/>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Prestations et galerie</a:t>
            </a:r>
          </a:p>
          <a:p>
            <a:pPr algn="ctr"/>
            <a:r>
              <a:rPr lang="fr-FR" sz="1400" noProof="0" dirty="0">
                <a:solidFill>
                  <a:srgbClr val="2C2522"/>
                </a:solidFill>
              </a:rPr>
              <a:t>Catégories et produits</a:t>
            </a:r>
          </a:p>
          <a:p>
            <a:pPr algn="ctr"/>
            <a:r>
              <a:rPr lang="fr-FR" sz="1400" noProof="0" dirty="0">
                <a:solidFill>
                  <a:srgbClr val="2C2522"/>
                </a:solidFill>
              </a:rPr>
              <a:t>Fiches Détaillées</a:t>
            </a:r>
          </a:p>
        </p:txBody>
      </p:sp>
      <p:sp>
        <p:nvSpPr>
          <p:cNvPr id="9" name="Rounded Rectangle 4">
            <a:extLst>
              <a:ext uri="{FF2B5EF4-FFF2-40B4-BE49-F238E27FC236}">
                <a16:creationId xmlns:a16="http://schemas.microsoft.com/office/drawing/2014/main" id="{8FFC074F-7EF6-FF4A-D9FA-8EC52D786A3C}"/>
              </a:ext>
            </a:extLst>
          </p:cNvPr>
          <p:cNvSpPr/>
          <p:nvPr/>
        </p:nvSpPr>
        <p:spPr>
          <a:xfrm>
            <a:off x="7570488" y="4708578"/>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Demande de devis</a:t>
            </a:r>
          </a:p>
          <a:p>
            <a:pPr algn="ctr"/>
            <a:r>
              <a:rPr lang="fr-FR" sz="1400" noProof="0" dirty="0">
                <a:solidFill>
                  <a:srgbClr val="2C2522"/>
                </a:solidFill>
              </a:rPr>
              <a:t>Coordonnées et projet</a:t>
            </a:r>
          </a:p>
          <a:p>
            <a:pPr algn="ctr"/>
            <a:r>
              <a:rPr lang="fr-FR" sz="1400" noProof="0" dirty="0">
                <a:solidFill>
                  <a:srgbClr val="2C2522"/>
                </a:solidFill>
              </a:rPr>
              <a:t>Confirmation après envoi</a:t>
            </a:r>
          </a:p>
        </p:txBody>
      </p:sp>
      <p:sp>
        <p:nvSpPr>
          <p:cNvPr id="10" name="Rounded Rectangle 4">
            <a:extLst>
              <a:ext uri="{FF2B5EF4-FFF2-40B4-BE49-F238E27FC236}">
                <a16:creationId xmlns:a16="http://schemas.microsoft.com/office/drawing/2014/main" id="{244F1B15-E555-E485-131A-9F428E450BAC}"/>
              </a:ext>
            </a:extLst>
          </p:cNvPr>
          <p:cNvSpPr/>
          <p:nvPr/>
        </p:nvSpPr>
        <p:spPr>
          <a:xfrm>
            <a:off x="9874429" y="1384406"/>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Connexion</a:t>
            </a:r>
          </a:p>
          <a:p>
            <a:pPr algn="ctr"/>
            <a:r>
              <a:rPr lang="fr-FR" sz="1400" noProof="0" dirty="0">
                <a:solidFill>
                  <a:srgbClr val="2C2522"/>
                </a:solidFill>
              </a:rPr>
              <a:t>Inscription et session</a:t>
            </a:r>
          </a:p>
          <a:p>
            <a:pPr algn="ctr"/>
            <a:r>
              <a:rPr lang="fr-FR" sz="1400" noProof="0" dirty="0">
                <a:solidFill>
                  <a:srgbClr val="2C2522"/>
                </a:solidFill>
              </a:rPr>
              <a:t>Rôle utilisateur</a:t>
            </a:r>
          </a:p>
        </p:txBody>
      </p:sp>
      <p:sp>
        <p:nvSpPr>
          <p:cNvPr id="11" name="Rounded Rectangle 4">
            <a:extLst>
              <a:ext uri="{FF2B5EF4-FFF2-40B4-BE49-F238E27FC236}">
                <a16:creationId xmlns:a16="http://schemas.microsoft.com/office/drawing/2014/main" id="{BFCE42AF-98F2-E8F8-4808-40A67B2C4FBF}"/>
              </a:ext>
            </a:extLst>
          </p:cNvPr>
          <p:cNvSpPr/>
          <p:nvPr/>
        </p:nvSpPr>
        <p:spPr>
          <a:xfrm>
            <a:off x="9874429" y="4708578"/>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Administration</a:t>
            </a:r>
          </a:p>
          <a:p>
            <a:pPr algn="ctr"/>
            <a:r>
              <a:rPr lang="fr-FR" sz="1400" noProof="0" dirty="0">
                <a:solidFill>
                  <a:srgbClr val="2C2522"/>
                </a:solidFill>
              </a:rPr>
              <a:t>Catalogue, avis, devis</a:t>
            </a:r>
          </a:p>
          <a:p>
            <a:pPr algn="ctr"/>
            <a:r>
              <a:rPr lang="fr-FR" sz="1400" noProof="0" dirty="0">
                <a:solidFill>
                  <a:srgbClr val="2C2522"/>
                </a:solidFill>
              </a:rPr>
              <a:t>Accès ROLE_ADMIN</a:t>
            </a:r>
          </a:p>
        </p:txBody>
      </p:sp>
      <p:sp>
        <p:nvSpPr>
          <p:cNvPr id="12" name="Rounded Rectangle 4">
            <a:extLst>
              <a:ext uri="{FF2B5EF4-FFF2-40B4-BE49-F238E27FC236}">
                <a16:creationId xmlns:a16="http://schemas.microsoft.com/office/drawing/2014/main" id="{CBF70DFA-3C82-EF99-5EF2-3417AC59CE0C}"/>
              </a:ext>
            </a:extLst>
          </p:cNvPr>
          <p:cNvSpPr/>
          <p:nvPr/>
        </p:nvSpPr>
        <p:spPr>
          <a:xfrm>
            <a:off x="9874429" y="3046492"/>
            <a:ext cx="213360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Avis</a:t>
            </a:r>
          </a:p>
          <a:p>
            <a:pPr algn="ctr"/>
            <a:r>
              <a:rPr lang="fr-FR" sz="1400" noProof="0" dirty="0">
                <a:solidFill>
                  <a:srgbClr val="2C2522"/>
                </a:solidFill>
              </a:rPr>
              <a:t>Note et commentaire</a:t>
            </a:r>
          </a:p>
          <a:p>
            <a:pPr algn="ctr"/>
            <a:r>
              <a:rPr lang="fr-FR" sz="1400" noProof="0" dirty="0">
                <a:solidFill>
                  <a:srgbClr val="2C2522"/>
                </a:solidFill>
              </a:rPr>
              <a:t>Modération avant publication</a:t>
            </a:r>
          </a:p>
        </p:txBody>
      </p:sp>
      <p:cxnSp>
        <p:nvCxnSpPr>
          <p:cNvPr id="14" name="Connecteur droit 13">
            <a:extLst>
              <a:ext uri="{FF2B5EF4-FFF2-40B4-BE49-F238E27FC236}">
                <a16:creationId xmlns:a16="http://schemas.microsoft.com/office/drawing/2014/main" id="{72ABCDFE-5792-A480-7FA3-82844B243196}"/>
              </a:ext>
            </a:extLst>
          </p:cNvPr>
          <p:cNvCxnSpPr>
            <a:stCxn id="5" idx="2"/>
            <a:endCxn id="8" idx="0"/>
          </p:cNvCxnSpPr>
          <p:nvPr/>
        </p:nvCxnSpPr>
        <p:spPr>
          <a:xfrm>
            <a:off x="8637288" y="2298806"/>
            <a:ext cx="0" cy="747686"/>
          </a:xfrm>
          <a:prstGeom prst="line">
            <a:avLst/>
          </a:prstGeom>
          <a:ln>
            <a:solidFill>
              <a:schemeClr val="accent6">
                <a:lumMod val="75000"/>
              </a:schemeClr>
            </a:solidFill>
          </a:ln>
        </p:spPr>
        <p:style>
          <a:lnRef idx="2">
            <a:schemeClr val="dk1"/>
          </a:lnRef>
          <a:fillRef idx="0">
            <a:schemeClr val="dk1"/>
          </a:fillRef>
          <a:effectRef idx="1">
            <a:schemeClr val="dk1"/>
          </a:effectRef>
          <a:fontRef idx="minor">
            <a:schemeClr val="tx1"/>
          </a:fontRef>
        </p:style>
      </p:cxnSp>
      <p:cxnSp>
        <p:nvCxnSpPr>
          <p:cNvPr id="15" name="Connecteur droit 14">
            <a:extLst>
              <a:ext uri="{FF2B5EF4-FFF2-40B4-BE49-F238E27FC236}">
                <a16:creationId xmlns:a16="http://schemas.microsoft.com/office/drawing/2014/main" id="{7B318A90-645D-D7B9-4B8D-A3582724D22C}"/>
              </a:ext>
            </a:extLst>
          </p:cNvPr>
          <p:cNvCxnSpPr/>
          <p:nvPr/>
        </p:nvCxnSpPr>
        <p:spPr>
          <a:xfrm>
            <a:off x="8610261" y="3960892"/>
            <a:ext cx="0" cy="747686"/>
          </a:xfrm>
          <a:prstGeom prst="line">
            <a:avLst/>
          </a:prstGeom>
          <a:ln>
            <a:solidFill>
              <a:schemeClr val="accent6">
                <a:lumMod val="75000"/>
              </a:schemeClr>
            </a:solidFill>
          </a:ln>
        </p:spPr>
        <p:style>
          <a:lnRef idx="2">
            <a:schemeClr val="dk1"/>
          </a:lnRef>
          <a:fillRef idx="0">
            <a:schemeClr val="dk1"/>
          </a:fillRef>
          <a:effectRef idx="1">
            <a:schemeClr val="dk1"/>
          </a:effectRef>
          <a:fontRef idx="minor">
            <a:schemeClr val="tx1"/>
          </a:fontRef>
        </p:style>
      </p:cxnSp>
      <p:cxnSp>
        <p:nvCxnSpPr>
          <p:cNvPr id="16" name="Connecteur droit 15">
            <a:extLst>
              <a:ext uri="{FF2B5EF4-FFF2-40B4-BE49-F238E27FC236}">
                <a16:creationId xmlns:a16="http://schemas.microsoft.com/office/drawing/2014/main" id="{E9880CAD-C484-78FB-8C7E-EC7E375F3602}"/>
              </a:ext>
            </a:extLst>
          </p:cNvPr>
          <p:cNvCxnSpPr/>
          <p:nvPr/>
        </p:nvCxnSpPr>
        <p:spPr>
          <a:xfrm>
            <a:off x="10974163" y="2298806"/>
            <a:ext cx="0" cy="747686"/>
          </a:xfrm>
          <a:prstGeom prst="line">
            <a:avLst/>
          </a:prstGeom>
          <a:ln>
            <a:solidFill>
              <a:schemeClr val="accent6">
                <a:lumMod val="75000"/>
              </a:schemeClr>
            </a:solidFill>
          </a:ln>
        </p:spPr>
        <p:style>
          <a:lnRef idx="2">
            <a:schemeClr val="dk1"/>
          </a:lnRef>
          <a:fillRef idx="0">
            <a:schemeClr val="dk1"/>
          </a:fillRef>
          <a:effectRef idx="1">
            <a:schemeClr val="dk1"/>
          </a:effectRef>
          <a:fontRef idx="minor">
            <a:schemeClr val="tx1"/>
          </a:fontRef>
        </p:style>
      </p:cxnSp>
      <p:cxnSp>
        <p:nvCxnSpPr>
          <p:cNvPr id="17" name="Connecteur droit 16">
            <a:extLst>
              <a:ext uri="{FF2B5EF4-FFF2-40B4-BE49-F238E27FC236}">
                <a16:creationId xmlns:a16="http://schemas.microsoft.com/office/drawing/2014/main" id="{3213B81C-A0CC-B6A9-7DEF-79E4DF6A8D84}"/>
              </a:ext>
            </a:extLst>
          </p:cNvPr>
          <p:cNvCxnSpPr/>
          <p:nvPr/>
        </p:nvCxnSpPr>
        <p:spPr>
          <a:xfrm>
            <a:off x="10947136" y="3960892"/>
            <a:ext cx="0" cy="747686"/>
          </a:xfrm>
          <a:prstGeom prst="line">
            <a:avLst/>
          </a:prstGeom>
          <a:ln>
            <a:solidFill>
              <a:schemeClr val="accent6">
                <a:lumMod val="75000"/>
              </a:schemeClr>
            </a:solidFill>
          </a:ln>
        </p:spPr>
        <p:style>
          <a:lnRef idx="2">
            <a:schemeClr val="dk1"/>
          </a:lnRef>
          <a:fillRef idx="0">
            <a:schemeClr val="dk1"/>
          </a:fillRef>
          <a:effectRef idx="1">
            <a:schemeClr val="dk1"/>
          </a:effectRef>
          <a:fontRef idx="minor">
            <a:schemeClr val="tx1"/>
          </a:fontRef>
        </p:style>
      </p:cxnSp>
      <p:sp>
        <p:nvSpPr>
          <p:cNvPr id="19" name="Arc 18">
            <a:extLst>
              <a:ext uri="{FF2B5EF4-FFF2-40B4-BE49-F238E27FC236}">
                <a16:creationId xmlns:a16="http://schemas.microsoft.com/office/drawing/2014/main" id="{0A539033-5B36-F8F5-51F2-CEA6D56A0DCE}"/>
              </a:ext>
            </a:extLst>
          </p:cNvPr>
          <p:cNvSpPr/>
          <p:nvPr/>
        </p:nvSpPr>
        <p:spPr>
          <a:xfrm>
            <a:off x="8590046" y="720716"/>
            <a:ext cx="2398426" cy="1327379"/>
          </a:xfrm>
          <a:prstGeom prst="arc">
            <a:avLst>
              <a:gd name="adj1" fmla="val 10827032"/>
              <a:gd name="adj2" fmla="val 21586931"/>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r>
              <a:rPr lang="fr-FR" sz="1400" noProof="0" dirty="0"/>
              <a:t>Se connecter</a:t>
            </a:r>
          </a:p>
        </p:txBody>
      </p:sp>
    </p:spTree>
    <p:extLst>
      <p:ext uri="{BB962C8B-B14F-4D97-AF65-F5344CB8AC3E}">
        <p14:creationId xmlns:p14="http://schemas.microsoft.com/office/powerpoint/2010/main" val="3180715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2204450" cy="523220"/>
          </a:xfrm>
          <a:prstGeom prst="rect">
            <a:avLst/>
          </a:prstGeom>
          <a:noFill/>
        </p:spPr>
        <p:txBody>
          <a:bodyPr wrap="none">
            <a:spAutoFit/>
          </a:bodyPr>
          <a:lstStyle/>
          <a:p>
            <a:r>
              <a:rPr lang="fr-FR" sz="2800" b="1" noProof="0" dirty="0">
                <a:solidFill>
                  <a:srgbClr val="2C2522"/>
                </a:solidFill>
                <a:latin typeface="Aptos Display"/>
              </a:rPr>
              <a:t>Schéma UML</a:t>
            </a:r>
          </a:p>
        </p:txBody>
      </p:sp>
      <p:sp>
        <p:nvSpPr>
          <p:cNvPr id="4" name="Espace réservé du numéro de diapositive 3">
            <a:extLst>
              <a:ext uri="{FF2B5EF4-FFF2-40B4-BE49-F238E27FC236}">
                <a16:creationId xmlns:a16="http://schemas.microsoft.com/office/drawing/2014/main" id="{6151C1EC-F12C-3A93-9563-224CCEDBEC09}"/>
              </a:ext>
            </a:extLst>
          </p:cNvPr>
          <p:cNvSpPr>
            <a:spLocks noGrp="1"/>
          </p:cNvSpPr>
          <p:nvPr>
            <p:ph type="sldNum" sz="quarter" idx="12"/>
          </p:nvPr>
        </p:nvSpPr>
        <p:spPr/>
        <p:txBody>
          <a:bodyPr/>
          <a:lstStyle/>
          <a:p>
            <a:fld id="{C1FF6DA9-008F-8B48-92A6-B652298478BF}" type="slidenum">
              <a:rPr lang="fr-FR" noProof="0" smtClean="0"/>
              <a:t>6</a:t>
            </a:fld>
            <a:endParaRPr lang="fr-FR" noProof="0" dirty="0"/>
          </a:p>
        </p:txBody>
      </p:sp>
      <p:pic>
        <p:nvPicPr>
          <p:cNvPr id="5" name="Image 4">
            <a:extLst>
              <a:ext uri="{FF2B5EF4-FFF2-40B4-BE49-F238E27FC236}">
                <a16:creationId xmlns:a16="http://schemas.microsoft.com/office/drawing/2014/main" id="{D256A755-D893-C86A-DB7D-53CFF2BFD91D}"/>
              </a:ext>
            </a:extLst>
          </p:cNvPr>
          <p:cNvPicPr>
            <a:picLocks noChangeAspect="1"/>
          </p:cNvPicPr>
          <p:nvPr/>
        </p:nvPicPr>
        <p:blipFill>
          <a:blip r:embed="rId3"/>
          <a:stretch>
            <a:fillRect/>
          </a:stretch>
        </p:blipFill>
        <p:spPr>
          <a:xfrm>
            <a:off x="1419225" y="1002780"/>
            <a:ext cx="9353550" cy="562927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D1D17-6C2F-079F-E407-DEDF6C430A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7FED58-6963-B66A-6D98-AB1760E3B868}"/>
              </a:ext>
            </a:extLst>
          </p:cNvPr>
          <p:cNvSpPr txBox="1"/>
          <p:nvPr/>
        </p:nvSpPr>
        <p:spPr>
          <a:xfrm>
            <a:off x="640080" y="411480"/>
            <a:ext cx="2204450" cy="523220"/>
          </a:xfrm>
          <a:prstGeom prst="rect">
            <a:avLst/>
          </a:prstGeom>
          <a:noFill/>
        </p:spPr>
        <p:txBody>
          <a:bodyPr wrap="none">
            <a:spAutoFit/>
          </a:bodyPr>
          <a:lstStyle/>
          <a:p>
            <a:r>
              <a:rPr lang="fr-FR" sz="2800" b="1" noProof="0" dirty="0">
                <a:solidFill>
                  <a:srgbClr val="2C2522"/>
                </a:solidFill>
                <a:latin typeface="Aptos Display"/>
              </a:rPr>
              <a:t>Schéma BDD</a:t>
            </a:r>
          </a:p>
        </p:txBody>
      </p:sp>
      <p:sp>
        <p:nvSpPr>
          <p:cNvPr id="5" name="Espace réservé du numéro de diapositive 4">
            <a:extLst>
              <a:ext uri="{FF2B5EF4-FFF2-40B4-BE49-F238E27FC236}">
                <a16:creationId xmlns:a16="http://schemas.microsoft.com/office/drawing/2014/main" id="{A30A4946-4809-ECDF-0BE1-705053B374E6}"/>
              </a:ext>
            </a:extLst>
          </p:cNvPr>
          <p:cNvSpPr>
            <a:spLocks noGrp="1"/>
          </p:cNvSpPr>
          <p:nvPr>
            <p:ph type="sldNum" sz="quarter" idx="12"/>
          </p:nvPr>
        </p:nvSpPr>
        <p:spPr/>
        <p:txBody>
          <a:bodyPr/>
          <a:lstStyle/>
          <a:p>
            <a:fld id="{C1FF6DA9-008F-8B48-92A6-B652298478BF}" type="slidenum">
              <a:rPr lang="fr-FR" noProof="0" smtClean="0"/>
              <a:t>7</a:t>
            </a:fld>
            <a:endParaRPr lang="fr-FR" noProof="0" dirty="0"/>
          </a:p>
        </p:txBody>
      </p:sp>
      <p:pic>
        <p:nvPicPr>
          <p:cNvPr id="6" name="Image 5">
            <a:extLst>
              <a:ext uri="{FF2B5EF4-FFF2-40B4-BE49-F238E27FC236}">
                <a16:creationId xmlns:a16="http://schemas.microsoft.com/office/drawing/2014/main" id="{23E68E15-B158-E73B-E4D2-38506E5D2E43}"/>
              </a:ext>
            </a:extLst>
          </p:cNvPr>
          <p:cNvPicPr>
            <a:picLocks noChangeAspect="1"/>
          </p:cNvPicPr>
          <p:nvPr/>
        </p:nvPicPr>
        <p:blipFill>
          <a:blip r:embed="rId3"/>
          <a:stretch>
            <a:fillRect/>
          </a:stretch>
        </p:blipFill>
        <p:spPr>
          <a:xfrm>
            <a:off x="1868103" y="934700"/>
            <a:ext cx="8455793" cy="56924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0914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a:solidFill>
                  <a:srgbClr val="2C2522"/>
                </a:solidFill>
                <a:latin typeface="Aptos Display"/>
              </a:rPr>
              <a:t>Maquette → réalisation</a:t>
            </a:r>
          </a:p>
        </p:txBody>
      </p:sp>
      <p:sp>
        <p:nvSpPr>
          <p:cNvPr id="4" name="Espace réservé du numéro de diapositive 3">
            <a:extLst>
              <a:ext uri="{FF2B5EF4-FFF2-40B4-BE49-F238E27FC236}">
                <a16:creationId xmlns:a16="http://schemas.microsoft.com/office/drawing/2014/main" id="{85D68271-D6CF-BF7B-10F6-31E62F8B7549}"/>
              </a:ext>
            </a:extLst>
          </p:cNvPr>
          <p:cNvSpPr>
            <a:spLocks noGrp="1"/>
          </p:cNvSpPr>
          <p:nvPr>
            <p:ph type="sldNum" sz="quarter" idx="12"/>
          </p:nvPr>
        </p:nvSpPr>
        <p:spPr/>
        <p:txBody>
          <a:bodyPr/>
          <a:lstStyle/>
          <a:p>
            <a:fld id="{C1FF6DA9-008F-8B48-92A6-B652298478BF}" type="slidenum">
              <a:rPr lang="fr-FR" noProof="0" smtClean="0"/>
              <a:t>8</a:t>
            </a:fld>
            <a:endParaRPr lang="fr-FR" noProof="0" dirty="0"/>
          </a:p>
        </p:txBody>
      </p:sp>
      <p:pic>
        <p:nvPicPr>
          <p:cNvPr id="5" name="Image 4">
            <a:extLst>
              <a:ext uri="{FF2B5EF4-FFF2-40B4-BE49-F238E27FC236}">
                <a16:creationId xmlns:a16="http://schemas.microsoft.com/office/drawing/2014/main" id="{8DAE8580-2421-C15E-1E40-EE82B09BABD9}"/>
              </a:ext>
            </a:extLst>
          </p:cNvPr>
          <p:cNvPicPr>
            <a:picLocks noChangeAspect="1"/>
          </p:cNvPicPr>
          <p:nvPr/>
        </p:nvPicPr>
        <p:blipFill>
          <a:blip r:embed="rId3"/>
          <a:stretch>
            <a:fillRect/>
          </a:stretch>
        </p:blipFill>
        <p:spPr>
          <a:xfrm>
            <a:off x="249850" y="1873035"/>
            <a:ext cx="5254689" cy="4164379"/>
          </a:xfrm>
          <a:prstGeom prst="rect">
            <a:avLst/>
          </a:prstGeom>
          <a:ln>
            <a:noFill/>
          </a:ln>
          <a:effectLst>
            <a:outerShdw blurRad="190500" algn="tl" rotWithShape="0">
              <a:srgbClr val="000000">
                <a:alpha val="70000"/>
              </a:srgbClr>
            </a:outerShdw>
          </a:effectLst>
        </p:spPr>
      </p:pic>
      <p:pic>
        <p:nvPicPr>
          <p:cNvPr id="7" name="Image 6">
            <a:extLst>
              <a:ext uri="{FF2B5EF4-FFF2-40B4-BE49-F238E27FC236}">
                <a16:creationId xmlns:a16="http://schemas.microsoft.com/office/drawing/2014/main" id="{AE3B3D9D-F454-720D-5D51-F6E2A17FDAD2}"/>
              </a:ext>
            </a:extLst>
          </p:cNvPr>
          <p:cNvPicPr>
            <a:picLocks noChangeAspect="1"/>
          </p:cNvPicPr>
          <p:nvPr/>
        </p:nvPicPr>
        <p:blipFill>
          <a:blip r:embed="rId4"/>
          <a:stretch>
            <a:fillRect/>
          </a:stretch>
        </p:blipFill>
        <p:spPr>
          <a:xfrm>
            <a:off x="5573231" y="2009306"/>
            <a:ext cx="6369387" cy="3936668"/>
          </a:xfrm>
          <a:prstGeom prst="rect">
            <a:avLst/>
          </a:prstGeom>
          <a:ln>
            <a:noFill/>
          </a:ln>
          <a:effectLst>
            <a:outerShdw blurRad="190500" algn="tl" rotWithShape="0">
              <a:srgbClr val="000000">
                <a:alpha val="70000"/>
              </a:srgbClr>
            </a:outerShdw>
          </a:effectLst>
        </p:spPr>
      </p:pic>
      <p:sp>
        <p:nvSpPr>
          <p:cNvPr id="6" name="Rounded Rectangle 5">
            <a:extLst>
              <a:ext uri="{FF2B5EF4-FFF2-40B4-BE49-F238E27FC236}">
                <a16:creationId xmlns:a16="http://schemas.microsoft.com/office/drawing/2014/main" id="{DB85B5CB-B392-0E05-E0E0-7BD65473DD97}"/>
              </a:ext>
            </a:extLst>
          </p:cNvPr>
          <p:cNvSpPr/>
          <p:nvPr/>
        </p:nvSpPr>
        <p:spPr>
          <a:xfrm>
            <a:off x="807612" y="1115832"/>
            <a:ext cx="3017628" cy="53069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VERSION DESKTOP</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a:solidFill>
                  <a:srgbClr val="2C2522"/>
                </a:solidFill>
                <a:latin typeface="Aptos Display"/>
              </a:rPr>
              <a:t>Maquette → réalisation</a:t>
            </a:r>
          </a:p>
        </p:txBody>
      </p:sp>
      <p:sp>
        <p:nvSpPr>
          <p:cNvPr id="4" name="Espace réservé du numéro de diapositive 3">
            <a:extLst>
              <a:ext uri="{FF2B5EF4-FFF2-40B4-BE49-F238E27FC236}">
                <a16:creationId xmlns:a16="http://schemas.microsoft.com/office/drawing/2014/main" id="{85D68271-D6CF-BF7B-10F6-31E62F8B7549}"/>
              </a:ext>
            </a:extLst>
          </p:cNvPr>
          <p:cNvSpPr>
            <a:spLocks noGrp="1"/>
          </p:cNvSpPr>
          <p:nvPr>
            <p:ph type="sldNum" sz="quarter" idx="12"/>
          </p:nvPr>
        </p:nvSpPr>
        <p:spPr/>
        <p:txBody>
          <a:bodyPr/>
          <a:lstStyle/>
          <a:p>
            <a:fld id="{C1FF6DA9-008F-8B48-92A6-B652298478BF}" type="slidenum">
              <a:rPr lang="fr-FR" noProof="0" smtClean="0"/>
              <a:t>9</a:t>
            </a:fld>
            <a:endParaRPr lang="fr-FR" noProof="0" dirty="0"/>
          </a:p>
        </p:txBody>
      </p:sp>
      <p:sp>
        <p:nvSpPr>
          <p:cNvPr id="6" name="Rounded Rectangle 5">
            <a:extLst>
              <a:ext uri="{FF2B5EF4-FFF2-40B4-BE49-F238E27FC236}">
                <a16:creationId xmlns:a16="http://schemas.microsoft.com/office/drawing/2014/main" id="{DB85B5CB-B392-0E05-E0E0-7BD65473DD97}"/>
              </a:ext>
            </a:extLst>
          </p:cNvPr>
          <p:cNvSpPr/>
          <p:nvPr/>
        </p:nvSpPr>
        <p:spPr>
          <a:xfrm>
            <a:off x="289452" y="1115832"/>
            <a:ext cx="3017628" cy="53069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VERSION MOBILE</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p:txBody>
      </p:sp>
      <p:pic>
        <p:nvPicPr>
          <p:cNvPr id="10" name="Image 9">
            <a:extLst>
              <a:ext uri="{FF2B5EF4-FFF2-40B4-BE49-F238E27FC236}">
                <a16:creationId xmlns:a16="http://schemas.microsoft.com/office/drawing/2014/main" id="{335643FC-6940-2115-B10A-7D1EBD3BAC05}"/>
              </a:ext>
            </a:extLst>
          </p:cNvPr>
          <p:cNvPicPr>
            <a:picLocks noChangeAspect="1"/>
          </p:cNvPicPr>
          <p:nvPr/>
        </p:nvPicPr>
        <p:blipFill>
          <a:blip r:embed="rId3"/>
          <a:stretch>
            <a:fillRect/>
          </a:stretch>
        </p:blipFill>
        <p:spPr>
          <a:xfrm>
            <a:off x="398715" y="1756521"/>
            <a:ext cx="2771205" cy="4801497"/>
          </a:xfrm>
          <a:prstGeom prst="rect">
            <a:avLst/>
          </a:prstGeom>
        </p:spPr>
      </p:pic>
      <p:pic>
        <p:nvPicPr>
          <p:cNvPr id="12" name="Image 11">
            <a:extLst>
              <a:ext uri="{FF2B5EF4-FFF2-40B4-BE49-F238E27FC236}">
                <a16:creationId xmlns:a16="http://schemas.microsoft.com/office/drawing/2014/main" id="{95C635A1-D4C5-7271-5CA2-B25AA1382E54}"/>
              </a:ext>
            </a:extLst>
          </p:cNvPr>
          <p:cNvPicPr>
            <a:picLocks noChangeAspect="1"/>
          </p:cNvPicPr>
          <p:nvPr/>
        </p:nvPicPr>
        <p:blipFill>
          <a:blip r:embed="rId4"/>
          <a:stretch>
            <a:fillRect/>
          </a:stretch>
        </p:blipFill>
        <p:spPr>
          <a:xfrm>
            <a:off x="3440875" y="1115832"/>
            <a:ext cx="2659974" cy="5599945"/>
          </a:xfrm>
          <a:prstGeom prst="rect">
            <a:avLst/>
          </a:prstGeom>
        </p:spPr>
      </p:pic>
      <p:pic>
        <p:nvPicPr>
          <p:cNvPr id="14" name="Image 13">
            <a:extLst>
              <a:ext uri="{FF2B5EF4-FFF2-40B4-BE49-F238E27FC236}">
                <a16:creationId xmlns:a16="http://schemas.microsoft.com/office/drawing/2014/main" id="{F7F89395-6913-B782-2C39-503C9607408D}"/>
              </a:ext>
            </a:extLst>
          </p:cNvPr>
          <p:cNvPicPr>
            <a:picLocks noChangeAspect="1"/>
          </p:cNvPicPr>
          <p:nvPr/>
        </p:nvPicPr>
        <p:blipFill>
          <a:blip r:embed="rId5"/>
          <a:stretch>
            <a:fillRect/>
          </a:stretch>
        </p:blipFill>
        <p:spPr>
          <a:xfrm>
            <a:off x="6252474" y="2828894"/>
            <a:ext cx="5877070" cy="1895506"/>
          </a:xfrm>
          <a:prstGeom prst="rect">
            <a:avLst/>
          </a:prstGeom>
        </p:spPr>
      </p:pic>
      <p:sp>
        <p:nvSpPr>
          <p:cNvPr id="15" name="Rounded Rectangle 5">
            <a:extLst>
              <a:ext uri="{FF2B5EF4-FFF2-40B4-BE49-F238E27FC236}">
                <a16:creationId xmlns:a16="http://schemas.microsoft.com/office/drawing/2014/main" id="{C739265B-1BC0-22F1-ECE4-8553B9959DFF}"/>
              </a:ext>
            </a:extLst>
          </p:cNvPr>
          <p:cNvSpPr/>
          <p:nvPr/>
        </p:nvSpPr>
        <p:spPr>
          <a:xfrm>
            <a:off x="7500536" y="2021869"/>
            <a:ext cx="3017628" cy="53069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CONCEPTION GRAPHIQUE</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4208026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FCF9-B985-1C26-B056-3207E2004FD4}"/>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484DD3AD-1E17-EFBE-F605-E5DB94F24D94}"/>
              </a:ext>
            </a:extLst>
          </p:cNvPr>
          <p:cNvPicPr>
            <a:picLocks noChangeAspect="1"/>
          </p:cNvPicPr>
          <p:nvPr/>
        </p:nvPicPr>
        <p:blipFill>
          <a:blip r:embed="rId3"/>
          <a:stretch>
            <a:fillRect/>
          </a:stretch>
        </p:blipFill>
        <p:spPr>
          <a:xfrm>
            <a:off x="229821" y="1151553"/>
            <a:ext cx="5229955" cy="2858510"/>
          </a:xfrm>
          <a:prstGeom prst="rect">
            <a:avLst/>
          </a:prstGeom>
          <a:ln>
            <a:noFill/>
          </a:ln>
          <a:effectLst>
            <a:outerShdw blurRad="190500" algn="tl" rotWithShape="0">
              <a:srgbClr val="000000">
                <a:alpha val="70000"/>
              </a:srgbClr>
            </a:outerShdw>
          </a:effectLst>
        </p:spPr>
      </p:pic>
      <p:sp>
        <p:nvSpPr>
          <p:cNvPr id="3" name="TextBox 2">
            <a:extLst>
              <a:ext uri="{FF2B5EF4-FFF2-40B4-BE49-F238E27FC236}">
                <a16:creationId xmlns:a16="http://schemas.microsoft.com/office/drawing/2014/main" id="{5514054A-4D0B-F304-2108-80FFB6D1E9D4}"/>
              </a:ext>
            </a:extLst>
          </p:cNvPr>
          <p:cNvSpPr txBox="1"/>
          <p:nvPr/>
        </p:nvSpPr>
        <p:spPr>
          <a:xfrm>
            <a:off x="640080" y="411480"/>
            <a:ext cx="2615460" cy="523220"/>
          </a:xfrm>
          <a:prstGeom prst="rect">
            <a:avLst/>
          </a:prstGeom>
          <a:noFill/>
        </p:spPr>
        <p:txBody>
          <a:bodyPr wrap="none">
            <a:spAutoFit/>
          </a:bodyPr>
          <a:lstStyle/>
          <a:p>
            <a:r>
              <a:rPr lang="fr-FR" sz="2800" b="1" noProof="0" dirty="0">
                <a:solidFill>
                  <a:srgbClr val="2C2522"/>
                </a:solidFill>
                <a:latin typeface="Aptos Display"/>
              </a:rPr>
              <a:t>Fixtures → Faker</a:t>
            </a:r>
          </a:p>
        </p:txBody>
      </p:sp>
      <p:pic>
        <p:nvPicPr>
          <p:cNvPr id="6" name="Image 5">
            <a:extLst>
              <a:ext uri="{FF2B5EF4-FFF2-40B4-BE49-F238E27FC236}">
                <a16:creationId xmlns:a16="http://schemas.microsoft.com/office/drawing/2014/main" id="{823145A1-5959-2449-95E7-FE70F46DAC04}"/>
              </a:ext>
            </a:extLst>
          </p:cNvPr>
          <p:cNvPicPr>
            <a:picLocks noChangeAspect="1"/>
          </p:cNvPicPr>
          <p:nvPr/>
        </p:nvPicPr>
        <p:blipFill>
          <a:blip r:embed="rId4"/>
          <a:stretch>
            <a:fillRect/>
          </a:stretch>
        </p:blipFill>
        <p:spPr>
          <a:xfrm>
            <a:off x="4412410" y="2785726"/>
            <a:ext cx="7549768" cy="3411080"/>
          </a:xfrm>
          <a:prstGeom prst="rect">
            <a:avLst/>
          </a:prstGeom>
          <a:ln>
            <a:noFill/>
          </a:ln>
          <a:effectLst>
            <a:outerShdw blurRad="190500" algn="tl" rotWithShape="0">
              <a:srgbClr val="000000">
                <a:alpha val="70000"/>
              </a:srgbClr>
            </a:outerShdw>
          </a:effectLst>
        </p:spPr>
      </p:pic>
      <p:sp>
        <p:nvSpPr>
          <p:cNvPr id="5" name="Espace réservé du numéro de diapositive 4">
            <a:extLst>
              <a:ext uri="{FF2B5EF4-FFF2-40B4-BE49-F238E27FC236}">
                <a16:creationId xmlns:a16="http://schemas.microsoft.com/office/drawing/2014/main" id="{9846BE13-7690-3450-B75B-C8DB9D83C3A6}"/>
              </a:ext>
            </a:extLst>
          </p:cNvPr>
          <p:cNvSpPr>
            <a:spLocks noGrp="1"/>
          </p:cNvSpPr>
          <p:nvPr>
            <p:ph type="sldNum" sz="quarter" idx="12"/>
          </p:nvPr>
        </p:nvSpPr>
        <p:spPr/>
        <p:txBody>
          <a:bodyPr/>
          <a:lstStyle/>
          <a:p>
            <a:fld id="{C1FF6DA9-008F-8B48-92A6-B652298478BF}" type="slidenum">
              <a:rPr lang="fr-FR" noProof="0" smtClean="0"/>
              <a:t>10</a:t>
            </a:fld>
            <a:endParaRPr lang="fr-FR" noProof="0" dirty="0"/>
          </a:p>
        </p:txBody>
      </p:sp>
    </p:spTree>
    <p:extLst>
      <p:ext uri="{BB962C8B-B14F-4D97-AF65-F5344CB8AC3E}">
        <p14:creationId xmlns:p14="http://schemas.microsoft.com/office/powerpoint/2010/main" val="73294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48E48-FC17-F909-87AB-1BA6E127C5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45181B-3A1E-4552-3BB9-8A1DE9E22C07}"/>
              </a:ext>
            </a:extLst>
          </p:cNvPr>
          <p:cNvSpPr txBox="1"/>
          <p:nvPr/>
        </p:nvSpPr>
        <p:spPr>
          <a:xfrm>
            <a:off x="640080" y="411480"/>
            <a:ext cx="10972800" cy="594360"/>
          </a:xfrm>
          <a:prstGeom prst="rect">
            <a:avLst/>
          </a:prstGeom>
          <a:noFill/>
        </p:spPr>
        <p:txBody>
          <a:bodyPr wrap="none">
            <a:spAutoFit/>
          </a:bodyPr>
          <a:lstStyle/>
          <a:p>
            <a:r>
              <a:rPr lang="fr-FR" sz="2800" b="1" noProof="0" dirty="0" err="1">
                <a:solidFill>
                  <a:srgbClr val="2C2522"/>
                </a:solidFill>
                <a:latin typeface="Aptos Display"/>
              </a:rPr>
              <a:t>Front-end</a:t>
            </a:r>
            <a:endParaRPr lang="fr-FR" sz="2800" b="1" noProof="0" dirty="0">
              <a:solidFill>
                <a:srgbClr val="2C2522"/>
              </a:solidFill>
              <a:latin typeface="Aptos Display"/>
            </a:endParaRPr>
          </a:p>
        </p:txBody>
      </p:sp>
      <p:sp>
        <p:nvSpPr>
          <p:cNvPr id="6" name="Rounded Rectangle 5">
            <a:extLst>
              <a:ext uri="{FF2B5EF4-FFF2-40B4-BE49-F238E27FC236}">
                <a16:creationId xmlns:a16="http://schemas.microsoft.com/office/drawing/2014/main" id="{909F4DBC-FAC0-9652-E248-70AAABA23F4C}"/>
              </a:ext>
            </a:extLst>
          </p:cNvPr>
          <p:cNvSpPr/>
          <p:nvPr/>
        </p:nvSpPr>
        <p:spPr>
          <a:xfrm>
            <a:off x="1007396" y="1460863"/>
            <a:ext cx="3407954" cy="3905615"/>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CSS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Bootstrap 5.3.8</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CSS personnalisé</a:t>
            </a:r>
            <a:br>
              <a:rPr kumimoji="0" lang="fr-FR" sz="1600" b="0" i="0" u="none" strike="noStrike" kern="1200" cap="none" spc="0" normalizeH="0" baseline="0" noProof="0" dirty="0">
                <a:ln>
                  <a:noFill/>
                </a:ln>
                <a:solidFill>
                  <a:srgbClr val="2C2522"/>
                </a:solidFill>
                <a:effectLst/>
                <a:uLnTx/>
                <a:uFillTx/>
                <a:latin typeface="Calibri"/>
                <a:ea typeface="+mn-ea"/>
                <a:cs typeface="+mn-cs"/>
              </a:rPr>
            </a:b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1" i="0" u="none" strike="noStrike" kern="1200" cap="none" spc="0" normalizeH="0" baseline="0" noProof="0" dirty="0">
                <a:ln>
                  <a:noFill/>
                </a:ln>
                <a:solidFill>
                  <a:srgbClr val="2C2522"/>
                </a:solidFill>
                <a:effectLst/>
                <a:uLnTx/>
                <a:uFillTx/>
                <a:latin typeface="Calibri"/>
                <a:ea typeface="+mn-ea"/>
                <a:cs typeface="+mn-cs"/>
              </a:rPr>
              <a:t>Variables CSS et thèmes :</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Couleurs réutilisées dans les composants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Palette adaptée au thème sombre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Identité visuelle commune aux pages</a:t>
            </a:r>
            <a:endParaRPr lang="fr-FR" noProof="0" dirty="0"/>
          </a:p>
        </p:txBody>
      </p:sp>
      <p:sp>
        <p:nvSpPr>
          <p:cNvPr id="4" name="Espace réservé du numéro de diapositive 3">
            <a:extLst>
              <a:ext uri="{FF2B5EF4-FFF2-40B4-BE49-F238E27FC236}">
                <a16:creationId xmlns:a16="http://schemas.microsoft.com/office/drawing/2014/main" id="{05292FA9-54CC-626A-FE78-ACA70C48BC34}"/>
              </a:ext>
            </a:extLst>
          </p:cNvPr>
          <p:cNvSpPr>
            <a:spLocks noGrp="1"/>
          </p:cNvSpPr>
          <p:nvPr>
            <p:ph type="sldNum" sz="quarter" idx="12"/>
          </p:nvPr>
        </p:nvSpPr>
        <p:spPr/>
        <p:txBody>
          <a:bodyPr/>
          <a:lstStyle/>
          <a:p>
            <a:fld id="{C1FF6DA9-008F-8B48-92A6-B652298478BF}" type="slidenum">
              <a:rPr lang="fr-FR" noProof="0" smtClean="0"/>
              <a:t>11</a:t>
            </a:fld>
            <a:endParaRPr lang="fr-FR" noProof="0" dirty="0"/>
          </a:p>
        </p:txBody>
      </p:sp>
      <p:pic>
        <p:nvPicPr>
          <p:cNvPr id="5" name="Image 4">
            <a:extLst>
              <a:ext uri="{FF2B5EF4-FFF2-40B4-BE49-F238E27FC236}">
                <a16:creationId xmlns:a16="http://schemas.microsoft.com/office/drawing/2014/main" id="{593A975A-A7B3-A976-262E-045883388949}"/>
              </a:ext>
            </a:extLst>
          </p:cNvPr>
          <p:cNvPicPr>
            <a:picLocks noChangeAspect="1"/>
          </p:cNvPicPr>
          <p:nvPr/>
        </p:nvPicPr>
        <p:blipFill>
          <a:blip r:embed="rId3"/>
          <a:stretch>
            <a:fillRect/>
          </a:stretch>
        </p:blipFill>
        <p:spPr>
          <a:xfrm>
            <a:off x="5272041" y="258380"/>
            <a:ext cx="5483647" cy="623608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44050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err="1">
                <a:solidFill>
                  <a:srgbClr val="2C2522"/>
                </a:solidFill>
                <a:latin typeface="Aptos Display"/>
              </a:rPr>
              <a:t>Front-end</a:t>
            </a:r>
            <a:endParaRPr lang="fr-FR" sz="2800" b="1" noProof="0" dirty="0">
              <a:solidFill>
                <a:srgbClr val="2C2522"/>
              </a:solidFill>
              <a:latin typeface="Aptos Display"/>
            </a:endParaRPr>
          </a:p>
        </p:txBody>
      </p:sp>
      <p:sp>
        <p:nvSpPr>
          <p:cNvPr id="4" name="Rounded Rectangle 3"/>
          <p:cNvSpPr/>
          <p:nvPr/>
        </p:nvSpPr>
        <p:spPr>
          <a:xfrm>
            <a:off x="457426" y="1530940"/>
            <a:ext cx="3072985" cy="1786529"/>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HTML / TWIG</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Templates</a:t>
            </a:r>
            <a:r>
              <a:rPr kumimoji="0" lang="fr-FR" sz="1600" b="0" i="0" u="none" strike="noStrike" kern="1200" cap="none" spc="0" normalizeH="0" baseline="0" noProof="0" dirty="0">
                <a:ln>
                  <a:noFill/>
                </a:ln>
                <a:solidFill>
                  <a:srgbClr val="2C2522"/>
                </a:solidFill>
                <a:effectLst/>
                <a:uLnTx/>
                <a:uFillTx/>
                <a:latin typeface="Calibri"/>
                <a:ea typeface="+mn-ea"/>
                <a:cs typeface="+mn-cs"/>
              </a:rPr>
              <a:t> dynamiques</a:t>
            </a:r>
            <a:br>
              <a:rPr kumimoji="0" lang="fr-FR" sz="1600" b="0" i="0" u="none" strike="noStrike" kern="1200" cap="none" spc="0" normalizeH="0" baseline="0" noProof="0" dirty="0">
                <a:ln>
                  <a:noFill/>
                </a:ln>
                <a:solidFill>
                  <a:srgbClr val="2C2522"/>
                </a:solidFill>
                <a:effectLst/>
                <a:uLnTx/>
                <a:uFillTx/>
                <a:latin typeface="Calibri"/>
                <a:ea typeface="+mn-ea"/>
                <a:cs typeface="+mn-cs"/>
              </a:rPr>
            </a:b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Boucles, conditions et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layouts</a:t>
            </a:r>
            <a:r>
              <a:rPr kumimoji="0" lang="fr-FR" sz="1600" b="0" i="0" u="none" strike="noStrike" kern="1200" cap="none" spc="0" normalizeH="0" baseline="0" noProof="0" dirty="0">
                <a:ln>
                  <a:noFill/>
                </a:ln>
                <a:solidFill>
                  <a:srgbClr val="2C2522"/>
                </a:solidFill>
                <a:effectLst/>
                <a:uLnTx/>
                <a:uFillTx/>
                <a:latin typeface="Calibri"/>
                <a:ea typeface="+mn-ea"/>
                <a:cs typeface="+mn-cs"/>
              </a:rPr>
              <a:t> réutilisables.</a:t>
            </a:r>
          </a:p>
        </p:txBody>
      </p:sp>
      <p:sp>
        <p:nvSpPr>
          <p:cNvPr id="5" name="Espace réservé du numéro de diapositive 4">
            <a:extLst>
              <a:ext uri="{FF2B5EF4-FFF2-40B4-BE49-F238E27FC236}">
                <a16:creationId xmlns:a16="http://schemas.microsoft.com/office/drawing/2014/main" id="{BC3656C5-1B8E-3CCA-3ECE-832D6D50FCA3}"/>
              </a:ext>
            </a:extLst>
          </p:cNvPr>
          <p:cNvSpPr>
            <a:spLocks noGrp="1"/>
          </p:cNvSpPr>
          <p:nvPr>
            <p:ph type="sldNum" sz="quarter" idx="12"/>
          </p:nvPr>
        </p:nvSpPr>
        <p:spPr/>
        <p:txBody>
          <a:bodyPr/>
          <a:lstStyle/>
          <a:p>
            <a:fld id="{C1FF6DA9-008F-8B48-92A6-B652298478BF}" type="slidenum">
              <a:rPr lang="fr-FR" noProof="0" smtClean="0"/>
              <a:t>12</a:t>
            </a:fld>
            <a:endParaRPr lang="fr-FR" noProof="0" dirty="0"/>
          </a:p>
        </p:txBody>
      </p:sp>
      <p:pic>
        <p:nvPicPr>
          <p:cNvPr id="6" name="Image 5">
            <a:extLst>
              <a:ext uri="{FF2B5EF4-FFF2-40B4-BE49-F238E27FC236}">
                <a16:creationId xmlns:a16="http://schemas.microsoft.com/office/drawing/2014/main" id="{6986B91C-5F1E-7664-6773-E96C0157484D}"/>
              </a:ext>
            </a:extLst>
          </p:cNvPr>
          <p:cNvPicPr>
            <a:picLocks noChangeAspect="1"/>
          </p:cNvPicPr>
          <p:nvPr/>
        </p:nvPicPr>
        <p:blipFill>
          <a:blip r:embed="rId3"/>
          <a:stretch>
            <a:fillRect/>
          </a:stretch>
        </p:blipFill>
        <p:spPr>
          <a:xfrm>
            <a:off x="4015084" y="323040"/>
            <a:ext cx="7442861" cy="5988859"/>
          </a:xfrm>
          <a:prstGeom prst="rect">
            <a:avLst/>
          </a:prstGeom>
          <a:ln>
            <a:noFill/>
          </a:ln>
          <a:effectLst>
            <a:outerShdw blurRad="190500" algn="tl" rotWithShape="0">
              <a:srgbClr val="000000">
                <a:alpha val="70000"/>
              </a:srgbClr>
            </a:outerShdw>
          </a:effectLst>
        </p:spPr>
      </p:pic>
      <p:pic>
        <p:nvPicPr>
          <p:cNvPr id="7" name="Image 6">
            <a:extLst>
              <a:ext uri="{FF2B5EF4-FFF2-40B4-BE49-F238E27FC236}">
                <a16:creationId xmlns:a16="http://schemas.microsoft.com/office/drawing/2014/main" id="{ED4EBF74-9A63-D364-69D1-FB519963A5F4}"/>
              </a:ext>
            </a:extLst>
          </p:cNvPr>
          <p:cNvPicPr>
            <a:picLocks noChangeAspect="1"/>
          </p:cNvPicPr>
          <p:nvPr/>
        </p:nvPicPr>
        <p:blipFill>
          <a:blip r:embed="rId4"/>
          <a:stretch>
            <a:fillRect/>
          </a:stretch>
        </p:blipFill>
        <p:spPr>
          <a:xfrm>
            <a:off x="4662244" y="2654260"/>
            <a:ext cx="2425825" cy="1549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0EADE-BC71-F356-3419-501EFDB9E2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5E551A-8839-452F-1D54-747D4D010CD6}"/>
              </a:ext>
            </a:extLst>
          </p:cNvPr>
          <p:cNvSpPr txBox="1"/>
          <p:nvPr/>
        </p:nvSpPr>
        <p:spPr>
          <a:xfrm>
            <a:off x="640080" y="411480"/>
            <a:ext cx="10972800" cy="594360"/>
          </a:xfrm>
          <a:prstGeom prst="rect">
            <a:avLst/>
          </a:prstGeom>
          <a:noFill/>
        </p:spPr>
        <p:txBody>
          <a:bodyPr wrap="none">
            <a:spAutoFit/>
          </a:bodyPr>
          <a:lstStyle/>
          <a:p>
            <a:r>
              <a:rPr lang="fr-FR" sz="2800" b="1" noProof="0" dirty="0" err="1">
                <a:solidFill>
                  <a:srgbClr val="2C2522"/>
                </a:solidFill>
                <a:latin typeface="Aptos Display"/>
              </a:rPr>
              <a:t>Front-end</a:t>
            </a:r>
            <a:endParaRPr lang="fr-FR" sz="2800" b="1" noProof="0" dirty="0">
              <a:solidFill>
                <a:srgbClr val="2C2522"/>
              </a:solidFill>
              <a:latin typeface="Aptos Display"/>
            </a:endParaRPr>
          </a:p>
        </p:txBody>
      </p:sp>
      <p:sp>
        <p:nvSpPr>
          <p:cNvPr id="8" name="Rounded Rectangle 7">
            <a:extLst>
              <a:ext uri="{FF2B5EF4-FFF2-40B4-BE49-F238E27FC236}">
                <a16:creationId xmlns:a16="http://schemas.microsoft.com/office/drawing/2014/main" id="{7571771E-2E0E-B42B-1EFE-36DE8221317B}"/>
              </a:ext>
            </a:extLst>
          </p:cNvPr>
          <p:cNvSpPr/>
          <p:nvPr/>
        </p:nvSpPr>
        <p:spPr>
          <a:xfrm>
            <a:off x="483495" y="1371599"/>
            <a:ext cx="2214735" cy="4385734"/>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JAVASCRIPT</a:t>
            </a:r>
            <a:br>
              <a:rPr kumimoji="0" lang="fr-FR" sz="1600" b="0" i="0" u="none" strike="noStrike" kern="1200" cap="none" spc="0" normalizeH="0" baseline="0" noProof="0" dirty="0">
                <a:ln>
                  <a:noFill/>
                </a:ln>
                <a:solidFill>
                  <a:srgbClr val="2C2522"/>
                </a:solidFill>
                <a:effectLst/>
                <a:uLnTx/>
                <a:uFillTx/>
                <a:latin typeface="Calibri"/>
                <a:ea typeface="+mn-ea"/>
                <a:cs typeface="+mn-cs"/>
              </a:rPr>
            </a:b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lang="fr-FR" sz="1600" noProof="0" dirty="0">
                <a:solidFill>
                  <a:srgbClr val="2C2522"/>
                </a:solidFill>
              </a:rPr>
              <a:t>Scripts JavaScript du projet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FR" sz="1600" noProof="0" dirty="0">
                <a:solidFill>
                  <a:srgbClr val="2C2522"/>
                </a:solidFill>
                <a:latin typeface="Calibri"/>
              </a:rPr>
              <a:t>i</a:t>
            </a:r>
            <a:r>
              <a:rPr kumimoji="0" lang="fr-FR" sz="1600" b="0" i="0" u="none" strike="noStrike" kern="1200" cap="none" spc="0" normalizeH="0" baseline="0" noProof="0" dirty="0">
                <a:ln>
                  <a:noFill/>
                </a:ln>
                <a:solidFill>
                  <a:srgbClr val="2C2522"/>
                </a:solidFill>
                <a:effectLst/>
                <a:uLnTx/>
                <a:uFillTx/>
                <a:latin typeface="Calibri"/>
                <a:ea typeface="+mn-ea"/>
                <a:cs typeface="+mn-cs"/>
              </a:rPr>
              <a:t>mage-preview.js</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600" noProof="0" dirty="0">
                <a:solidFill>
                  <a:srgbClr val="2C2522"/>
                </a:solidFill>
                <a:latin typeface="Calibri"/>
              </a:rPr>
              <a:t>lightbox.js</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600" noProof="0" dirty="0">
                <a:solidFill>
                  <a:srgbClr val="2C2522"/>
                </a:solidFill>
                <a:latin typeface="Calibri"/>
              </a:rPr>
              <a:t>t</a:t>
            </a:r>
            <a:r>
              <a:rPr kumimoji="0" lang="fr-FR" sz="1600" b="0" i="0" u="none" strike="noStrike" kern="1200" cap="none" spc="0" normalizeH="0" baseline="0" noProof="0" dirty="0">
                <a:ln>
                  <a:noFill/>
                </a:ln>
                <a:solidFill>
                  <a:srgbClr val="2C2522"/>
                </a:solidFill>
                <a:effectLst/>
                <a:uLnTx/>
                <a:uFillTx/>
                <a:latin typeface="Calibri"/>
                <a:ea typeface="+mn-ea"/>
                <a:cs typeface="+mn-cs"/>
              </a:rPr>
              <a:t>heme.js</a:t>
            </a:r>
          </a:p>
          <a:p>
            <a:pPr marL="0" marR="0" lvl="0" indent="0" algn="l" defTabSz="457200" rtl="0" eaLnBrk="1" fontAlgn="auto" latinLnBrk="0" hangingPunct="1">
              <a:lnSpc>
                <a:spcPct val="100000"/>
              </a:lnSpc>
              <a:spcBef>
                <a:spcPts val="0"/>
              </a:spcBef>
              <a:spcAft>
                <a:spcPts val="0"/>
              </a:spcAft>
              <a:buClrTx/>
              <a:buSzTx/>
              <a:buFontTx/>
              <a:buNone/>
              <a:tabLst/>
              <a:defRPr/>
            </a:pPr>
            <a:endParaRPr lang="fr-FR" sz="1600" noProof="0" dirty="0">
              <a:solidFill>
                <a:srgbClr val="2C2522"/>
              </a:solidFill>
              <a:latin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Bootstrap JS pour les interactions courantes.</a:t>
            </a:r>
            <a:br>
              <a:rPr kumimoji="0" lang="fr-FR" sz="1600" b="0" i="0" u="none" strike="noStrike" kern="1200" cap="none" spc="0" normalizeH="0" baseline="0" noProof="0" dirty="0">
                <a:ln>
                  <a:noFill/>
                </a:ln>
                <a:solidFill>
                  <a:srgbClr val="2C2522"/>
                </a:solidFill>
                <a:effectLst/>
                <a:uLnTx/>
                <a:uFillTx/>
                <a:latin typeface="Calibri"/>
                <a:ea typeface="+mn-ea"/>
                <a:cs typeface="+mn-cs"/>
              </a:rPr>
            </a:b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Webpack</a:t>
            </a:r>
            <a:r>
              <a:rPr kumimoji="0" lang="fr-FR" sz="1600" b="0" i="0" u="none" strike="noStrike" kern="1200" cap="none" spc="0" normalizeH="0" baseline="0" noProof="0" dirty="0">
                <a:ln>
                  <a:noFill/>
                </a:ln>
                <a:solidFill>
                  <a:srgbClr val="2C2522"/>
                </a:solidFill>
                <a:effectLst/>
                <a:uLnTx/>
                <a:uFillTx/>
                <a:latin typeface="Calibri"/>
                <a:ea typeface="+mn-ea"/>
                <a:cs typeface="+mn-cs"/>
              </a:rPr>
              <a:t> Encore pour compiler et gérer les assets.</a:t>
            </a:r>
          </a:p>
          <a:p>
            <a:pPr algn="ctr"/>
            <a:endParaRPr lang="fr-FR" noProof="0" dirty="0"/>
          </a:p>
        </p:txBody>
      </p:sp>
      <p:sp>
        <p:nvSpPr>
          <p:cNvPr id="4" name="Espace réservé du numéro de diapositive 3">
            <a:extLst>
              <a:ext uri="{FF2B5EF4-FFF2-40B4-BE49-F238E27FC236}">
                <a16:creationId xmlns:a16="http://schemas.microsoft.com/office/drawing/2014/main" id="{8F78665C-D4E7-0DEA-E6D7-D6E923C95894}"/>
              </a:ext>
            </a:extLst>
          </p:cNvPr>
          <p:cNvSpPr>
            <a:spLocks noGrp="1"/>
          </p:cNvSpPr>
          <p:nvPr>
            <p:ph type="sldNum" sz="quarter" idx="12"/>
          </p:nvPr>
        </p:nvSpPr>
        <p:spPr/>
        <p:txBody>
          <a:bodyPr/>
          <a:lstStyle/>
          <a:p>
            <a:fld id="{C1FF6DA9-008F-8B48-92A6-B652298478BF}" type="slidenum">
              <a:rPr lang="fr-FR" noProof="0" smtClean="0"/>
              <a:t>13</a:t>
            </a:fld>
            <a:endParaRPr lang="fr-FR" noProof="0" dirty="0"/>
          </a:p>
        </p:txBody>
      </p:sp>
      <p:pic>
        <p:nvPicPr>
          <p:cNvPr id="5" name="Image 4">
            <a:extLst>
              <a:ext uri="{FF2B5EF4-FFF2-40B4-BE49-F238E27FC236}">
                <a16:creationId xmlns:a16="http://schemas.microsoft.com/office/drawing/2014/main" id="{9965096A-5E5C-91F5-62E3-D102A2F91348}"/>
              </a:ext>
            </a:extLst>
          </p:cNvPr>
          <p:cNvPicPr>
            <a:picLocks noChangeAspect="1"/>
          </p:cNvPicPr>
          <p:nvPr/>
        </p:nvPicPr>
        <p:blipFill>
          <a:blip r:embed="rId3"/>
          <a:stretch>
            <a:fillRect/>
          </a:stretch>
        </p:blipFill>
        <p:spPr>
          <a:xfrm>
            <a:off x="3232905" y="1720121"/>
            <a:ext cx="8580532" cy="341775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71155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372B4A5-8CB3-8F63-9E3D-4487E87FEAD2}"/>
              </a:ext>
            </a:extLst>
          </p:cNvPr>
          <p:cNvPicPr>
            <a:picLocks noChangeAspect="1"/>
          </p:cNvPicPr>
          <p:nvPr/>
        </p:nvPicPr>
        <p:blipFill>
          <a:blip r:embed="rId3"/>
          <a:stretch>
            <a:fillRect/>
          </a:stretch>
        </p:blipFill>
        <p:spPr>
          <a:xfrm>
            <a:off x="2454393" y="2645040"/>
            <a:ext cx="6508229" cy="3986860"/>
          </a:xfrm>
          <a:prstGeom prst="rect">
            <a:avLst/>
          </a:prstGeom>
          <a:ln>
            <a:noFill/>
          </a:ln>
          <a:effectLst>
            <a:outerShdw blurRad="190500" algn="tl" rotWithShape="0">
              <a:srgbClr val="000000">
                <a:alpha val="70000"/>
              </a:srgbClr>
            </a:outerShdw>
          </a:effectLst>
        </p:spPr>
      </p:pic>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err="1">
                <a:solidFill>
                  <a:srgbClr val="2C2522"/>
                </a:solidFill>
                <a:latin typeface="Aptos Display"/>
              </a:rPr>
              <a:t>Back-end</a:t>
            </a:r>
            <a:r>
              <a:rPr lang="fr-FR" sz="2800" b="1" noProof="0" dirty="0">
                <a:solidFill>
                  <a:srgbClr val="2C2522"/>
                </a:solidFill>
                <a:latin typeface="Aptos Display"/>
              </a:rPr>
              <a:t> — MVC</a:t>
            </a:r>
          </a:p>
        </p:txBody>
      </p:sp>
      <p:sp>
        <p:nvSpPr>
          <p:cNvPr id="4" name="Rounded Rectangle 3"/>
          <p:cNvSpPr/>
          <p:nvPr/>
        </p:nvSpPr>
        <p:spPr>
          <a:xfrm>
            <a:off x="388747" y="1862526"/>
            <a:ext cx="1666906" cy="313924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MODEL</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Entity</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Doctrine</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Repository</a:t>
            </a:r>
            <a:br>
              <a:rPr kumimoji="0" lang="fr-FR" sz="1600" b="0" i="0" u="none" strike="noStrike" kern="1200" cap="none" spc="0" normalizeH="0" baseline="0" noProof="0" dirty="0">
                <a:ln>
                  <a:noFill/>
                </a:ln>
                <a:solidFill>
                  <a:srgbClr val="2C2522"/>
                </a:solidFill>
                <a:effectLst/>
                <a:uLnTx/>
                <a:uFillTx/>
                <a:latin typeface="Calibri"/>
                <a:ea typeface="+mn-ea"/>
                <a:cs typeface="+mn-cs"/>
              </a:rPr>
            </a:b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Product</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Category</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User</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Review</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QuoteRequest</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algn="ctr"/>
            <a:endParaRPr lang="fr-FR" noProof="0" dirty="0"/>
          </a:p>
        </p:txBody>
      </p:sp>
      <p:sp>
        <p:nvSpPr>
          <p:cNvPr id="6" name="Rounded Rectangle 5"/>
          <p:cNvSpPr/>
          <p:nvPr/>
        </p:nvSpPr>
        <p:spPr>
          <a:xfrm>
            <a:off x="4404361" y="178738"/>
            <a:ext cx="3383280" cy="22785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VIEW</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Twig</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Templates</a:t>
            </a:r>
            <a:r>
              <a:rPr kumimoji="0" lang="fr-FR" sz="1600" b="0" i="0" u="none" strike="noStrike" kern="1200" cap="none" spc="0" normalizeH="0" baseline="0" noProof="0" dirty="0">
                <a:ln>
                  <a:noFill/>
                </a:ln>
                <a:solidFill>
                  <a:srgbClr val="2C2522"/>
                </a:solidFill>
                <a:effectLst/>
                <a:uLnTx/>
                <a:uFillTx/>
                <a:latin typeface="Calibri"/>
                <a:ea typeface="+mn-ea"/>
                <a:cs typeface="+mn-cs"/>
              </a:rPr>
              <a:t> HTML</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Données transmises par le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controller</a:t>
            </a:r>
            <a:endParaRPr lang="fr-FR" sz="1600" noProof="0" dirty="0">
              <a:solidFill>
                <a:srgbClr val="2C2522"/>
              </a:solidFill>
              <a:latin typeface="Calibri"/>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HTML généré côté serveur</a:t>
            </a:r>
          </a:p>
        </p:txBody>
      </p:sp>
      <p:sp>
        <p:nvSpPr>
          <p:cNvPr id="8" name="Rounded Rectangle 7"/>
          <p:cNvSpPr/>
          <p:nvPr/>
        </p:nvSpPr>
        <p:spPr>
          <a:xfrm>
            <a:off x="9271415" y="1856679"/>
            <a:ext cx="2476375" cy="313924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CONTROLLER</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Routes</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Traitement des requêtes</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a:ln>
                  <a:noFill/>
                </a:ln>
                <a:solidFill>
                  <a:srgbClr val="2C2522"/>
                </a:solidFill>
                <a:effectLst/>
                <a:uLnTx/>
                <a:uFillTx/>
                <a:latin typeface="Calibri"/>
                <a:ea typeface="+mn-ea"/>
                <a:cs typeface="+mn-cs"/>
              </a:rPr>
              <a:t>Coordination</a:t>
            </a:r>
            <a:br>
              <a:rPr kumimoji="0" lang="fr-FR" sz="1600" b="0" i="0" u="none" strike="noStrike" kern="1200" cap="none" spc="0" normalizeH="0" baseline="0" noProof="0" dirty="0">
                <a:ln>
                  <a:noFill/>
                </a:ln>
                <a:solidFill>
                  <a:srgbClr val="2C2522"/>
                </a:solidFill>
                <a:effectLst/>
                <a:uLnTx/>
                <a:uFillTx/>
                <a:latin typeface="Calibri"/>
                <a:ea typeface="+mn-ea"/>
                <a:cs typeface="+mn-cs"/>
              </a:rPr>
            </a:b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HomeController</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ProductController</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CategoryController</a:t>
            </a:r>
            <a:br>
              <a:rPr kumimoji="0" lang="fr-FR" sz="1600" b="0" i="0" u="none" strike="noStrike" kern="1200" cap="none" spc="0" normalizeH="0" baseline="0" noProof="0" dirty="0">
                <a:ln>
                  <a:noFill/>
                </a:ln>
                <a:solidFill>
                  <a:srgbClr val="2C2522"/>
                </a:solidFill>
                <a:effectLst/>
                <a:uLnTx/>
                <a:uFillTx/>
                <a:latin typeface="Calibri"/>
                <a:ea typeface="+mn-ea"/>
                <a:cs typeface="+mn-cs"/>
              </a:rPr>
            </a:br>
            <a:r>
              <a:rPr kumimoji="0" lang="fr-FR" sz="1600" b="0" i="0" u="none" strike="noStrike" kern="1200" cap="none" spc="0" normalizeH="0" baseline="0" noProof="0" dirty="0" err="1">
                <a:ln>
                  <a:noFill/>
                </a:ln>
                <a:solidFill>
                  <a:srgbClr val="2C2522"/>
                </a:solidFill>
                <a:effectLst/>
                <a:uLnTx/>
                <a:uFillTx/>
                <a:latin typeface="Calibri"/>
                <a:ea typeface="+mn-ea"/>
                <a:cs typeface="+mn-cs"/>
              </a:rPr>
              <a:t>QuoteRequestController</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algn="ctr"/>
            <a:endParaRPr lang="fr-FR" noProof="0" dirty="0"/>
          </a:p>
        </p:txBody>
      </p:sp>
      <p:sp>
        <p:nvSpPr>
          <p:cNvPr id="5" name="Espace réservé du numéro de diapositive 4">
            <a:extLst>
              <a:ext uri="{FF2B5EF4-FFF2-40B4-BE49-F238E27FC236}">
                <a16:creationId xmlns:a16="http://schemas.microsoft.com/office/drawing/2014/main" id="{F82F9729-FCFB-66FE-97D3-6FA9CEF0C7C4}"/>
              </a:ext>
            </a:extLst>
          </p:cNvPr>
          <p:cNvSpPr>
            <a:spLocks noGrp="1"/>
          </p:cNvSpPr>
          <p:nvPr>
            <p:ph type="sldNum" sz="quarter" idx="12"/>
          </p:nvPr>
        </p:nvSpPr>
        <p:spPr/>
        <p:txBody>
          <a:bodyPr/>
          <a:lstStyle/>
          <a:p>
            <a:fld id="{C1FF6DA9-008F-8B48-92A6-B652298478BF}" type="slidenum">
              <a:rPr lang="fr-FR" noProof="0" smtClean="0"/>
              <a:t>14</a:t>
            </a:fld>
            <a:endParaRPr lang="fr-FR"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2744662" cy="523220"/>
          </a:xfrm>
          <a:prstGeom prst="rect">
            <a:avLst/>
          </a:prstGeom>
          <a:noFill/>
        </p:spPr>
        <p:txBody>
          <a:bodyPr wrap="none">
            <a:spAutoFit/>
          </a:bodyPr>
          <a:lstStyle/>
          <a:p>
            <a:r>
              <a:rPr lang="fr-FR" sz="2800" b="1" noProof="0" dirty="0">
                <a:solidFill>
                  <a:srgbClr val="2C2522"/>
                </a:solidFill>
                <a:latin typeface="Aptos Display"/>
              </a:rPr>
              <a:t>Doctrine → </a:t>
            </a:r>
            <a:r>
              <a:rPr lang="fr-FR" sz="2800" b="1" noProof="0" dirty="0" err="1">
                <a:solidFill>
                  <a:srgbClr val="2C2522"/>
                </a:solidFill>
                <a:latin typeface="Aptos Display"/>
              </a:rPr>
              <a:t>Entity</a:t>
            </a:r>
            <a:endParaRPr lang="fr-FR" sz="2800" b="1" noProof="0" dirty="0">
              <a:solidFill>
                <a:srgbClr val="2C2522"/>
              </a:solidFill>
              <a:latin typeface="Aptos Display"/>
            </a:endParaRPr>
          </a:p>
        </p:txBody>
      </p:sp>
      <p:sp>
        <p:nvSpPr>
          <p:cNvPr id="10" name="Espace réservé du numéro de diapositive 9">
            <a:extLst>
              <a:ext uri="{FF2B5EF4-FFF2-40B4-BE49-F238E27FC236}">
                <a16:creationId xmlns:a16="http://schemas.microsoft.com/office/drawing/2014/main" id="{688A63D7-E5AC-2D3C-3588-857C55B10CAE}"/>
              </a:ext>
            </a:extLst>
          </p:cNvPr>
          <p:cNvSpPr>
            <a:spLocks noGrp="1"/>
          </p:cNvSpPr>
          <p:nvPr>
            <p:ph type="sldNum" sz="quarter" idx="12"/>
          </p:nvPr>
        </p:nvSpPr>
        <p:spPr/>
        <p:txBody>
          <a:bodyPr/>
          <a:lstStyle/>
          <a:p>
            <a:fld id="{C1FF6DA9-008F-8B48-92A6-B652298478BF}" type="slidenum">
              <a:rPr lang="fr-FR" noProof="0" smtClean="0"/>
              <a:t>15</a:t>
            </a:fld>
            <a:endParaRPr lang="fr-FR" noProof="0" dirty="0"/>
          </a:p>
        </p:txBody>
      </p:sp>
      <p:sp>
        <p:nvSpPr>
          <p:cNvPr id="4" name="Rounded Rectangle 3">
            <a:extLst>
              <a:ext uri="{FF2B5EF4-FFF2-40B4-BE49-F238E27FC236}">
                <a16:creationId xmlns:a16="http://schemas.microsoft.com/office/drawing/2014/main" id="{8F6EF812-B47F-FAFF-7A91-5E91C81D6865}"/>
              </a:ext>
            </a:extLst>
          </p:cNvPr>
          <p:cNvSpPr/>
          <p:nvPr/>
        </p:nvSpPr>
        <p:spPr>
          <a:xfrm>
            <a:off x="356290" y="1311037"/>
            <a:ext cx="4076226" cy="4392339"/>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b="1" noProof="0" dirty="0">
                <a:solidFill>
                  <a:srgbClr val="F79646">
                    <a:lumMod val="50000"/>
                  </a:srgbClr>
                </a:solidFill>
                <a:latin typeface="Calibri"/>
              </a:rPr>
              <a:t>DOCTRINE ET LES ENTITÉS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Doctrine est un ORM : il fait le lien entre les objets PHP et les tables de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MariaDB</a:t>
            </a:r>
            <a:r>
              <a:rPr kumimoji="0" lang="fr-FR" sz="1600" b="0" i="0" u="none" strike="noStrike" kern="1200" cap="none" spc="0" normalizeH="0" baseline="0" noProof="0" dirty="0">
                <a:ln>
                  <a:noFill/>
                </a:ln>
                <a:solidFill>
                  <a:srgbClr val="2C2522"/>
                </a:solidFill>
                <a:effectLst/>
                <a:uLnTx/>
                <a:uFillTx/>
                <a:latin typeface="Calibri"/>
                <a:ea typeface="+mn-ea"/>
                <a:cs typeface="+mn-cs"/>
              </a:rPr>
              <a:t>.</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Une classe représente une entité.</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Les attributs ORM décrivent les colonnes et les relations.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La propriété id correspond à la clé primaire.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Doctrine traduit les opérations sur les objets en requêtes SQL.</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Mon choix : manipuler les données avec les objets</a:t>
            </a:r>
            <a:endParaRPr lang="fr-FR" noProof="0" dirty="0"/>
          </a:p>
        </p:txBody>
      </p:sp>
      <p:pic>
        <p:nvPicPr>
          <p:cNvPr id="6" name="Image 5">
            <a:extLst>
              <a:ext uri="{FF2B5EF4-FFF2-40B4-BE49-F238E27FC236}">
                <a16:creationId xmlns:a16="http://schemas.microsoft.com/office/drawing/2014/main" id="{0C00B93F-FF19-A880-B579-90E546B5126C}"/>
              </a:ext>
            </a:extLst>
          </p:cNvPr>
          <p:cNvPicPr>
            <a:picLocks noChangeAspect="1"/>
          </p:cNvPicPr>
          <p:nvPr/>
        </p:nvPicPr>
        <p:blipFill>
          <a:blip r:embed="rId3"/>
          <a:stretch>
            <a:fillRect/>
          </a:stretch>
        </p:blipFill>
        <p:spPr>
          <a:xfrm>
            <a:off x="4575863" y="411480"/>
            <a:ext cx="7253914" cy="566385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65EF9-F60C-E32A-6D23-24198E4F89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69BF01-7F17-601F-0E7B-6A4B15F8AF31}"/>
              </a:ext>
            </a:extLst>
          </p:cNvPr>
          <p:cNvSpPr txBox="1"/>
          <p:nvPr/>
        </p:nvSpPr>
        <p:spPr>
          <a:xfrm>
            <a:off x="640080" y="411480"/>
            <a:ext cx="3459217" cy="523220"/>
          </a:xfrm>
          <a:prstGeom prst="rect">
            <a:avLst/>
          </a:prstGeom>
          <a:noFill/>
        </p:spPr>
        <p:txBody>
          <a:bodyPr wrap="none">
            <a:spAutoFit/>
          </a:bodyPr>
          <a:lstStyle/>
          <a:p>
            <a:r>
              <a:rPr lang="fr-FR" sz="2800" b="1" noProof="0" dirty="0">
                <a:solidFill>
                  <a:srgbClr val="2C2522"/>
                </a:solidFill>
                <a:latin typeface="Aptos Display"/>
              </a:rPr>
              <a:t>Doctrine → Migrations</a:t>
            </a:r>
          </a:p>
        </p:txBody>
      </p:sp>
      <p:sp>
        <p:nvSpPr>
          <p:cNvPr id="10" name="Espace réservé du numéro de diapositive 9">
            <a:extLst>
              <a:ext uri="{FF2B5EF4-FFF2-40B4-BE49-F238E27FC236}">
                <a16:creationId xmlns:a16="http://schemas.microsoft.com/office/drawing/2014/main" id="{21A21799-9381-F518-5FE5-95F071D63F62}"/>
              </a:ext>
            </a:extLst>
          </p:cNvPr>
          <p:cNvSpPr>
            <a:spLocks noGrp="1"/>
          </p:cNvSpPr>
          <p:nvPr>
            <p:ph type="sldNum" sz="quarter" idx="12"/>
          </p:nvPr>
        </p:nvSpPr>
        <p:spPr/>
        <p:txBody>
          <a:bodyPr/>
          <a:lstStyle/>
          <a:p>
            <a:fld id="{C1FF6DA9-008F-8B48-92A6-B652298478BF}" type="slidenum">
              <a:rPr lang="fr-FR" noProof="0" smtClean="0"/>
              <a:t>16</a:t>
            </a:fld>
            <a:endParaRPr lang="fr-FR" noProof="0" dirty="0"/>
          </a:p>
        </p:txBody>
      </p:sp>
      <p:sp>
        <p:nvSpPr>
          <p:cNvPr id="4" name="Rounded Rectangle 3">
            <a:extLst>
              <a:ext uri="{FF2B5EF4-FFF2-40B4-BE49-F238E27FC236}">
                <a16:creationId xmlns:a16="http://schemas.microsoft.com/office/drawing/2014/main" id="{B48FC652-5300-C964-E470-D382E07C1624}"/>
              </a:ext>
            </a:extLst>
          </p:cNvPr>
          <p:cNvSpPr/>
          <p:nvPr/>
        </p:nvSpPr>
        <p:spPr>
          <a:xfrm>
            <a:off x="356290" y="1103211"/>
            <a:ext cx="4076226" cy="5135483"/>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b="1" noProof="0" dirty="0">
                <a:solidFill>
                  <a:srgbClr val="F79646">
                    <a:lumMod val="50000"/>
                  </a:srgbClr>
                </a:solidFill>
                <a:latin typeface="Calibri"/>
              </a:rPr>
              <a:t>FAIRE ÉVOLUER LA BASE DE DONNÉES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Décrire les modifications du schéma dans des fichiers versionnés.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Appliquer les migrations en attente à la base de données.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EXEMPLE DU PROJET :</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Ajout du champ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is_verified</a:t>
            </a:r>
            <a:r>
              <a:rPr kumimoji="0" lang="fr-FR" sz="1600" b="0" i="0" u="none" strike="noStrike" kern="1200" cap="none" spc="0" normalizeH="0" baseline="0" noProof="0" dirty="0">
                <a:ln>
                  <a:noFill/>
                </a:ln>
                <a:solidFill>
                  <a:srgbClr val="2C2522"/>
                </a:solidFill>
                <a:effectLst/>
                <a:uLnTx/>
                <a:uFillTx/>
                <a:latin typeface="Calibri"/>
                <a:ea typeface="+mn-ea"/>
                <a:cs typeface="+mn-cs"/>
              </a:rPr>
              <a:t> à la table user pour mémoriser la confirmation de l’adresse e-mail.</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Génération : </a:t>
            </a:r>
          </a:p>
          <a:p>
            <a:pPr marR="0" lvl="0" algn="l" defTabSz="457200" rtl="0" eaLnBrk="1" fontAlgn="auto" latinLnBrk="0" hangingPunct="1">
              <a:lnSpc>
                <a:spcPct val="100000"/>
              </a:lnSpc>
              <a:spcBef>
                <a:spcPts val="700"/>
              </a:spcBef>
              <a:spcAft>
                <a:spcPts val="0"/>
              </a:spcAft>
              <a:buClrTx/>
              <a:buSzTx/>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php</a:t>
            </a:r>
            <a:r>
              <a:rPr kumimoji="0" lang="fr-FR" sz="1600" b="0" i="0" u="none" strike="noStrike" kern="1200" cap="none" spc="0" normalizeH="0" baseline="0" noProof="0" dirty="0">
                <a:ln>
                  <a:noFill/>
                </a:ln>
                <a:solidFill>
                  <a:srgbClr val="2C2522"/>
                </a:solidFill>
                <a:effectLst/>
                <a:uLnTx/>
                <a:uFillTx/>
                <a:latin typeface="Calibri"/>
                <a:ea typeface="+mn-ea"/>
                <a:cs typeface="+mn-cs"/>
              </a:rPr>
              <a:t> bin/console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make</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Application :</a:t>
            </a:r>
          </a:p>
          <a:p>
            <a:pPr marR="0" lvl="0" algn="l" defTabSz="457200" rtl="0" eaLnBrk="1" fontAlgn="auto" latinLnBrk="0" hangingPunct="1">
              <a:lnSpc>
                <a:spcPct val="100000"/>
              </a:lnSpc>
              <a:spcBef>
                <a:spcPts val="700"/>
              </a:spcBef>
              <a:spcAft>
                <a:spcPts val="0"/>
              </a:spcAft>
              <a:buClrTx/>
              <a:buSzTx/>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php</a:t>
            </a:r>
            <a:r>
              <a:rPr kumimoji="0" lang="fr-FR" sz="1600" b="0" i="0" u="none" strike="noStrike" kern="1200" cap="none" spc="0" normalizeH="0" baseline="0" noProof="0" dirty="0">
                <a:ln>
                  <a:noFill/>
                </a:ln>
                <a:solidFill>
                  <a:srgbClr val="2C2522"/>
                </a:solidFill>
                <a:effectLst/>
                <a:uLnTx/>
                <a:uFillTx/>
                <a:latin typeface="Calibri"/>
                <a:ea typeface="+mn-ea"/>
                <a:cs typeface="+mn-cs"/>
              </a:rPr>
              <a:t> bin/console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doctrine:migrations</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p:txBody>
      </p:sp>
      <p:pic>
        <p:nvPicPr>
          <p:cNvPr id="5" name="Image 4">
            <a:extLst>
              <a:ext uri="{FF2B5EF4-FFF2-40B4-BE49-F238E27FC236}">
                <a16:creationId xmlns:a16="http://schemas.microsoft.com/office/drawing/2014/main" id="{ADFA4801-516B-DDC9-FFA6-64EF574BCF5A}"/>
              </a:ext>
            </a:extLst>
          </p:cNvPr>
          <p:cNvPicPr>
            <a:picLocks noChangeAspect="1"/>
          </p:cNvPicPr>
          <p:nvPr/>
        </p:nvPicPr>
        <p:blipFill>
          <a:blip r:embed="rId3"/>
          <a:stretch>
            <a:fillRect/>
          </a:stretch>
        </p:blipFill>
        <p:spPr>
          <a:xfrm>
            <a:off x="4609253" y="1094501"/>
            <a:ext cx="7333365" cy="514419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43123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7111A-29E2-6828-900B-FEE51A9374CB}"/>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031E4F3A-B8CF-9ED4-97C8-9C49A21E7242}"/>
              </a:ext>
            </a:extLst>
          </p:cNvPr>
          <p:cNvPicPr>
            <a:picLocks noChangeAspect="1"/>
          </p:cNvPicPr>
          <p:nvPr/>
        </p:nvPicPr>
        <p:blipFill>
          <a:blip r:embed="rId3"/>
          <a:stretch>
            <a:fillRect/>
          </a:stretch>
        </p:blipFill>
        <p:spPr>
          <a:xfrm>
            <a:off x="265789" y="2852496"/>
            <a:ext cx="6302270" cy="3209785"/>
          </a:xfrm>
          <a:prstGeom prst="rect">
            <a:avLst/>
          </a:prstGeom>
          <a:ln>
            <a:noFill/>
          </a:ln>
          <a:effectLst>
            <a:outerShdw blurRad="190500" algn="tl" rotWithShape="0">
              <a:srgbClr val="000000">
                <a:alpha val="70000"/>
              </a:srgbClr>
            </a:outerShdw>
          </a:effectLst>
        </p:spPr>
      </p:pic>
      <p:sp>
        <p:nvSpPr>
          <p:cNvPr id="3" name="TextBox 2">
            <a:extLst>
              <a:ext uri="{FF2B5EF4-FFF2-40B4-BE49-F238E27FC236}">
                <a16:creationId xmlns:a16="http://schemas.microsoft.com/office/drawing/2014/main" id="{2F8EA6D7-28AB-1B36-D852-99F40BA338C8}"/>
              </a:ext>
            </a:extLst>
          </p:cNvPr>
          <p:cNvSpPr txBox="1"/>
          <p:nvPr/>
        </p:nvSpPr>
        <p:spPr>
          <a:xfrm>
            <a:off x="640080" y="411480"/>
            <a:ext cx="4505272" cy="523220"/>
          </a:xfrm>
          <a:prstGeom prst="rect">
            <a:avLst/>
          </a:prstGeom>
          <a:noFill/>
        </p:spPr>
        <p:txBody>
          <a:bodyPr wrap="none">
            <a:spAutoFit/>
          </a:bodyPr>
          <a:lstStyle/>
          <a:p>
            <a:r>
              <a:rPr lang="fr-FR" sz="2800" b="1" noProof="0" dirty="0">
                <a:solidFill>
                  <a:srgbClr val="2C2522"/>
                </a:solidFill>
                <a:latin typeface="Aptos Display"/>
              </a:rPr>
              <a:t>Doctrine → Repository → SQL</a:t>
            </a:r>
          </a:p>
        </p:txBody>
      </p:sp>
      <p:sp>
        <p:nvSpPr>
          <p:cNvPr id="5" name="Rounded Rectangle 4">
            <a:extLst>
              <a:ext uri="{FF2B5EF4-FFF2-40B4-BE49-F238E27FC236}">
                <a16:creationId xmlns:a16="http://schemas.microsoft.com/office/drawing/2014/main" id="{85378065-D266-E1A0-2E43-3C22DC445B63}"/>
              </a:ext>
            </a:extLst>
          </p:cNvPr>
          <p:cNvSpPr/>
          <p:nvPr/>
        </p:nvSpPr>
        <p:spPr>
          <a:xfrm>
            <a:off x="2409661" y="1436398"/>
            <a:ext cx="1686827"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Doctrine ORM</a:t>
            </a:r>
          </a:p>
        </p:txBody>
      </p:sp>
      <p:sp>
        <p:nvSpPr>
          <p:cNvPr id="6" name="Rounded Rectangle 5">
            <a:extLst>
              <a:ext uri="{FF2B5EF4-FFF2-40B4-BE49-F238E27FC236}">
                <a16:creationId xmlns:a16="http://schemas.microsoft.com/office/drawing/2014/main" id="{DD4117A9-E469-EEEF-1281-37010E993A28}"/>
              </a:ext>
            </a:extLst>
          </p:cNvPr>
          <p:cNvSpPr/>
          <p:nvPr/>
        </p:nvSpPr>
        <p:spPr>
          <a:xfrm>
            <a:off x="4311613" y="1436398"/>
            <a:ext cx="1686827"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Repository</a:t>
            </a:r>
            <a:endParaRPr lang="fr-FR" sz="1200" b="1" noProof="0" dirty="0">
              <a:solidFill>
                <a:srgbClr val="2C2522"/>
              </a:solidFill>
            </a:endParaRPr>
          </a:p>
        </p:txBody>
      </p:sp>
      <p:sp>
        <p:nvSpPr>
          <p:cNvPr id="7" name="Rounded Rectangle 6">
            <a:extLst>
              <a:ext uri="{FF2B5EF4-FFF2-40B4-BE49-F238E27FC236}">
                <a16:creationId xmlns:a16="http://schemas.microsoft.com/office/drawing/2014/main" id="{A3DAE911-44BE-3B16-E99C-3CD1A76D91C5}"/>
              </a:ext>
            </a:extLst>
          </p:cNvPr>
          <p:cNvSpPr/>
          <p:nvPr/>
        </p:nvSpPr>
        <p:spPr>
          <a:xfrm>
            <a:off x="6213565" y="1436398"/>
            <a:ext cx="1686827"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SQL</a:t>
            </a:r>
            <a:endParaRPr lang="fr-FR" sz="1200" b="1" noProof="0" dirty="0">
              <a:solidFill>
                <a:srgbClr val="2C2522"/>
              </a:solidFill>
            </a:endParaRPr>
          </a:p>
        </p:txBody>
      </p:sp>
      <p:sp>
        <p:nvSpPr>
          <p:cNvPr id="8" name="Rounded Rectangle 7">
            <a:extLst>
              <a:ext uri="{FF2B5EF4-FFF2-40B4-BE49-F238E27FC236}">
                <a16:creationId xmlns:a16="http://schemas.microsoft.com/office/drawing/2014/main" id="{483A899D-134E-7012-4116-A661A01AD121}"/>
              </a:ext>
            </a:extLst>
          </p:cNvPr>
          <p:cNvSpPr/>
          <p:nvPr/>
        </p:nvSpPr>
        <p:spPr>
          <a:xfrm>
            <a:off x="8115517" y="1436398"/>
            <a:ext cx="1686827" cy="914400"/>
          </a:xfrm>
          <a:prstGeom prst="roundRect">
            <a:avLst/>
          </a:prstGeom>
          <a:solidFill>
            <a:schemeClr val="bg1"/>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err="1">
                <a:solidFill>
                  <a:srgbClr val="2C2522"/>
                </a:solidFill>
              </a:rPr>
              <a:t>MariaDB</a:t>
            </a:r>
            <a:endParaRPr lang="fr-FR" sz="1200" b="1" noProof="0" dirty="0">
              <a:solidFill>
                <a:srgbClr val="2C2522"/>
              </a:solidFill>
            </a:endParaRPr>
          </a:p>
        </p:txBody>
      </p:sp>
      <p:pic>
        <p:nvPicPr>
          <p:cNvPr id="16" name="Image 15">
            <a:extLst>
              <a:ext uri="{FF2B5EF4-FFF2-40B4-BE49-F238E27FC236}">
                <a16:creationId xmlns:a16="http://schemas.microsoft.com/office/drawing/2014/main" id="{6F52923A-FB1F-C51D-29CD-2BCE89B204C2}"/>
              </a:ext>
            </a:extLst>
          </p:cNvPr>
          <p:cNvPicPr>
            <a:picLocks noChangeAspect="1"/>
          </p:cNvPicPr>
          <p:nvPr/>
        </p:nvPicPr>
        <p:blipFill>
          <a:blip r:embed="rId4"/>
          <a:stretch>
            <a:fillRect/>
          </a:stretch>
        </p:blipFill>
        <p:spPr>
          <a:xfrm>
            <a:off x="6811965" y="3481639"/>
            <a:ext cx="5067735" cy="2171886"/>
          </a:xfrm>
          <a:prstGeom prst="rect">
            <a:avLst/>
          </a:prstGeom>
          <a:ln>
            <a:noFill/>
          </a:ln>
          <a:effectLst>
            <a:outerShdw blurRad="190500" algn="tl" rotWithShape="0">
              <a:srgbClr val="000000">
                <a:alpha val="70000"/>
              </a:srgbClr>
            </a:outerShdw>
          </a:effectLst>
        </p:spPr>
      </p:pic>
      <p:sp>
        <p:nvSpPr>
          <p:cNvPr id="10" name="Espace réservé du numéro de diapositive 9">
            <a:extLst>
              <a:ext uri="{FF2B5EF4-FFF2-40B4-BE49-F238E27FC236}">
                <a16:creationId xmlns:a16="http://schemas.microsoft.com/office/drawing/2014/main" id="{4400DDCF-081D-3AC0-5FA1-9325B811011F}"/>
              </a:ext>
            </a:extLst>
          </p:cNvPr>
          <p:cNvSpPr>
            <a:spLocks noGrp="1"/>
          </p:cNvSpPr>
          <p:nvPr>
            <p:ph type="sldNum" sz="quarter" idx="12"/>
          </p:nvPr>
        </p:nvSpPr>
        <p:spPr/>
        <p:txBody>
          <a:bodyPr/>
          <a:lstStyle/>
          <a:p>
            <a:fld id="{C1FF6DA9-008F-8B48-92A6-B652298478BF}" type="slidenum">
              <a:rPr lang="fr-FR" noProof="0" smtClean="0"/>
              <a:t>17</a:t>
            </a:fld>
            <a:endParaRPr lang="fr-FR" noProof="0" dirty="0"/>
          </a:p>
        </p:txBody>
      </p:sp>
      <p:sp>
        <p:nvSpPr>
          <p:cNvPr id="2" name="ZoneTexte 1">
            <a:extLst>
              <a:ext uri="{FF2B5EF4-FFF2-40B4-BE49-F238E27FC236}">
                <a16:creationId xmlns:a16="http://schemas.microsoft.com/office/drawing/2014/main" id="{1256AB11-56BA-CD07-6500-500A89E0FEFD}"/>
              </a:ext>
            </a:extLst>
          </p:cNvPr>
          <p:cNvSpPr txBox="1"/>
          <p:nvPr/>
        </p:nvSpPr>
        <p:spPr>
          <a:xfrm>
            <a:off x="8094133" y="2997200"/>
            <a:ext cx="2431371" cy="369332"/>
          </a:xfrm>
          <a:prstGeom prst="rect">
            <a:avLst/>
          </a:prstGeom>
          <a:noFill/>
        </p:spPr>
        <p:txBody>
          <a:bodyPr wrap="none" rtlCol="0">
            <a:spAutoFit/>
          </a:bodyPr>
          <a:lstStyle/>
          <a:p>
            <a:r>
              <a:rPr lang="fr-FR" noProof="0" dirty="0"/>
              <a:t>SQL équivalent</a:t>
            </a:r>
            <a:r>
              <a:rPr lang="fr-FR" dirty="0"/>
              <a:t> </a:t>
            </a:r>
            <a:r>
              <a:rPr lang="fr-FR" noProof="0" dirty="0"/>
              <a:t>simplifié</a:t>
            </a:r>
          </a:p>
        </p:txBody>
      </p:sp>
    </p:spTree>
    <p:extLst>
      <p:ext uri="{BB962C8B-B14F-4D97-AF65-F5344CB8AC3E}">
        <p14:creationId xmlns:p14="http://schemas.microsoft.com/office/powerpoint/2010/main" val="1104144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C5A4-E5BE-C837-A6FB-D5FDA906F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AA615F-956B-5AA0-7A12-FC2265D741A2}"/>
              </a:ext>
            </a:extLst>
          </p:cNvPr>
          <p:cNvSpPr txBox="1"/>
          <p:nvPr/>
        </p:nvSpPr>
        <p:spPr>
          <a:xfrm>
            <a:off x="640080" y="411480"/>
            <a:ext cx="1840953" cy="523220"/>
          </a:xfrm>
          <a:prstGeom prst="rect">
            <a:avLst/>
          </a:prstGeom>
          <a:noFill/>
        </p:spPr>
        <p:txBody>
          <a:bodyPr wrap="none">
            <a:spAutoFit/>
          </a:bodyPr>
          <a:lstStyle/>
          <a:p>
            <a:r>
              <a:rPr lang="fr-FR" sz="2800" b="1" noProof="0" dirty="0">
                <a:solidFill>
                  <a:srgbClr val="2C2522"/>
                </a:solidFill>
                <a:latin typeface="Aptos Display"/>
              </a:rPr>
              <a:t>Contrôleur</a:t>
            </a:r>
          </a:p>
        </p:txBody>
      </p:sp>
      <p:sp>
        <p:nvSpPr>
          <p:cNvPr id="4" name="Espace réservé du numéro de diapositive 3">
            <a:extLst>
              <a:ext uri="{FF2B5EF4-FFF2-40B4-BE49-F238E27FC236}">
                <a16:creationId xmlns:a16="http://schemas.microsoft.com/office/drawing/2014/main" id="{CA0A929F-EE3B-550D-0FFE-E9A12CAB365B}"/>
              </a:ext>
            </a:extLst>
          </p:cNvPr>
          <p:cNvSpPr>
            <a:spLocks noGrp="1"/>
          </p:cNvSpPr>
          <p:nvPr>
            <p:ph type="sldNum" sz="quarter" idx="12"/>
          </p:nvPr>
        </p:nvSpPr>
        <p:spPr/>
        <p:txBody>
          <a:bodyPr/>
          <a:lstStyle/>
          <a:p>
            <a:fld id="{C1FF6DA9-008F-8B48-92A6-B652298478BF}" type="slidenum">
              <a:rPr lang="fr-FR" noProof="0" smtClean="0"/>
              <a:t>18</a:t>
            </a:fld>
            <a:endParaRPr lang="fr-FR" noProof="0" dirty="0"/>
          </a:p>
        </p:txBody>
      </p:sp>
      <p:sp>
        <p:nvSpPr>
          <p:cNvPr id="6" name="Rounded Rectangle 3">
            <a:extLst>
              <a:ext uri="{FF2B5EF4-FFF2-40B4-BE49-F238E27FC236}">
                <a16:creationId xmlns:a16="http://schemas.microsoft.com/office/drawing/2014/main" id="{813C9F5D-3E36-3859-376D-81FBBE3B220C}"/>
              </a:ext>
            </a:extLst>
          </p:cNvPr>
          <p:cNvSpPr/>
          <p:nvPr/>
        </p:nvSpPr>
        <p:spPr>
          <a:xfrm>
            <a:off x="356290" y="1311037"/>
            <a:ext cx="4076226" cy="4392339"/>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b="1" noProof="0" dirty="0">
                <a:solidFill>
                  <a:srgbClr val="F79646">
                    <a:lumMod val="50000"/>
                  </a:srgbClr>
                </a:solidFill>
                <a:latin typeface="Calibri"/>
              </a:rPr>
              <a:t>LE RÔLE DU CONTRÔLEUR</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lang="fr-FR" sz="1600" noProof="0" dirty="0">
                <a:solidFill>
                  <a:srgbClr val="2C2522"/>
                </a:solidFill>
                <a:latin typeface="Calibri"/>
              </a:rPr>
              <a:t>Le contrôleur reçoit une requête et prépare une réponse.</a:t>
            </a:r>
          </a:p>
          <a:p>
            <a:pPr marL="342900" marR="0" lvl="0" indent="-342900" algn="l" defTabSz="457200" rtl="0" eaLnBrk="1" fontAlgn="auto" latinLnBrk="0" hangingPunct="1">
              <a:lnSpc>
                <a:spcPct val="100000"/>
              </a:lnSpc>
              <a:spcBef>
                <a:spcPts val="700"/>
              </a:spcBef>
              <a:spcAft>
                <a:spcPts val="0"/>
              </a:spcAft>
              <a:buClrTx/>
              <a:buSzTx/>
              <a:buFont typeface="+mj-lt"/>
              <a:buAutoNum type="arabicPeriod"/>
              <a:tabLst/>
              <a:defRPr sz="1200">
                <a:solidFill>
                  <a:srgbClr val="2C2522"/>
                </a:solidFill>
              </a:defRPr>
            </a:pPr>
            <a:r>
              <a:rPr lang="fr-FR" sz="1600" noProof="0" dirty="0">
                <a:solidFill>
                  <a:srgbClr val="2C2522"/>
                </a:solidFill>
                <a:latin typeface="Calibri"/>
              </a:rPr>
              <a:t>La route associe une URL à une méthode.</a:t>
            </a:r>
          </a:p>
          <a:p>
            <a:pPr marL="342900" marR="0" lvl="0" indent="-342900" algn="l" defTabSz="457200" rtl="0" eaLnBrk="1" fontAlgn="auto" latinLnBrk="0" hangingPunct="1">
              <a:lnSpc>
                <a:spcPct val="100000"/>
              </a:lnSpc>
              <a:spcBef>
                <a:spcPts val="700"/>
              </a:spcBef>
              <a:spcAft>
                <a:spcPts val="0"/>
              </a:spcAft>
              <a:buClrTx/>
              <a:buSzTx/>
              <a:buFont typeface="+mj-lt"/>
              <a:buAutoNum type="arabicPeriod"/>
              <a:tabLst/>
              <a:defRPr sz="1200">
                <a:solidFill>
                  <a:srgbClr val="2C2522"/>
                </a:solidFill>
              </a:defRPr>
            </a:pPr>
            <a:r>
              <a:rPr lang="fr-FR" sz="1600" noProof="0" dirty="0">
                <a:solidFill>
                  <a:srgbClr val="2C2522"/>
                </a:solidFill>
                <a:latin typeface="Calibri"/>
              </a:rPr>
              <a:t>Le repository recherche le produit demandé.</a:t>
            </a:r>
          </a:p>
          <a:p>
            <a:pPr marL="342900" marR="0" lvl="0" indent="-342900" algn="l" defTabSz="457200" rtl="0" eaLnBrk="1" fontAlgn="auto" latinLnBrk="0" hangingPunct="1">
              <a:lnSpc>
                <a:spcPct val="100000"/>
              </a:lnSpc>
              <a:spcBef>
                <a:spcPts val="700"/>
              </a:spcBef>
              <a:spcAft>
                <a:spcPts val="0"/>
              </a:spcAft>
              <a:buClrTx/>
              <a:buSzTx/>
              <a:buFont typeface="+mj-lt"/>
              <a:buAutoNum type="arabicPeriod"/>
              <a:tabLst/>
              <a:defRPr sz="1200">
                <a:solidFill>
                  <a:srgbClr val="2C2522"/>
                </a:solidFill>
              </a:defRPr>
            </a:pPr>
            <a:r>
              <a:rPr lang="fr-FR" sz="1600" noProof="0" dirty="0">
                <a:solidFill>
                  <a:srgbClr val="2C2522"/>
                </a:solidFill>
                <a:latin typeface="Calibri"/>
              </a:rPr>
              <a:t>Le contrôleur vérifie que le produit existe.</a:t>
            </a:r>
          </a:p>
          <a:p>
            <a:pPr marL="342900" marR="0" lvl="0" indent="-342900" algn="l" defTabSz="457200" rtl="0" eaLnBrk="1" fontAlgn="auto" latinLnBrk="0" hangingPunct="1">
              <a:lnSpc>
                <a:spcPct val="100000"/>
              </a:lnSpc>
              <a:spcBef>
                <a:spcPts val="700"/>
              </a:spcBef>
              <a:spcAft>
                <a:spcPts val="0"/>
              </a:spcAft>
              <a:buClrTx/>
              <a:buSzTx/>
              <a:buFont typeface="+mj-lt"/>
              <a:buAutoNum type="arabicPeriod"/>
              <a:tabLst/>
              <a:defRPr sz="1200">
                <a:solidFill>
                  <a:srgbClr val="2C2522"/>
                </a:solidFill>
              </a:defRPr>
            </a:pPr>
            <a:r>
              <a:rPr lang="fr-FR" sz="1600" noProof="0" dirty="0">
                <a:solidFill>
                  <a:srgbClr val="2C2522"/>
                </a:solidFill>
                <a:latin typeface="Calibri"/>
              </a:rPr>
              <a:t>Twig reçoit les données et génère la page.</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lang="fr-FR" sz="1600" noProof="0" dirty="0">
                <a:solidFill>
                  <a:srgbClr val="2C2522"/>
                </a:solidFill>
                <a:latin typeface="Calibri"/>
              </a:rPr>
              <a:t>Injection de dépendances : Symfony fournit le repository à la méthode.</a:t>
            </a:r>
            <a:endParaRPr lang="fr-FR" noProof="0" dirty="0"/>
          </a:p>
        </p:txBody>
      </p:sp>
      <p:pic>
        <p:nvPicPr>
          <p:cNvPr id="8" name="Image 7">
            <a:extLst>
              <a:ext uri="{FF2B5EF4-FFF2-40B4-BE49-F238E27FC236}">
                <a16:creationId xmlns:a16="http://schemas.microsoft.com/office/drawing/2014/main" id="{7D2EB4AE-4B53-FE4B-FDC0-1D86590EA760}"/>
              </a:ext>
            </a:extLst>
          </p:cNvPr>
          <p:cNvPicPr>
            <a:picLocks noChangeAspect="1"/>
          </p:cNvPicPr>
          <p:nvPr/>
        </p:nvPicPr>
        <p:blipFill>
          <a:blip r:embed="rId3"/>
          <a:stretch>
            <a:fillRect/>
          </a:stretch>
        </p:blipFill>
        <p:spPr>
          <a:xfrm>
            <a:off x="5020521" y="281563"/>
            <a:ext cx="6147151" cy="636173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49954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99F0-42D7-C485-56FD-F0C301916D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90DE24-7C4B-9E34-6507-2E88C4A15B51}"/>
              </a:ext>
            </a:extLst>
          </p:cNvPr>
          <p:cNvSpPr txBox="1"/>
          <p:nvPr/>
        </p:nvSpPr>
        <p:spPr>
          <a:xfrm>
            <a:off x="640080" y="411480"/>
            <a:ext cx="1130438" cy="523220"/>
          </a:xfrm>
          <a:prstGeom prst="rect">
            <a:avLst/>
          </a:prstGeom>
          <a:noFill/>
        </p:spPr>
        <p:txBody>
          <a:bodyPr wrap="none">
            <a:spAutoFit/>
          </a:bodyPr>
          <a:lstStyle/>
          <a:p>
            <a:r>
              <a:rPr lang="fr-FR" sz="2800" b="1" noProof="0" dirty="0">
                <a:solidFill>
                  <a:srgbClr val="2C2522"/>
                </a:solidFill>
                <a:latin typeface="Aptos Display"/>
              </a:rPr>
              <a:t>CRUD</a:t>
            </a:r>
          </a:p>
        </p:txBody>
      </p:sp>
      <p:sp>
        <p:nvSpPr>
          <p:cNvPr id="6" name="Rounded Rectangle 5">
            <a:extLst>
              <a:ext uri="{FF2B5EF4-FFF2-40B4-BE49-F238E27FC236}">
                <a16:creationId xmlns:a16="http://schemas.microsoft.com/office/drawing/2014/main" id="{F91C96B4-5272-F4BC-245C-0F6515E94723}"/>
              </a:ext>
            </a:extLst>
          </p:cNvPr>
          <p:cNvSpPr/>
          <p:nvPr/>
        </p:nvSpPr>
        <p:spPr>
          <a:xfrm>
            <a:off x="426612" y="2608743"/>
            <a:ext cx="1596572" cy="961281"/>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MODIFIER UN PRODUIT</a:t>
            </a:r>
            <a:endParaRPr kumimoji="0" lang="fr-FR" sz="2000" b="1" i="0" u="none" strike="noStrike" kern="1200" cap="none" spc="0" normalizeH="0" baseline="0" noProof="0" dirty="0">
              <a:ln>
                <a:noFill/>
              </a:ln>
              <a:solidFill>
                <a:srgbClr val="F79646">
                  <a:lumMod val="50000"/>
                </a:srgbClr>
              </a:solidFill>
              <a:effectLst/>
              <a:uLnTx/>
              <a:uFillTx/>
              <a:latin typeface="Calibri"/>
              <a:ea typeface="+mn-ea"/>
              <a:cs typeface="+mn-cs"/>
            </a:endParaRPr>
          </a:p>
        </p:txBody>
      </p:sp>
      <p:sp>
        <p:nvSpPr>
          <p:cNvPr id="4" name="Espace réservé du numéro de diapositive 3">
            <a:extLst>
              <a:ext uri="{FF2B5EF4-FFF2-40B4-BE49-F238E27FC236}">
                <a16:creationId xmlns:a16="http://schemas.microsoft.com/office/drawing/2014/main" id="{83DA8967-4427-B081-4361-51CF30C4AF59}"/>
              </a:ext>
            </a:extLst>
          </p:cNvPr>
          <p:cNvSpPr>
            <a:spLocks noGrp="1"/>
          </p:cNvSpPr>
          <p:nvPr>
            <p:ph type="sldNum" sz="quarter" idx="12"/>
          </p:nvPr>
        </p:nvSpPr>
        <p:spPr/>
        <p:txBody>
          <a:bodyPr/>
          <a:lstStyle/>
          <a:p>
            <a:fld id="{C1FF6DA9-008F-8B48-92A6-B652298478BF}" type="slidenum">
              <a:rPr lang="fr-FR" noProof="0" smtClean="0"/>
              <a:t>19</a:t>
            </a:fld>
            <a:endParaRPr lang="fr-FR" noProof="0" dirty="0"/>
          </a:p>
        </p:txBody>
      </p:sp>
      <p:pic>
        <p:nvPicPr>
          <p:cNvPr id="7" name="Image 6">
            <a:extLst>
              <a:ext uri="{FF2B5EF4-FFF2-40B4-BE49-F238E27FC236}">
                <a16:creationId xmlns:a16="http://schemas.microsoft.com/office/drawing/2014/main" id="{ED2B609D-7D00-4A4D-D9DC-29A3B4AF543E}"/>
              </a:ext>
            </a:extLst>
          </p:cNvPr>
          <p:cNvPicPr>
            <a:picLocks noChangeAspect="1"/>
          </p:cNvPicPr>
          <p:nvPr/>
        </p:nvPicPr>
        <p:blipFill>
          <a:blip r:embed="rId3"/>
          <a:stretch>
            <a:fillRect/>
          </a:stretch>
        </p:blipFill>
        <p:spPr>
          <a:xfrm>
            <a:off x="2483394" y="317033"/>
            <a:ext cx="8628317" cy="635999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35595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7676332" cy="523220"/>
          </a:xfrm>
          <a:prstGeom prst="rect">
            <a:avLst/>
          </a:prstGeom>
          <a:noFill/>
        </p:spPr>
        <p:txBody>
          <a:bodyPr wrap="none">
            <a:spAutoFit/>
          </a:bodyPr>
          <a:lstStyle/>
          <a:p>
            <a:r>
              <a:rPr lang="fr-FR" sz="2800" b="1" noProof="0" dirty="0">
                <a:solidFill>
                  <a:srgbClr val="2C2522"/>
                </a:solidFill>
                <a:latin typeface="Aptos Display"/>
              </a:rPr>
              <a:t>Formulaire de devis : validation et enregistrement</a:t>
            </a:r>
          </a:p>
        </p:txBody>
      </p:sp>
      <p:sp>
        <p:nvSpPr>
          <p:cNvPr id="4" name="Rounded Rectangle 3"/>
          <p:cNvSpPr/>
          <p:nvPr/>
        </p:nvSpPr>
        <p:spPr>
          <a:xfrm>
            <a:off x="819961" y="1453485"/>
            <a:ext cx="4456577" cy="95184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VALIDATION CÔTÉ SERVEUR</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Quantité obligatoire et supérieure ou égale à 1</a:t>
            </a:r>
            <a:endParaRPr lang="fr-FR" noProof="0" dirty="0"/>
          </a:p>
        </p:txBody>
      </p:sp>
      <p:sp>
        <p:nvSpPr>
          <p:cNvPr id="5" name="Espace réservé du numéro de diapositive 4">
            <a:extLst>
              <a:ext uri="{FF2B5EF4-FFF2-40B4-BE49-F238E27FC236}">
                <a16:creationId xmlns:a16="http://schemas.microsoft.com/office/drawing/2014/main" id="{51519722-9888-B6E8-C6C7-DBF6F9816C12}"/>
              </a:ext>
            </a:extLst>
          </p:cNvPr>
          <p:cNvSpPr>
            <a:spLocks noGrp="1"/>
          </p:cNvSpPr>
          <p:nvPr>
            <p:ph type="sldNum" sz="quarter" idx="12"/>
          </p:nvPr>
        </p:nvSpPr>
        <p:spPr/>
        <p:txBody>
          <a:bodyPr/>
          <a:lstStyle/>
          <a:p>
            <a:fld id="{C1FF6DA9-008F-8B48-92A6-B652298478BF}" type="slidenum">
              <a:rPr lang="fr-FR" noProof="0" smtClean="0"/>
              <a:t>20</a:t>
            </a:fld>
            <a:endParaRPr lang="fr-FR" noProof="0" dirty="0"/>
          </a:p>
        </p:txBody>
      </p:sp>
      <p:pic>
        <p:nvPicPr>
          <p:cNvPr id="7" name="Image 6">
            <a:extLst>
              <a:ext uri="{FF2B5EF4-FFF2-40B4-BE49-F238E27FC236}">
                <a16:creationId xmlns:a16="http://schemas.microsoft.com/office/drawing/2014/main" id="{42531F48-C8A9-A233-2AEB-79E33F5BD6C0}"/>
              </a:ext>
            </a:extLst>
          </p:cNvPr>
          <p:cNvPicPr>
            <a:picLocks noChangeAspect="1"/>
          </p:cNvPicPr>
          <p:nvPr/>
        </p:nvPicPr>
        <p:blipFill>
          <a:blip r:embed="rId3"/>
          <a:stretch>
            <a:fillRect/>
          </a:stretch>
        </p:blipFill>
        <p:spPr>
          <a:xfrm>
            <a:off x="249382" y="2718884"/>
            <a:ext cx="6004239" cy="2685631"/>
          </a:xfrm>
          <a:prstGeom prst="rect">
            <a:avLst/>
          </a:prstGeom>
          <a:ln>
            <a:noFill/>
          </a:ln>
          <a:effectLst>
            <a:outerShdw blurRad="190500" algn="tl" rotWithShape="0">
              <a:srgbClr val="000000">
                <a:alpha val="70000"/>
              </a:srgbClr>
            </a:outerShdw>
          </a:effectLst>
        </p:spPr>
      </p:pic>
      <p:pic>
        <p:nvPicPr>
          <p:cNvPr id="9" name="Image 8">
            <a:extLst>
              <a:ext uri="{FF2B5EF4-FFF2-40B4-BE49-F238E27FC236}">
                <a16:creationId xmlns:a16="http://schemas.microsoft.com/office/drawing/2014/main" id="{00D63788-6C65-B9D2-036F-33E3A54BBAB7}"/>
              </a:ext>
            </a:extLst>
          </p:cNvPr>
          <p:cNvPicPr>
            <a:picLocks noChangeAspect="1"/>
          </p:cNvPicPr>
          <p:nvPr/>
        </p:nvPicPr>
        <p:blipFill>
          <a:blip r:embed="rId4"/>
          <a:stretch>
            <a:fillRect/>
          </a:stretch>
        </p:blipFill>
        <p:spPr>
          <a:xfrm>
            <a:off x="6390432" y="2718884"/>
            <a:ext cx="5552186" cy="3117538"/>
          </a:xfrm>
          <a:prstGeom prst="rect">
            <a:avLst/>
          </a:prstGeom>
          <a:ln>
            <a:noFill/>
          </a:ln>
          <a:effectLst>
            <a:outerShdw blurRad="190500" algn="tl" rotWithShape="0">
              <a:srgbClr val="000000">
                <a:alpha val="70000"/>
              </a:srgbClr>
            </a:outerShdw>
          </a:effectLst>
        </p:spPr>
      </p:pic>
      <p:sp>
        <p:nvSpPr>
          <p:cNvPr id="10" name="Rounded Rectangle 3">
            <a:extLst>
              <a:ext uri="{FF2B5EF4-FFF2-40B4-BE49-F238E27FC236}">
                <a16:creationId xmlns:a16="http://schemas.microsoft.com/office/drawing/2014/main" id="{98FD1D7A-34F3-A3E6-910E-48079C5239A4}"/>
              </a:ext>
            </a:extLst>
          </p:cNvPr>
          <p:cNvSpPr/>
          <p:nvPr/>
        </p:nvSpPr>
        <p:spPr>
          <a:xfrm>
            <a:off x="6810157" y="1453485"/>
            <a:ext cx="5004381" cy="95184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rPr>
              <a:t>ENREGISTREMENT DU DEVIS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Date et statut définis par le serveur, puis écriture en base</a:t>
            </a:r>
            <a:endParaRPr lang="fr-FR"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E1478-75BD-A438-5448-82B3B19284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CBD460-235F-0202-D378-A4BB68FDFE14}"/>
              </a:ext>
            </a:extLst>
          </p:cNvPr>
          <p:cNvSpPr txBox="1"/>
          <p:nvPr/>
        </p:nvSpPr>
        <p:spPr>
          <a:xfrm>
            <a:off x="640080" y="411480"/>
            <a:ext cx="4186753" cy="523220"/>
          </a:xfrm>
          <a:prstGeom prst="rect">
            <a:avLst/>
          </a:prstGeom>
          <a:noFill/>
        </p:spPr>
        <p:txBody>
          <a:bodyPr wrap="square">
            <a:spAutoFit/>
          </a:bodyPr>
          <a:lstStyle/>
          <a:p>
            <a:r>
              <a:rPr lang="fr-FR" sz="2800" b="1" noProof="0" dirty="0">
                <a:solidFill>
                  <a:srgbClr val="2C2522"/>
                </a:solidFill>
                <a:latin typeface="Aptos Display"/>
              </a:rPr>
              <a:t>Sécurité et Confidentialité</a:t>
            </a:r>
          </a:p>
        </p:txBody>
      </p:sp>
      <p:sp>
        <p:nvSpPr>
          <p:cNvPr id="6" name="Rounded Rectangle 5">
            <a:extLst>
              <a:ext uri="{FF2B5EF4-FFF2-40B4-BE49-F238E27FC236}">
                <a16:creationId xmlns:a16="http://schemas.microsoft.com/office/drawing/2014/main" id="{E01E5D31-A5FE-FCAC-3E9E-2E64557A44BC}"/>
              </a:ext>
            </a:extLst>
          </p:cNvPr>
          <p:cNvSpPr/>
          <p:nvPr/>
        </p:nvSpPr>
        <p:spPr>
          <a:xfrm>
            <a:off x="1199210" y="2048656"/>
            <a:ext cx="3342806" cy="2523344"/>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AUTHENTIFICATION ET ACCÈS</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Mots de passe hachés avant l’enregistrement</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Connexion protégée par CSRF et limitation des tentatives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Administration réservée au rôle ROLE_ADMIN</a:t>
            </a:r>
          </a:p>
        </p:txBody>
      </p:sp>
      <p:sp>
        <p:nvSpPr>
          <p:cNvPr id="4" name="Espace réservé du numéro de diapositive 3">
            <a:extLst>
              <a:ext uri="{FF2B5EF4-FFF2-40B4-BE49-F238E27FC236}">
                <a16:creationId xmlns:a16="http://schemas.microsoft.com/office/drawing/2014/main" id="{F5D8C7A5-D3DC-EEE9-116B-DD4A5579AB92}"/>
              </a:ext>
            </a:extLst>
          </p:cNvPr>
          <p:cNvSpPr>
            <a:spLocks noGrp="1"/>
          </p:cNvSpPr>
          <p:nvPr>
            <p:ph type="sldNum" sz="quarter" idx="12"/>
          </p:nvPr>
        </p:nvSpPr>
        <p:spPr/>
        <p:txBody>
          <a:bodyPr/>
          <a:lstStyle/>
          <a:p>
            <a:fld id="{C1FF6DA9-008F-8B48-92A6-B652298478BF}" type="slidenum">
              <a:rPr lang="fr-FR" noProof="0" smtClean="0"/>
              <a:t>21</a:t>
            </a:fld>
            <a:endParaRPr lang="fr-FR" noProof="0" dirty="0"/>
          </a:p>
        </p:txBody>
      </p:sp>
      <p:pic>
        <p:nvPicPr>
          <p:cNvPr id="8" name="Image 7">
            <a:extLst>
              <a:ext uri="{FF2B5EF4-FFF2-40B4-BE49-F238E27FC236}">
                <a16:creationId xmlns:a16="http://schemas.microsoft.com/office/drawing/2014/main" id="{77B41D17-C9A7-8C56-414B-77B4BC532494}"/>
              </a:ext>
            </a:extLst>
          </p:cNvPr>
          <p:cNvPicPr>
            <a:picLocks noChangeAspect="1"/>
          </p:cNvPicPr>
          <p:nvPr/>
        </p:nvPicPr>
        <p:blipFill>
          <a:blip r:embed="rId3"/>
          <a:stretch>
            <a:fillRect/>
          </a:stretch>
        </p:blipFill>
        <p:spPr>
          <a:xfrm>
            <a:off x="5697076" y="790922"/>
            <a:ext cx="5125165" cy="3591426"/>
          </a:xfrm>
          <a:prstGeom prst="rect">
            <a:avLst/>
          </a:prstGeom>
          <a:ln>
            <a:noFill/>
          </a:ln>
          <a:effectLst>
            <a:outerShdw blurRad="190500" algn="tl" rotWithShape="0">
              <a:srgbClr val="000000">
                <a:alpha val="70000"/>
              </a:srgbClr>
            </a:outerShdw>
          </a:effectLst>
        </p:spPr>
      </p:pic>
      <p:pic>
        <p:nvPicPr>
          <p:cNvPr id="10" name="Image 9">
            <a:extLst>
              <a:ext uri="{FF2B5EF4-FFF2-40B4-BE49-F238E27FC236}">
                <a16:creationId xmlns:a16="http://schemas.microsoft.com/office/drawing/2014/main" id="{B8C63449-33FF-952F-3EEB-3CE229BF96AC}"/>
              </a:ext>
            </a:extLst>
          </p:cNvPr>
          <p:cNvPicPr>
            <a:picLocks noChangeAspect="1"/>
          </p:cNvPicPr>
          <p:nvPr/>
        </p:nvPicPr>
        <p:blipFill>
          <a:blip r:embed="rId4"/>
          <a:stretch>
            <a:fillRect/>
          </a:stretch>
        </p:blipFill>
        <p:spPr>
          <a:xfrm>
            <a:off x="5997155" y="4691627"/>
            <a:ext cx="4525006" cy="14670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62610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4F060-7373-1D2E-2A9B-A49EC9E28C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FF855A-4BAE-C9BB-BA47-9468BE94836F}"/>
              </a:ext>
            </a:extLst>
          </p:cNvPr>
          <p:cNvSpPr txBox="1"/>
          <p:nvPr/>
        </p:nvSpPr>
        <p:spPr>
          <a:xfrm>
            <a:off x="640080" y="411480"/>
            <a:ext cx="4179093" cy="523220"/>
          </a:xfrm>
          <a:prstGeom prst="rect">
            <a:avLst/>
          </a:prstGeom>
          <a:noFill/>
        </p:spPr>
        <p:txBody>
          <a:bodyPr wrap="none">
            <a:spAutoFit/>
          </a:bodyPr>
          <a:lstStyle/>
          <a:p>
            <a:r>
              <a:rPr lang="fr-FR" sz="2800" b="1" noProof="0" dirty="0">
                <a:solidFill>
                  <a:srgbClr val="2C2522"/>
                </a:solidFill>
                <a:latin typeface="Aptos Display"/>
              </a:rPr>
              <a:t>Sécurité et Confidentialité</a:t>
            </a:r>
          </a:p>
        </p:txBody>
      </p:sp>
      <p:sp>
        <p:nvSpPr>
          <p:cNvPr id="6" name="Rounded Rectangle 5">
            <a:extLst>
              <a:ext uri="{FF2B5EF4-FFF2-40B4-BE49-F238E27FC236}">
                <a16:creationId xmlns:a16="http://schemas.microsoft.com/office/drawing/2014/main" id="{9E88B9B5-6FF6-03D8-5675-8958F42C5042}"/>
              </a:ext>
            </a:extLst>
          </p:cNvPr>
          <p:cNvSpPr/>
          <p:nvPr/>
        </p:nvSpPr>
        <p:spPr>
          <a:xfrm>
            <a:off x="513528" y="1374096"/>
            <a:ext cx="3056728" cy="2760688"/>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PROTECTION DES LOGOS DE DEVIS</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Fichiers contrôlés : PNG, JPEG, </a:t>
            </a:r>
            <a:r>
              <a:rPr kumimoji="0" lang="fr-FR" sz="1600" b="0" i="0" u="none" strike="noStrike" kern="1200" cap="none" spc="0" normalizeH="0" baseline="0" noProof="0" dirty="0" err="1">
                <a:ln>
                  <a:noFill/>
                </a:ln>
                <a:solidFill>
                  <a:srgbClr val="2C2522"/>
                </a:solidFill>
                <a:effectLst/>
                <a:uLnTx/>
                <a:uFillTx/>
                <a:latin typeface="Calibri"/>
                <a:ea typeface="+mn-ea"/>
                <a:cs typeface="+mn-cs"/>
              </a:rPr>
              <a:t>WebP</a:t>
            </a:r>
            <a:r>
              <a:rPr kumimoji="0" lang="fr-FR" sz="1600" b="0" i="0" u="none" strike="noStrike" kern="1200" cap="none" spc="0" normalizeH="0" baseline="0" noProof="0" dirty="0">
                <a:ln>
                  <a:noFill/>
                </a:ln>
                <a:solidFill>
                  <a:srgbClr val="2C2522"/>
                </a:solidFill>
                <a:effectLst/>
                <a:uLnTx/>
                <a:uFillTx/>
                <a:latin typeface="Calibri"/>
                <a:ea typeface="+mn-ea"/>
                <a:cs typeface="+mn-cs"/>
              </a:rPr>
              <a:t>, maximum 15 Mo</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Stockage privé avec un nom généré par l’application</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Téléchargement réservé à l’administration</a:t>
            </a:r>
          </a:p>
        </p:txBody>
      </p:sp>
      <p:sp>
        <p:nvSpPr>
          <p:cNvPr id="4" name="Espace réservé du numéro de diapositive 3">
            <a:extLst>
              <a:ext uri="{FF2B5EF4-FFF2-40B4-BE49-F238E27FC236}">
                <a16:creationId xmlns:a16="http://schemas.microsoft.com/office/drawing/2014/main" id="{6860403C-304A-97AD-D982-335FFF456FEF}"/>
              </a:ext>
            </a:extLst>
          </p:cNvPr>
          <p:cNvSpPr>
            <a:spLocks noGrp="1"/>
          </p:cNvSpPr>
          <p:nvPr>
            <p:ph type="sldNum" sz="quarter" idx="12"/>
          </p:nvPr>
        </p:nvSpPr>
        <p:spPr/>
        <p:txBody>
          <a:bodyPr/>
          <a:lstStyle/>
          <a:p>
            <a:fld id="{C1FF6DA9-008F-8B48-92A6-B652298478BF}" type="slidenum">
              <a:rPr lang="fr-FR" noProof="0" smtClean="0"/>
              <a:t>22</a:t>
            </a:fld>
            <a:endParaRPr lang="fr-FR" noProof="0" dirty="0"/>
          </a:p>
        </p:txBody>
      </p:sp>
      <p:pic>
        <p:nvPicPr>
          <p:cNvPr id="5" name="Image 4">
            <a:extLst>
              <a:ext uri="{FF2B5EF4-FFF2-40B4-BE49-F238E27FC236}">
                <a16:creationId xmlns:a16="http://schemas.microsoft.com/office/drawing/2014/main" id="{5F58DF51-E08F-5F9B-E2D7-34974D6574B4}"/>
              </a:ext>
            </a:extLst>
          </p:cNvPr>
          <p:cNvPicPr>
            <a:picLocks noChangeAspect="1"/>
          </p:cNvPicPr>
          <p:nvPr/>
        </p:nvPicPr>
        <p:blipFill>
          <a:blip r:embed="rId3"/>
          <a:stretch>
            <a:fillRect/>
          </a:stretch>
        </p:blipFill>
        <p:spPr>
          <a:xfrm>
            <a:off x="3803468" y="934700"/>
            <a:ext cx="7991529" cy="5377200"/>
          </a:xfrm>
          <a:prstGeom prst="rect">
            <a:avLst/>
          </a:prstGeom>
          <a:ln>
            <a:noFill/>
          </a:ln>
          <a:effectLst>
            <a:outerShdw blurRad="190500" algn="tl" rotWithShape="0">
              <a:srgbClr val="000000">
                <a:alpha val="70000"/>
              </a:srgbClr>
            </a:outerShdw>
          </a:effectLst>
        </p:spPr>
      </p:pic>
      <p:sp>
        <p:nvSpPr>
          <p:cNvPr id="9" name="Rounded Rectangle 5">
            <a:extLst>
              <a:ext uri="{FF2B5EF4-FFF2-40B4-BE49-F238E27FC236}">
                <a16:creationId xmlns:a16="http://schemas.microsoft.com/office/drawing/2014/main" id="{1AC69474-6678-6AD1-05EE-C389AAB7CD9C}"/>
              </a:ext>
            </a:extLst>
          </p:cNvPr>
          <p:cNvSpPr/>
          <p:nvPr/>
        </p:nvSpPr>
        <p:spPr>
          <a:xfrm>
            <a:off x="397004" y="4614700"/>
            <a:ext cx="3258844" cy="128892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VEILLE SÉCURITÉ</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lang="fr-FR" sz="1600" noProof="0" dirty="0">
                <a:solidFill>
                  <a:srgbClr val="2C2522"/>
                </a:solidFill>
                <a:latin typeface="Calibri"/>
              </a:rPr>
              <a:t>OWASP File </a:t>
            </a:r>
            <a:r>
              <a:rPr lang="fr-FR" sz="1600" noProof="0" dirty="0" err="1">
                <a:solidFill>
                  <a:srgbClr val="2C2522"/>
                </a:solidFill>
                <a:latin typeface="Calibri"/>
              </a:rPr>
              <a:t>Upload</a:t>
            </a:r>
            <a:r>
              <a:rPr lang="fr-FR" sz="1600" noProof="0" dirty="0">
                <a:solidFill>
                  <a:srgbClr val="2C2522"/>
                </a:solidFill>
                <a:latin typeface="Calibri"/>
              </a:rPr>
              <a:t> </a:t>
            </a:r>
            <a:r>
              <a:rPr lang="fr-FR" sz="1600" noProof="0" dirty="0" err="1">
                <a:solidFill>
                  <a:srgbClr val="2C2522"/>
                </a:solidFill>
                <a:latin typeface="Calibri"/>
              </a:rPr>
              <a:t>Cheat</a:t>
            </a:r>
            <a:r>
              <a:rPr lang="fr-FR" sz="1600" noProof="0" dirty="0">
                <a:solidFill>
                  <a:srgbClr val="2C2522"/>
                </a:solidFill>
                <a:latin typeface="Calibri"/>
              </a:rPr>
              <a:t> </a:t>
            </a:r>
            <a:r>
              <a:rPr lang="fr-FR" sz="1600" noProof="0" dirty="0" err="1">
                <a:solidFill>
                  <a:srgbClr val="2C2522"/>
                </a:solidFill>
                <a:latin typeface="Calibri"/>
              </a:rPr>
              <a:t>Sheet</a:t>
            </a:r>
            <a:r>
              <a:rPr lang="fr-FR" sz="1600" noProof="0" dirty="0">
                <a:solidFill>
                  <a:srgbClr val="2C2522"/>
                </a:solidFill>
                <a:latin typeface="Calibri"/>
              </a:rPr>
              <a:t> — contrôle des fichiers et stockage hors du dossier public</a:t>
            </a:r>
            <a:endParaRPr lang="fr-FR" noProof="0" dirty="0"/>
          </a:p>
        </p:txBody>
      </p:sp>
    </p:spTree>
    <p:extLst>
      <p:ext uri="{BB962C8B-B14F-4D97-AF65-F5344CB8AC3E}">
        <p14:creationId xmlns:p14="http://schemas.microsoft.com/office/powerpoint/2010/main" val="319571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10972800" cy="594360"/>
          </a:xfrm>
          <a:prstGeom prst="rect">
            <a:avLst/>
          </a:prstGeom>
          <a:noFill/>
        </p:spPr>
        <p:txBody>
          <a:bodyPr wrap="none">
            <a:spAutoFit/>
          </a:bodyPr>
          <a:lstStyle/>
          <a:p>
            <a:r>
              <a:rPr lang="fr-FR" sz="2800" b="1" noProof="0" dirty="0">
                <a:solidFill>
                  <a:srgbClr val="2C2522"/>
                </a:solidFill>
                <a:latin typeface="Aptos Display"/>
              </a:rPr>
              <a:t>Démonstration</a:t>
            </a:r>
          </a:p>
        </p:txBody>
      </p:sp>
      <p:sp>
        <p:nvSpPr>
          <p:cNvPr id="5" name="Rounded Rectangle 4"/>
          <p:cNvSpPr/>
          <p:nvPr/>
        </p:nvSpPr>
        <p:spPr>
          <a:xfrm>
            <a:off x="685800" y="1641565"/>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1. Accueil</a:t>
            </a:r>
          </a:p>
        </p:txBody>
      </p:sp>
      <p:sp>
        <p:nvSpPr>
          <p:cNvPr id="7" name="Rounded Rectangle 6"/>
          <p:cNvSpPr/>
          <p:nvPr/>
        </p:nvSpPr>
        <p:spPr>
          <a:xfrm>
            <a:off x="3474720" y="1641565"/>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2. Produits / catégories</a:t>
            </a:r>
          </a:p>
        </p:txBody>
      </p:sp>
      <p:sp>
        <p:nvSpPr>
          <p:cNvPr id="9" name="Rounded Rectangle 8"/>
          <p:cNvSpPr/>
          <p:nvPr/>
        </p:nvSpPr>
        <p:spPr>
          <a:xfrm>
            <a:off x="6263640" y="1641565"/>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3. Détail produit</a:t>
            </a:r>
          </a:p>
        </p:txBody>
      </p:sp>
      <p:sp>
        <p:nvSpPr>
          <p:cNvPr id="11" name="Rounded Rectangle 10"/>
          <p:cNvSpPr/>
          <p:nvPr/>
        </p:nvSpPr>
        <p:spPr>
          <a:xfrm>
            <a:off x="9052559" y="1641565"/>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4. Demande de devis</a:t>
            </a:r>
          </a:p>
        </p:txBody>
      </p:sp>
      <p:sp>
        <p:nvSpPr>
          <p:cNvPr id="13" name="Rounded Rectangle 12"/>
          <p:cNvSpPr/>
          <p:nvPr/>
        </p:nvSpPr>
        <p:spPr>
          <a:xfrm>
            <a:off x="685800" y="3717109"/>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5. Avis</a:t>
            </a:r>
          </a:p>
        </p:txBody>
      </p:sp>
      <p:sp>
        <p:nvSpPr>
          <p:cNvPr id="15" name="Rounded Rectangle 14"/>
          <p:cNvSpPr/>
          <p:nvPr/>
        </p:nvSpPr>
        <p:spPr>
          <a:xfrm>
            <a:off x="3474720" y="3717109"/>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6. Connexion</a:t>
            </a:r>
          </a:p>
        </p:txBody>
      </p:sp>
      <p:sp>
        <p:nvSpPr>
          <p:cNvPr id="17" name="Rounded Rectangle 16"/>
          <p:cNvSpPr/>
          <p:nvPr/>
        </p:nvSpPr>
        <p:spPr>
          <a:xfrm>
            <a:off x="6263640" y="3717109"/>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7. Administration</a:t>
            </a:r>
          </a:p>
        </p:txBody>
      </p:sp>
      <p:sp>
        <p:nvSpPr>
          <p:cNvPr id="22" name="Rounded Rectangle 16">
            <a:extLst>
              <a:ext uri="{FF2B5EF4-FFF2-40B4-BE49-F238E27FC236}">
                <a16:creationId xmlns:a16="http://schemas.microsoft.com/office/drawing/2014/main" id="{71DC1511-7701-FA73-F28E-10BB6028FB6E}"/>
              </a:ext>
            </a:extLst>
          </p:cNvPr>
          <p:cNvSpPr/>
          <p:nvPr/>
        </p:nvSpPr>
        <p:spPr>
          <a:xfrm>
            <a:off x="9052559" y="3717109"/>
            <a:ext cx="2514600" cy="106883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noProof="0" dirty="0">
                <a:solidFill>
                  <a:schemeClr val="accent6">
                    <a:lumMod val="50000"/>
                  </a:schemeClr>
                </a:solidFill>
              </a:rPr>
              <a:t>8. Responsive</a:t>
            </a:r>
          </a:p>
        </p:txBody>
      </p:sp>
      <p:sp>
        <p:nvSpPr>
          <p:cNvPr id="4" name="Espace réservé du numéro de diapositive 3">
            <a:extLst>
              <a:ext uri="{FF2B5EF4-FFF2-40B4-BE49-F238E27FC236}">
                <a16:creationId xmlns:a16="http://schemas.microsoft.com/office/drawing/2014/main" id="{FBFD72F4-8BB5-6E6D-C4B4-4E968818F867}"/>
              </a:ext>
            </a:extLst>
          </p:cNvPr>
          <p:cNvSpPr>
            <a:spLocks noGrp="1"/>
          </p:cNvSpPr>
          <p:nvPr>
            <p:ph type="sldNum" sz="quarter" idx="12"/>
          </p:nvPr>
        </p:nvSpPr>
        <p:spPr/>
        <p:txBody>
          <a:bodyPr/>
          <a:lstStyle/>
          <a:p>
            <a:fld id="{C1FF6DA9-008F-8B48-92A6-B652298478BF}" type="slidenum">
              <a:rPr lang="fr-FR" noProof="0" smtClean="0"/>
              <a:t>23</a:t>
            </a:fld>
            <a:endParaRPr lang="fr-FR"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097A0-1285-0795-BA31-E8F3E4523F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CAC254-0CB2-13D0-5282-DB6DBA08FE63}"/>
              </a:ext>
            </a:extLst>
          </p:cNvPr>
          <p:cNvSpPr txBox="1"/>
          <p:nvPr/>
        </p:nvSpPr>
        <p:spPr>
          <a:xfrm>
            <a:off x="640080" y="411480"/>
            <a:ext cx="3341171" cy="523220"/>
          </a:xfrm>
          <a:prstGeom prst="rect">
            <a:avLst/>
          </a:prstGeom>
          <a:noFill/>
        </p:spPr>
        <p:txBody>
          <a:bodyPr wrap="none">
            <a:spAutoFit/>
          </a:bodyPr>
          <a:lstStyle/>
          <a:p>
            <a:r>
              <a:rPr lang="fr-FR" sz="2800" b="1" noProof="0" dirty="0">
                <a:solidFill>
                  <a:srgbClr val="2C2522"/>
                </a:solidFill>
                <a:latin typeface="Aptos Display"/>
              </a:rPr>
              <a:t>Tests et Vérifications</a:t>
            </a:r>
          </a:p>
        </p:txBody>
      </p:sp>
      <p:sp>
        <p:nvSpPr>
          <p:cNvPr id="6" name="Rounded Rectangle 5">
            <a:extLst>
              <a:ext uri="{FF2B5EF4-FFF2-40B4-BE49-F238E27FC236}">
                <a16:creationId xmlns:a16="http://schemas.microsoft.com/office/drawing/2014/main" id="{16E0BC60-5D7F-2CBF-57B7-240C37361D20}"/>
              </a:ext>
            </a:extLst>
          </p:cNvPr>
          <p:cNvSpPr/>
          <p:nvPr/>
        </p:nvSpPr>
        <p:spPr>
          <a:xfrm>
            <a:off x="740182" y="2269236"/>
            <a:ext cx="2248987" cy="2319527"/>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Tests</a:t>
            </a:r>
            <a:endParaRPr kumimoji="0" lang="fr-FR" sz="1600" b="1" i="0" u="none" strike="noStrike" kern="1200" cap="none" spc="0" normalizeH="0" baseline="0" noProof="0" dirty="0">
              <a:ln>
                <a:noFill/>
              </a:ln>
              <a:solidFill>
                <a:srgbClr val="F79646">
                  <a:lumMod val="50000"/>
                </a:srgbClr>
              </a:solidFill>
              <a:effectLst/>
              <a:uLnTx/>
              <a:uFillTx/>
              <a:latin typeface="Calibri"/>
              <a:ea typeface="+mn-ea"/>
              <a:cs typeface="+mn-cs"/>
            </a:endParaRP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kumimoji="0" lang="fr-FR" sz="1600" b="1" i="0" u="none" strike="noStrike" kern="1200" cap="none" spc="0" normalizeH="0" baseline="0" noProof="0" dirty="0">
                <a:ln>
                  <a:noFill/>
                </a:ln>
                <a:solidFill>
                  <a:srgbClr val="2C2522"/>
                </a:solidFill>
                <a:effectLst/>
                <a:uLnTx/>
                <a:uFillTx/>
                <a:latin typeface="Calibri"/>
                <a:ea typeface="+mn-ea"/>
                <a:cs typeface="+mn-cs"/>
              </a:rPr>
              <a:t>Tests manuels</a:t>
            </a:r>
          </a:p>
          <a:p>
            <a:pPr marL="0" marR="0" lvl="0" indent="0" algn="l" defTabSz="457200" rtl="0" eaLnBrk="1" fontAlgn="auto" latinLnBrk="0" hangingPunct="1">
              <a:lnSpc>
                <a:spcPct val="100000"/>
              </a:lnSpc>
              <a:spcBef>
                <a:spcPts val="700"/>
              </a:spcBef>
              <a:spcAft>
                <a:spcPts val="0"/>
              </a:spcAft>
              <a:buClrTx/>
              <a:buSzTx/>
              <a:buFontTx/>
              <a:buNone/>
              <a:tabLst/>
              <a:defRPr sz="1200">
                <a:solidFill>
                  <a:srgbClr val="2C2522"/>
                </a:solidFill>
              </a:defRPr>
            </a:pPr>
            <a:r>
              <a:rPr lang="fr-FR" sz="1600" b="1" noProof="0" dirty="0">
                <a:solidFill>
                  <a:srgbClr val="2C2522"/>
                </a:solidFill>
                <a:latin typeface="Calibri"/>
              </a:rPr>
              <a:t>Tests automatisés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err="1">
                <a:ln>
                  <a:noFill/>
                </a:ln>
                <a:solidFill>
                  <a:srgbClr val="2C2522"/>
                </a:solidFill>
                <a:effectLst/>
                <a:uLnTx/>
                <a:uFillTx/>
                <a:latin typeface="Calibri"/>
                <a:ea typeface="+mn-ea"/>
                <a:cs typeface="+mn-cs"/>
              </a:rPr>
              <a:t>PHPUnit</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Doctrine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Twig</a:t>
            </a:r>
          </a:p>
          <a:p>
            <a:pPr algn="ctr"/>
            <a:endParaRPr lang="fr-FR" noProof="0" dirty="0"/>
          </a:p>
        </p:txBody>
      </p:sp>
      <p:sp>
        <p:nvSpPr>
          <p:cNvPr id="4" name="Espace réservé du numéro de diapositive 3">
            <a:extLst>
              <a:ext uri="{FF2B5EF4-FFF2-40B4-BE49-F238E27FC236}">
                <a16:creationId xmlns:a16="http://schemas.microsoft.com/office/drawing/2014/main" id="{63DEA152-EEAC-D11C-9DD7-171DB46BC4F1}"/>
              </a:ext>
            </a:extLst>
          </p:cNvPr>
          <p:cNvSpPr>
            <a:spLocks noGrp="1"/>
          </p:cNvSpPr>
          <p:nvPr>
            <p:ph type="sldNum" sz="quarter" idx="12"/>
          </p:nvPr>
        </p:nvSpPr>
        <p:spPr/>
        <p:txBody>
          <a:bodyPr/>
          <a:lstStyle/>
          <a:p>
            <a:fld id="{C1FF6DA9-008F-8B48-92A6-B652298478BF}" type="slidenum">
              <a:rPr lang="fr-FR" noProof="0" smtClean="0"/>
              <a:t>24</a:t>
            </a:fld>
            <a:endParaRPr lang="fr-FR" noProof="0" dirty="0"/>
          </a:p>
        </p:txBody>
      </p:sp>
      <p:pic>
        <p:nvPicPr>
          <p:cNvPr id="7" name="Image 6">
            <a:extLst>
              <a:ext uri="{FF2B5EF4-FFF2-40B4-BE49-F238E27FC236}">
                <a16:creationId xmlns:a16="http://schemas.microsoft.com/office/drawing/2014/main" id="{ABD056B2-7869-1057-94BD-A3648BB02823}"/>
              </a:ext>
            </a:extLst>
          </p:cNvPr>
          <p:cNvPicPr>
            <a:picLocks noChangeAspect="1"/>
          </p:cNvPicPr>
          <p:nvPr/>
        </p:nvPicPr>
        <p:blipFill>
          <a:blip r:embed="rId3"/>
          <a:stretch>
            <a:fillRect/>
          </a:stretch>
        </p:blipFill>
        <p:spPr>
          <a:xfrm>
            <a:off x="4101400" y="3220956"/>
            <a:ext cx="6870045" cy="2832464"/>
          </a:xfrm>
          <a:prstGeom prst="rect">
            <a:avLst/>
          </a:prstGeom>
          <a:ln>
            <a:noFill/>
          </a:ln>
          <a:effectLst>
            <a:outerShdw blurRad="190500" algn="tl" rotWithShape="0">
              <a:srgbClr val="000000">
                <a:alpha val="70000"/>
              </a:srgbClr>
            </a:outerShdw>
          </a:effectLst>
        </p:spPr>
      </p:pic>
      <p:graphicFrame>
        <p:nvGraphicFramePr>
          <p:cNvPr id="2" name="Tableau 1">
            <a:extLst>
              <a:ext uri="{FF2B5EF4-FFF2-40B4-BE49-F238E27FC236}">
                <a16:creationId xmlns:a16="http://schemas.microsoft.com/office/drawing/2014/main" id="{BEAEA293-8264-6CBA-1F1A-1A42AD043405}"/>
              </a:ext>
            </a:extLst>
          </p:cNvPr>
          <p:cNvGraphicFramePr>
            <a:graphicFrameLocks noGrp="1"/>
          </p:cNvGraphicFramePr>
          <p:nvPr>
            <p:extLst>
              <p:ext uri="{D42A27DB-BD31-4B8C-83A1-F6EECF244321}">
                <p14:modId xmlns:p14="http://schemas.microsoft.com/office/powerpoint/2010/main" val="1720103727"/>
              </p:ext>
            </p:extLst>
          </p:nvPr>
        </p:nvGraphicFramePr>
        <p:xfrm>
          <a:off x="3814829" y="1479116"/>
          <a:ext cx="7443189" cy="1483360"/>
        </p:xfrm>
        <a:graphic>
          <a:graphicData uri="http://schemas.openxmlformats.org/drawingml/2006/table">
            <a:tbl>
              <a:tblPr firstRow="1" bandRow="1">
                <a:tableStyleId>{68D230F3-CF80-4859-8CE7-A43EE81993B5}</a:tableStyleId>
              </a:tblPr>
              <a:tblGrid>
                <a:gridCol w="3306436">
                  <a:extLst>
                    <a:ext uri="{9D8B030D-6E8A-4147-A177-3AD203B41FA5}">
                      <a16:colId xmlns:a16="http://schemas.microsoft.com/office/drawing/2014/main" val="4087213748"/>
                    </a:ext>
                  </a:extLst>
                </a:gridCol>
                <a:gridCol w="1988823">
                  <a:extLst>
                    <a:ext uri="{9D8B030D-6E8A-4147-A177-3AD203B41FA5}">
                      <a16:colId xmlns:a16="http://schemas.microsoft.com/office/drawing/2014/main" val="864926801"/>
                    </a:ext>
                  </a:extLst>
                </a:gridCol>
                <a:gridCol w="2147930">
                  <a:extLst>
                    <a:ext uri="{9D8B030D-6E8A-4147-A177-3AD203B41FA5}">
                      <a16:colId xmlns:a16="http://schemas.microsoft.com/office/drawing/2014/main" val="1108846446"/>
                    </a:ext>
                  </a:extLst>
                </a:gridCol>
              </a:tblGrid>
              <a:tr h="370840">
                <a:tc>
                  <a:txBody>
                    <a:bodyPr/>
                    <a:lstStyle/>
                    <a:p>
                      <a:r>
                        <a:rPr lang="fr-FR" noProof="0" dirty="0"/>
                        <a:t>Données d’entrée</a:t>
                      </a:r>
                    </a:p>
                  </a:txBody>
                  <a:tcPr/>
                </a:tc>
                <a:tc>
                  <a:txBody>
                    <a:bodyPr/>
                    <a:lstStyle/>
                    <a:p>
                      <a:r>
                        <a:rPr lang="fr-FR" noProof="0" dirty="0"/>
                        <a:t>Résultat attendu</a:t>
                      </a:r>
                    </a:p>
                  </a:txBody>
                  <a:tcPr/>
                </a:tc>
                <a:tc>
                  <a:txBody>
                    <a:bodyPr/>
                    <a:lstStyle/>
                    <a:p>
                      <a:r>
                        <a:rPr lang="fr-FR" noProof="0" dirty="0"/>
                        <a:t>Résultat obtenu</a:t>
                      </a:r>
                    </a:p>
                  </a:txBody>
                  <a:tcPr/>
                </a:tc>
                <a:extLst>
                  <a:ext uri="{0D108BD9-81ED-4DB2-BD59-A6C34878D82A}">
                    <a16:rowId xmlns:a16="http://schemas.microsoft.com/office/drawing/2014/main" val="1586382461"/>
                  </a:ext>
                </a:extLst>
              </a:tr>
              <a:tr h="370840">
                <a:tc>
                  <a:txBody>
                    <a:bodyPr/>
                    <a:lstStyle/>
                    <a:p>
                      <a:r>
                        <a:rPr lang="fr-FR" noProof="0" dirty="0"/>
                        <a:t>Demande valide, quantité = 12</a:t>
                      </a:r>
                    </a:p>
                  </a:txBody>
                  <a:tcPr/>
                </a:tc>
                <a:tc>
                  <a:txBody>
                    <a:bodyPr/>
                    <a:lstStyle/>
                    <a:p>
                      <a:r>
                        <a:rPr lang="fr-FR" noProof="0" dirty="0"/>
                        <a:t>Formulaire valide</a:t>
                      </a:r>
                    </a:p>
                  </a:txBody>
                  <a:tcPr/>
                </a:tc>
                <a:tc>
                  <a:txBody>
                    <a:bodyPr/>
                    <a:lstStyle/>
                    <a:p>
                      <a:r>
                        <a:rPr lang="fr-FR" noProof="0" dirty="0"/>
                        <a:t>Valide</a:t>
                      </a:r>
                    </a:p>
                  </a:txBody>
                  <a:tcPr/>
                </a:tc>
                <a:extLst>
                  <a:ext uri="{0D108BD9-81ED-4DB2-BD59-A6C34878D82A}">
                    <a16:rowId xmlns:a16="http://schemas.microsoft.com/office/drawing/2014/main" val="3486868969"/>
                  </a:ext>
                </a:extLst>
              </a:tr>
              <a:tr h="370840">
                <a:tc>
                  <a:txBody>
                    <a:bodyPr/>
                    <a:lstStyle/>
                    <a:p>
                      <a:r>
                        <a:rPr lang="fr-FR" noProof="0" dirty="0"/>
                        <a:t>Même demande, quantité = 0</a:t>
                      </a:r>
                    </a:p>
                  </a:txBody>
                  <a:tcPr/>
                </a:tc>
                <a:tc>
                  <a:txBody>
                    <a:bodyPr/>
                    <a:lstStyle/>
                    <a:p>
                      <a:r>
                        <a:rPr lang="fr-FR" noProof="0" dirty="0"/>
                        <a:t>Formulaire invalide</a:t>
                      </a:r>
                    </a:p>
                  </a:txBody>
                  <a:tcPr/>
                </a:tc>
                <a:tc>
                  <a:txBody>
                    <a:bodyPr/>
                    <a:lstStyle/>
                    <a:p>
                      <a:r>
                        <a:rPr lang="fr-FR" noProof="0" dirty="0"/>
                        <a:t>Invalide</a:t>
                      </a:r>
                    </a:p>
                  </a:txBody>
                  <a:tcPr/>
                </a:tc>
                <a:extLst>
                  <a:ext uri="{0D108BD9-81ED-4DB2-BD59-A6C34878D82A}">
                    <a16:rowId xmlns:a16="http://schemas.microsoft.com/office/drawing/2014/main" val="2551446475"/>
                  </a:ext>
                </a:extLst>
              </a:tr>
              <a:tr h="370840">
                <a:tc>
                  <a:txBody>
                    <a:bodyPr/>
                    <a:lstStyle/>
                    <a:p>
                      <a:r>
                        <a:rPr lang="fr-FR" noProof="0" dirty="0"/>
                        <a:t>Même demande, e-mail incorrect</a:t>
                      </a:r>
                    </a:p>
                  </a:txBody>
                  <a:tcPr/>
                </a:tc>
                <a:tc>
                  <a:txBody>
                    <a:bodyPr/>
                    <a:lstStyle/>
                    <a:p>
                      <a:r>
                        <a:rPr lang="fr-FR" noProof="0" dirty="0"/>
                        <a:t>Formulaire invalide</a:t>
                      </a:r>
                    </a:p>
                  </a:txBody>
                  <a:tcPr/>
                </a:tc>
                <a:tc>
                  <a:txBody>
                    <a:bodyPr/>
                    <a:lstStyle/>
                    <a:p>
                      <a:r>
                        <a:rPr lang="fr-FR" noProof="0" dirty="0"/>
                        <a:t>Invalide</a:t>
                      </a:r>
                    </a:p>
                  </a:txBody>
                  <a:tcPr/>
                </a:tc>
                <a:extLst>
                  <a:ext uri="{0D108BD9-81ED-4DB2-BD59-A6C34878D82A}">
                    <a16:rowId xmlns:a16="http://schemas.microsoft.com/office/drawing/2014/main" val="650935378"/>
                  </a:ext>
                </a:extLst>
              </a:tr>
            </a:tbl>
          </a:graphicData>
        </a:graphic>
      </p:graphicFrame>
    </p:spTree>
    <p:extLst>
      <p:ext uri="{BB962C8B-B14F-4D97-AF65-F5344CB8AC3E}">
        <p14:creationId xmlns:p14="http://schemas.microsoft.com/office/powerpoint/2010/main" val="3798630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5622693" cy="523220"/>
          </a:xfrm>
          <a:prstGeom prst="rect">
            <a:avLst/>
          </a:prstGeom>
          <a:noFill/>
        </p:spPr>
        <p:txBody>
          <a:bodyPr wrap="none">
            <a:spAutoFit/>
          </a:bodyPr>
          <a:lstStyle/>
          <a:p>
            <a:r>
              <a:rPr lang="fr-FR" sz="2800" b="1" noProof="0" dirty="0">
                <a:solidFill>
                  <a:srgbClr val="2C2522"/>
                </a:solidFill>
                <a:latin typeface="Aptos Display"/>
              </a:rPr>
              <a:t>Difficultés rencontrées et solutions</a:t>
            </a:r>
          </a:p>
        </p:txBody>
      </p:sp>
      <p:sp>
        <p:nvSpPr>
          <p:cNvPr id="4" name="Espace réservé du numéro de diapositive 3">
            <a:extLst>
              <a:ext uri="{FF2B5EF4-FFF2-40B4-BE49-F238E27FC236}">
                <a16:creationId xmlns:a16="http://schemas.microsoft.com/office/drawing/2014/main" id="{D671A0EF-9FA1-BA87-6EA9-26946CDA6569}"/>
              </a:ext>
            </a:extLst>
          </p:cNvPr>
          <p:cNvSpPr>
            <a:spLocks noGrp="1"/>
          </p:cNvSpPr>
          <p:nvPr>
            <p:ph type="sldNum" sz="quarter" idx="12"/>
          </p:nvPr>
        </p:nvSpPr>
        <p:spPr/>
        <p:txBody>
          <a:bodyPr/>
          <a:lstStyle/>
          <a:p>
            <a:fld id="{C1FF6DA9-008F-8B48-92A6-B652298478BF}" type="slidenum">
              <a:rPr lang="fr-FR" noProof="0" smtClean="0"/>
              <a:t>25</a:t>
            </a:fld>
            <a:endParaRPr lang="fr-FR" noProof="0" dirty="0"/>
          </a:p>
        </p:txBody>
      </p:sp>
      <p:graphicFrame>
        <p:nvGraphicFramePr>
          <p:cNvPr id="5" name="Tableau 4">
            <a:extLst>
              <a:ext uri="{FF2B5EF4-FFF2-40B4-BE49-F238E27FC236}">
                <a16:creationId xmlns:a16="http://schemas.microsoft.com/office/drawing/2014/main" id="{A48D7D08-5F3F-728A-3992-F25D73A7CF6E}"/>
              </a:ext>
            </a:extLst>
          </p:cNvPr>
          <p:cNvGraphicFramePr>
            <a:graphicFrameLocks noGrp="1"/>
          </p:cNvGraphicFramePr>
          <p:nvPr>
            <p:extLst>
              <p:ext uri="{D42A27DB-BD31-4B8C-83A1-F6EECF244321}">
                <p14:modId xmlns:p14="http://schemas.microsoft.com/office/powerpoint/2010/main" val="3215625649"/>
              </p:ext>
            </p:extLst>
          </p:nvPr>
        </p:nvGraphicFramePr>
        <p:xfrm>
          <a:off x="914397" y="1937289"/>
          <a:ext cx="10569844" cy="3205416"/>
        </p:xfrm>
        <a:graphic>
          <a:graphicData uri="http://schemas.openxmlformats.org/drawingml/2006/table">
            <a:tbl>
              <a:tblPr firstRow="1" bandRow="1">
                <a:tableStyleId>{68D230F3-CF80-4859-8CE7-A43EE81993B5}</a:tableStyleId>
              </a:tblPr>
              <a:tblGrid>
                <a:gridCol w="4339525">
                  <a:extLst>
                    <a:ext uri="{9D8B030D-6E8A-4147-A177-3AD203B41FA5}">
                      <a16:colId xmlns:a16="http://schemas.microsoft.com/office/drawing/2014/main" val="4087213748"/>
                    </a:ext>
                  </a:extLst>
                </a:gridCol>
                <a:gridCol w="6230319">
                  <a:extLst>
                    <a:ext uri="{9D8B030D-6E8A-4147-A177-3AD203B41FA5}">
                      <a16:colId xmlns:a16="http://schemas.microsoft.com/office/drawing/2014/main" val="864926801"/>
                    </a:ext>
                  </a:extLst>
                </a:gridCol>
              </a:tblGrid>
              <a:tr h="648989">
                <a:tc>
                  <a:txBody>
                    <a:bodyPr/>
                    <a:lstStyle/>
                    <a:p>
                      <a:r>
                        <a:rPr lang="fr-FR" noProof="0" dirty="0"/>
                        <a:t>Difficulté</a:t>
                      </a:r>
                    </a:p>
                  </a:txBody>
                  <a:tcPr anchor="ctr"/>
                </a:tc>
                <a:tc>
                  <a:txBody>
                    <a:bodyPr/>
                    <a:lstStyle/>
                    <a:p>
                      <a:r>
                        <a:rPr lang="fr-FR" noProof="0" dirty="0"/>
                        <a:t>Solution apportée</a:t>
                      </a:r>
                    </a:p>
                  </a:txBody>
                  <a:tcPr anchor="ctr"/>
                </a:tc>
                <a:extLst>
                  <a:ext uri="{0D108BD9-81ED-4DB2-BD59-A6C34878D82A}">
                    <a16:rowId xmlns:a16="http://schemas.microsoft.com/office/drawing/2014/main" val="1586382461"/>
                  </a:ext>
                </a:extLst>
              </a:tr>
              <a:tr h="714861">
                <a:tc>
                  <a:txBody>
                    <a:bodyPr/>
                    <a:lstStyle/>
                    <a:p>
                      <a:r>
                        <a:rPr lang="fr-FR" noProof="0" dirty="0"/>
                        <a:t>Comprendre les besoins de l’atelier</a:t>
                      </a:r>
                    </a:p>
                  </a:txBody>
                  <a:tcPr anchor="ctr"/>
                </a:tc>
                <a:tc>
                  <a:txBody>
                    <a:bodyPr/>
                    <a:lstStyle/>
                    <a:p>
                      <a:r>
                        <a:rPr lang="fr-FR" noProof="0" dirty="0"/>
                        <a:t>Choisir les informations utiles au formulaire de devis</a:t>
                      </a:r>
                    </a:p>
                  </a:txBody>
                  <a:tcPr anchor="ctr"/>
                </a:tc>
                <a:extLst>
                  <a:ext uri="{0D108BD9-81ED-4DB2-BD59-A6C34878D82A}">
                    <a16:rowId xmlns:a16="http://schemas.microsoft.com/office/drawing/2014/main" val="3486868969"/>
                  </a:ext>
                </a:extLst>
              </a:tr>
              <a:tr h="920783">
                <a:tc>
                  <a:txBody>
                    <a:bodyPr/>
                    <a:lstStyle/>
                    <a:p>
                      <a:r>
                        <a:rPr lang="fr-FR" noProof="0" dirty="0"/>
                        <a:t>Comprendre le parcours des données</a:t>
                      </a:r>
                    </a:p>
                  </a:txBody>
                  <a:tcPr anchor="ctr"/>
                </a:tc>
                <a:tc>
                  <a:txBody>
                    <a:bodyPr/>
                    <a:lstStyle/>
                    <a:p>
                      <a:r>
                        <a:rPr lang="fr-FR" noProof="0" dirty="0"/>
                        <a:t>Suivre la recherche dans le repository, le traitement du contrôleur et l’affichage Twig</a:t>
                      </a:r>
                    </a:p>
                  </a:txBody>
                  <a:tcPr anchor="ctr"/>
                </a:tc>
                <a:extLst>
                  <a:ext uri="{0D108BD9-81ED-4DB2-BD59-A6C34878D82A}">
                    <a16:rowId xmlns:a16="http://schemas.microsoft.com/office/drawing/2014/main" val="2551446475"/>
                  </a:ext>
                </a:extLst>
              </a:tr>
              <a:tr h="920783">
                <a:tc>
                  <a:txBody>
                    <a:bodyPr/>
                    <a:lstStyle/>
                    <a:p>
                      <a:r>
                        <a:rPr lang="fr-FR" noProof="0" dirty="0"/>
                        <a:t>Adapter l’interface au mobile</a:t>
                      </a:r>
                    </a:p>
                  </a:txBody>
                  <a:tcPr anchor="ctr"/>
                </a:tc>
                <a:tc>
                  <a:txBody>
                    <a:bodyPr/>
                    <a:lstStyle/>
                    <a:p>
                      <a:r>
                        <a:rPr lang="fr-FR" noProof="0" dirty="0"/>
                        <a:t>Ajuster la grille et les champs après vérification à différentes largeurs</a:t>
                      </a:r>
                    </a:p>
                  </a:txBody>
                  <a:tcPr anchor="ctr"/>
                </a:tc>
                <a:extLst>
                  <a:ext uri="{0D108BD9-81ED-4DB2-BD59-A6C34878D82A}">
                    <a16:rowId xmlns:a16="http://schemas.microsoft.com/office/drawing/2014/main" val="65093537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411480"/>
            <a:ext cx="5168146" cy="523220"/>
          </a:xfrm>
          <a:prstGeom prst="rect">
            <a:avLst/>
          </a:prstGeom>
          <a:noFill/>
        </p:spPr>
        <p:txBody>
          <a:bodyPr wrap="none">
            <a:spAutoFit/>
          </a:bodyPr>
          <a:lstStyle/>
          <a:p>
            <a:r>
              <a:rPr lang="fr-FR" sz="2800" b="1" noProof="0" dirty="0">
                <a:solidFill>
                  <a:srgbClr val="2C2522"/>
                </a:solidFill>
                <a:latin typeface="Aptos Display"/>
              </a:rPr>
              <a:t>Publication et Prochaines étapes</a:t>
            </a:r>
          </a:p>
        </p:txBody>
      </p:sp>
      <p:sp>
        <p:nvSpPr>
          <p:cNvPr id="4" name="Rounded Rectangle 3"/>
          <p:cNvSpPr/>
          <p:nvPr/>
        </p:nvSpPr>
        <p:spPr>
          <a:xfrm>
            <a:off x="1123281" y="1386386"/>
            <a:ext cx="4471566" cy="191145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DÉJÀ RÉALISÉ</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kumimoji="0" lang="fr-FR" sz="1600" b="0" i="0" u="none" strike="noStrike" kern="1200" cap="none" spc="0" normalizeH="0" baseline="0" noProof="0" dirty="0">
                <a:ln>
                  <a:noFill/>
                </a:ln>
                <a:solidFill>
                  <a:srgbClr val="2C2522"/>
                </a:solidFill>
                <a:effectLst/>
                <a:uLnTx/>
                <a:uFillTx/>
                <a:latin typeface="Calibri"/>
                <a:ea typeface="+mn-ea"/>
                <a:cs typeface="+mn-cs"/>
              </a:rPr>
              <a:t>Première publication sur OVH</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T</a:t>
            </a:r>
            <a:r>
              <a:rPr kumimoji="0" lang="fr-FR" sz="1600" b="0" i="0" u="none" strike="noStrike" kern="1200" cap="none" spc="0" normalizeH="0" baseline="0" noProof="0" dirty="0">
                <a:ln>
                  <a:noFill/>
                </a:ln>
                <a:solidFill>
                  <a:srgbClr val="2C2522"/>
                </a:solidFill>
                <a:effectLst/>
                <a:uLnTx/>
                <a:uFillTx/>
                <a:latin typeface="Calibri"/>
                <a:ea typeface="+mn-ea"/>
                <a:cs typeface="+mn-cs"/>
              </a:rPr>
              <a:t>ransfert des fichiers et import SQL</a:t>
            </a:r>
          </a:p>
        </p:txBody>
      </p:sp>
      <p:sp>
        <p:nvSpPr>
          <p:cNvPr id="5" name="Espace réservé du numéro de diapositive 4">
            <a:extLst>
              <a:ext uri="{FF2B5EF4-FFF2-40B4-BE49-F238E27FC236}">
                <a16:creationId xmlns:a16="http://schemas.microsoft.com/office/drawing/2014/main" id="{A687AFE9-CEBB-9E56-167B-83D86C5602C0}"/>
              </a:ext>
            </a:extLst>
          </p:cNvPr>
          <p:cNvSpPr>
            <a:spLocks noGrp="1"/>
          </p:cNvSpPr>
          <p:nvPr>
            <p:ph type="sldNum" sz="quarter" idx="12"/>
          </p:nvPr>
        </p:nvSpPr>
        <p:spPr/>
        <p:txBody>
          <a:bodyPr/>
          <a:lstStyle/>
          <a:p>
            <a:fld id="{C1FF6DA9-008F-8B48-92A6-B652298478BF}" type="slidenum">
              <a:rPr lang="fr-FR" noProof="0" smtClean="0"/>
              <a:t>26</a:t>
            </a:fld>
            <a:endParaRPr lang="fr-FR" noProof="0" dirty="0"/>
          </a:p>
        </p:txBody>
      </p:sp>
      <p:sp>
        <p:nvSpPr>
          <p:cNvPr id="7" name="Rounded Rectangle 3">
            <a:extLst>
              <a:ext uri="{FF2B5EF4-FFF2-40B4-BE49-F238E27FC236}">
                <a16:creationId xmlns:a16="http://schemas.microsoft.com/office/drawing/2014/main" id="{3134B9F6-743B-8D8E-F02B-80009D4141F4}"/>
              </a:ext>
            </a:extLst>
          </p:cNvPr>
          <p:cNvSpPr/>
          <p:nvPr/>
        </p:nvSpPr>
        <p:spPr>
          <a:xfrm>
            <a:off x="1123281" y="3791420"/>
            <a:ext cx="4471566" cy="191145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ÉTAT ACTUEL</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S</a:t>
            </a:r>
            <a:r>
              <a:rPr kumimoji="0" lang="fr-FR" sz="1600" b="0" i="0" u="none" strike="noStrike" kern="1200" cap="none" spc="0" normalizeH="0" baseline="0" noProof="0" dirty="0">
                <a:ln>
                  <a:noFill/>
                </a:ln>
                <a:solidFill>
                  <a:srgbClr val="2C2522"/>
                </a:solidFill>
                <a:effectLst/>
                <a:uLnTx/>
                <a:uFillTx/>
                <a:latin typeface="Calibri"/>
                <a:ea typeface="+mn-ea"/>
                <a:cs typeface="+mn-cs"/>
              </a:rPr>
              <a:t>ite en maintenance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Dernières corrections validées localement</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p:txBody>
      </p:sp>
      <p:sp>
        <p:nvSpPr>
          <p:cNvPr id="9" name="Rounded Rectangle 3">
            <a:extLst>
              <a:ext uri="{FF2B5EF4-FFF2-40B4-BE49-F238E27FC236}">
                <a16:creationId xmlns:a16="http://schemas.microsoft.com/office/drawing/2014/main" id="{8A542EE2-E7D6-069C-3EF2-8BC6BCB79FF8}"/>
              </a:ext>
            </a:extLst>
          </p:cNvPr>
          <p:cNvSpPr/>
          <p:nvPr/>
        </p:nvSpPr>
        <p:spPr>
          <a:xfrm>
            <a:off x="6678367" y="1386386"/>
            <a:ext cx="4471566" cy="191145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PROCHAINES ÉTAPES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Migrer le projet vers PHP 8.5</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Configurer la messagerie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Déployer la dernière version validée sur OVH</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V</a:t>
            </a:r>
            <a:r>
              <a:rPr kumimoji="0" lang="fr-FR" sz="1600" b="0" i="0" u="none" strike="noStrike" kern="1200" cap="none" spc="0" normalizeH="0" baseline="0" noProof="0" dirty="0">
                <a:ln>
                  <a:noFill/>
                </a:ln>
                <a:solidFill>
                  <a:srgbClr val="2C2522"/>
                </a:solidFill>
                <a:effectLst/>
                <a:uLnTx/>
                <a:uFillTx/>
                <a:latin typeface="Calibri"/>
                <a:ea typeface="+mn-ea"/>
                <a:cs typeface="+mn-cs"/>
              </a:rPr>
              <a:t>érifier les parcours sur l’hébergement</a:t>
            </a:r>
          </a:p>
        </p:txBody>
      </p:sp>
      <p:sp>
        <p:nvSpPr>
          <p:cNvPr id="10" name="Rounded Rectangle 3">
            <a:extLst>
              <a:ext uri="{FF2B5EF4-FFF2-40B4-BE49-F238E27FC236}">
                <a16:creationId xmlns:a16="http://schemas.microsoft.com/office/drawing/2014/main" id="{6007CABB-DF2D-D5F2-7321-7BC692CBE233}"/>
              </a:ext>
            </a:extLst>
          </p:cNvPr>
          <p:cNvSpPr/>
          <p:nvPr/>
        </p:nvSpPr>
        <p:spPr>
          <a:xfrm>
            <a:off x="6678367" y="3791419"/>
            <a:ext cx="4471566" cy="1911452"/>
          </a:xfrm>
          <a:prstGeom prst="roundRect">
            <a:avLst/>
          </a:prstGeom>
          <a:solidFill>
            <a:srgbClr val="FFFFFF"/>
          </a:solidFill>
          <a:ln>
            <a:solidFill>
              <a:srgbClr val="EFEAE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F79646">
                    <a:lumMod val="50000"/>
                  </a:srgbClr>
                </a:solidFill>
                <a:effectLst/>
                <a:uLnTx/>
                <a:uFillTx/>
                <a:latin typeface="Calibri"/>
                <a:ea typeface="+mn-ea"/>
                <a:cs typeface="+mn-cs"/>
              </a:rPr>
              <a:t>ÉVOLUTIONS POSSIBLES</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Pagination</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Recherche enrichie</a:t>
            </a:r>
          </a:p>
          <a:p>
            <a:pPr marL="285750" marR="0" lvl="0" indent="-285750" algn="l" defTabSz="457200" rtl="0" eaLnBrk="1" fontAlgn="auto" latinLnBrk="0" hangingPunct="1">
              <a:lnSpc>
                <a:spcPct val="100000"/>
              </a:lnSpc>
              <a:spcBef>
                <a:spcPts val="700"/>
              </a:spcBef>
              <a:spcAft>
                <a:spcPts val="0"/>
              </a:spcAft>
              <a:buClrTx/>
              <a:buSzTx/>
              <a:buFont typeface="Arial" panose="020B0604020202020204" pitchFamily="34" charset="0"/>
              <a:buChar char="•"/>
              <a:tabLst/>
              <a:defRPr sz="1200">
                <a:solidFill>
                  <a:srgbClr val="2C2522"/>
                </a:solidFill>
              </a:defRPr>
            </a:pPr>
            <a:r>
              <a:rPr lang="fr-FR" sz="1600" noProof="0" dirty="0">
                <a:solidFill>
                  <a:srgbClr val="2C2522"/>
                </a:solidFill>
                <a:latin typeface="Calibri"/>
              </a:rPr>
              <a:t>Traduction selon les besoins</a:t>
            </a:r>
            <a:endParaRPr kumimoji="0" lang="fr-FR" sz="1600" b="0" i="0" u="none" strike="noStrike" kern="1200" cap="none" spc="0" normalizeH="0" baseline="0" noProof="0" dirty="0">
              <a:ln>
                <a:noFill/>
              </a:ln>
              <a:solidFill>
                <a:srgbClr val="2C2522"/>
              </a:solidFill>
              <a:effectLst/>
              <a:uLnTx/>
              <a:uFillTx/>
              <a:latin typeface="Calibri"/>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2960" y="914400"/>
            <a:ext cx="10515600" cy="731520"/>
          </a:xfrm>
          <a:prstGeom prst="rect">
            <a:avLst/>
          </a:prstGeom>
          <a:noFill/>
        </p:spPr>
        <p:txBody>
          <a:bodyPr wrap="none">
            <a:spAutoFit/>
          </a:bodyPr>
          <a:lstStyle/>
          <a:p>
            <a:pPr algn="ctr"/>
            <a:r>
              <a:rPr lang="fr-FR" sz="3600" b="1" noProof="0" dirty="0">
                <a:solidFill>
                  <a:srgbClr val="2C2522"/>
                </a:solidFill>
              </a:rPr>
              <a:t>Conclusion</a:t>
            </a:r>
          </a:p>
        </p:txBody>
      </p:sp>
      <p:sp>
        <p:nvSpPr>
          <p:cNvPr id="4" name="Rounded Rectangle 3"/>
          <p:cNvSpPr/>
          <p:nvPr/>
        </p:nvSpPr>
        <p:spPr>
          <a:xfrm>
            <a:off x="914400" y="2651760"/>
            <a:ext cx="192024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Conception</a:t>
            </a:r>
          </a:p>
        </p:txBody>
      </p:sp>
      <p:sp>
        <p:nvSpPr>
          <p:cNvPr id="5" name="Rounded Rectangle 4"/>
          <p:cNvSpPr/>
          <p:nvPr/>
        </p:nvSpPr>
        <p:spPr>
          <a:xfrm>
            <a:off x="3154680" y="2651760"/>
            <a:ext cx="192024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Base de données</a:t>
            </a:r>
          </a:p>
        </p:txBody>
      </p:sp>
      <p:sp>
        <p:nvSpPr>
          <p:cNvPr id="6" name="Rounded Rectangle 5"/>
          <p:cNvSpPr/>
          <p:nvPr/>
        </p:nvSpPr>
        <p:spPr>
          <a:xfrm>
            <a:off x="5394960" y="2651760"/>
            <a:ext cx="192024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Symfony / </a:t>
            </a:r>
            <a:r>
              <a:rPr lang="fr-FR" sz="1400" b="1" noProof="0" dirty="0" err="1">
                <a:solidFill>
                  <a:srgbClr val="2C2522"/>
                </a:solidFill>
              </a:rPr>
              <a:t>Back-end</a:t>
            </a:r>
            <a:endParaRPr lang="fr-FR" sz="1400" b="1" noProof="0" dirty="0">
              <a:solidFill>
                <a:srgbClr val="2C2522"/>
              </a:solidFill>
            </a:endParaRPr>
          </a:p>
        </p:txBody>
      </p:sp>
      <p:sp>
        <p:nvSpPr>
          <p:cNvPr id="7" name="Rounded Rectangle 6"/>
          <p:cNvSpPr/>
          <p:nvPr/>
        </p:nvSpPr>
        <p:spPr>
          <a:xfrm>
            <a:off x="7635240" y="2651760"/>
            <a:ext cx="1920240" cy="914400"/>
          </a:xfrm>
          <a:prstGeom prst="roundRect">
            <a:avLst/>
          </a:prstGeom>
          <a:solidFill>
            <a:srgbClr val="FFFFFF"/>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Twig / </a:t>
            </a:r>
            <a:r>
              <a:rPr lang="fr-FR" sz="1400" b="1" noProof="0" dirty="0" err="1">
                <a:solidFill>
                  <a:srgbClr val="2C2522"/>
                </a:solidFill>
              </a:rPr>
              <a:t>Front-end</a:t>
            </a:r>
            <a:endParaRPr lang="fr-FR" sz="1400" b="1" noProof="0" dirty="0">
              <a:solidFill>
                <a:srgbClr val="2C2522"/>
              </a:solidFill>
            </a:endParaRPr>
          </a:p>
        </p:txBody>
      </p:sp>
      <p:sp>
        <p:nvSpPr>
          <p:cNvPr id="8" name="Rounded Rectangle 7"/>
          <p:cNvSpPr/>
          <p:nvPr/>
        </p:nvSpPr>
        <p:spPr>
          <a:xfrm>
            <a:off x="9875520" y="2651760"/>
            <a:ext cx="1920240" cy="914400"/>
          </a:xfrm>
          <a:prstGeom prst="roundRect">
            <a:avLst/>
          </a:prstGeom>
          <a:solidFill>
            <a:srgbClr val="EFEAE0"/>
          </a:solidFill>
          <a:ln>
            <a:solidFill>
              <a:srgbClr val="B8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noProof="0" dirty="0">
                <a:solidFill>
                  <a:srgbClr val="2C2522"/>
                </a:solidFill>
              </a:rPr>
              <a:t>Application fonctionnelle</a:t>
            </a:r>
          </a:p>
        </p:txBody>
      </p:sp>
      <p:sp>
        <p:nvSpPr>
          <p:cNvPr id="9" name="TextBox 8"/>
          <p:cNvSpPr txBox="1"/>
          <p:nvPr/>
        </p:nvSpPr>
        <p:spPr>
          <a:xfrm>
            <a:off x="3602133" y="4572000"/>
            <a:ext cx="4957255" cy="584775"/>
          </a:xfrm>
          <a:prstGeom prst="rect">
            <a:avLst/>
          </a:prstGeom>
          <a:noFill/>
        </p:spPr>
        <p:txBody>
          <a:bodyPr wrap="none">
            <a:spAutoFit/>
          </a:bodyPr>
          <a:lstStyle/>
          <a:p>
            <a:pPr algn="ctr"/>
            <a:r>
              <a:rPr lang="fr-FR" sz="3200" b="1" noProof="0" dirty="0">
                <a:solidFill>
                  <a:schemeClr val="accent6">
                    <a:lumMod val="50000"/>
                  </a:schemeClr>
                </a:solidFill>
              </a:rPr>
              <a:t>Merci pour votre attention !</a:t>
            </a:r>
            <a:endParaRPr lang="fr-FR" sz="2400" b="1" noProof="0" dirty="0">
              <a:solidFill>
                <a:schemeClr val="accent6">
                  <a:lumMod val="50000"/>
                </a:schemeClr>
              </a:solidFill>
            </a:endParaRPr>
          </a:p>
        </p:txBody>
      </p:sp>
      <p:sp>
        <p:nvSpPr>
          <p:cNvPr id="12" name="Espace réservé du numéro de diapositive 11">
            <a:extLst>
              <a:ext uri="{FF2B5EF4-FFF2-40B4-BE49-F238E27FC236}">
                <a16:creationId xmlns:a16="http://schemas.microsoft.com/office/drawing/2014/main" id="{30F055C5-3205-65CE-8FCF-24FF77C24A3F}"/>
              </a:ext>
            </a:extLst>
          </p:cNvPr>
          <p:cNvSpPr>
            <a:spLocks noGrp="1"/>
          </p:cNvSpPr>
          <p:nvPr>
            <p:ph type="sldNum" sz="quarter" idx="12"/>
          </p:nvPr>
        </p:nvSpPr>
        <p:spPr/>
        <p:txBody>
          <a:bodyPr/>
          <a:lstStyle/>
          <a:p>
            <a:fld id="{C1FF6DA9-008F-8B48-92A6-B652298478BF}" type="slidenum">
              <a:rPr lang="fr-FR" noProof="0" smtClean="0"/>
              <a:t>27</a:t>
            </a:fld>
            <a:endParaRPr lang="fr-FR"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13807</TotalTime>
  <Words>5852</Words>
  <Application>Microsoft Office PowerPoint</Application>
  <PresentationFormat>Grand écran</PresentationFormat>
  <Paragraphs>528</Paragraphs>
  <Slides>27</Slides>
  <Notes>27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27</vt:i4>
      </vt:variant>
    </vt:vector>
  </HeadingPairs>
  <TitlesOfParts>
    <vt:vector size="32" baseType="lpstr">
      <vt:lpstr>Aptos</vt:lpstr>
      <vt:lpstr>Aptos Display</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Aureo Ruffier</dc:creator>
  <cp:keywords/>
  <dc:description>generated using python-pptx</dc:description>
  <cp:lastModifiedBy>Aureo Ruffier</cp:lastModifiedBy>
  <cp:revision>37</cp:revision>
  <dcterms:created xsi:type="dcterms:W3CDTF">2013-01-27T09:14:16Z</dcterms:created>
  <dcterms:modified xsi:type="dcterms:W3CDTF">2026-10-28T19:36:21Z</dcterms:modified>
  <cp:category/>
</cp:coreProperties>
</file>