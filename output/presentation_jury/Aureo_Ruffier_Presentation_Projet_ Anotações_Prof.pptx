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75" r:id="rId3"/>
    <p:sldId id="257" r:id="rId4"/>
    <p:sldId id="258" r:id="rId5"/>
    <p:sldId id="260" r:id="rId6"/>
    <p:sldId id="271" r:id="rId7"/>
    <p:sldId id="261" r:id="rId8"/>
    <p:sldId id="273" r:id="rId9"/>
    <p:sldId id="262" r:id="rId10"/>
    <p:sldId id="277" r:id="rId11"/>
    <p:sldId id="278" r:id="rId12"/>
    <p:sldId id="263" r:id="rId13"/>
    <p:sldId id="264" r:id="rId14"/>
    <p:sldId id="279" r:id="rId15"/>
    <p:sldId id="280" r:id="rId16"/>
    <p:sldId id="272" r:id="rId17"/>
    <p:sldId id="265" r:id="rId18"/>
    <p:sldId id="276" r:id="rId19"/>
    <p:sldId id="281" r:id="rId20"/>
    <p:sldId id="266" r:id="rId21"/>
    <p:sldId id="267" r:id="rId22"/>
    <p:sldId id="269" r:id="rId23"/>
    <p:sldId id="270" r:id="rId2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0467" autoAdjust="0"/>
  </p:normalViewPr>
  <p:slideViewPr>
    <p:cSldViewPr snapToGrid="0" snapToObjects="1">
      <p:cViewPr varScale="1">
        <p:scale>
          <a:sx n="62" d="100"/>
          <a:sy n="62" d="100"/>
        </p:scale>
        <p:origin x="1032" y="6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165669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fr-FR" dirty="0"/>
              <a:t>Bonjour à tous.</a:t>
            </a:r>
          </a:p>
          <a:p>
            <a:r>
              <a:rPr lang="fr-FR" dirty="0"/>
              <a:t>Je vais vous présenter mon projet de site web pour une activité de broderie et de personnalisation textile.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D71064-1956-3932-053E-F99EBA7E89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B7852EB-2D52-3927-A2DF-A43C6726223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4C3D76E-E428-F4CD-3EEE-AA583CCAC6F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~1m30 : </a:t>
            </a:r>
            <a:r>
              <a:rPr dirty="0" err="1"/>
              <a:t>Expliquer</a:t>
            </a:r>
            <a:r>
              <a:rPr dirty="0"/>
              <a:t> le </a:t>
            </a:r>
            <a:r>
              <a:rPr dirty="0" err="1"/>
              <a:t>besoin</a:t>
            </a:r>
            <a:r>
              <a:rPr dirty="0"/>
              <a:t> et les </a:t>
            </a:r>
            <a:r>
              <a:rPr dirty="0" err="1"/>
              <a:t>objectifs</a:t>
            </a:r>
            <a:r>
              <a:rPr dirty="0"/>
              <a:t>.</a:t>
            </a:r>
            <a:endParaRPr lang="pt-BR" dirty="0"/>
          </a:p>
          <a:p>
            <a:r>
              <a:rPr lang="fr-FR" dirty="0"/>
              <a:t>Le projet part d'un besoin assez simple : avoir une présence web professionnelle pour une activité de broderie et de personnalisation textile.</a:t>
            </a:r>
          </a:p>
          <a:p>
            <a:r>
              <a:rPr lang="fr-FR" dirty="0"/>
              <a:t>Le site doit d'abord avoir un rôle de présentation, avec une page d'accueil, les services proposés, les produits et différentes informations sur l'activité.</a:t>
            </a:r>
          </a:p>
          <a:p>
            <a:r>
              <a:rPr lang="fr-FR" dirty="0"/>
              <a:t>Mais je voulais également avoir une partie dynamique. Les produits et les catégories sont donc stockés en base de données et peuvent être gérés depuis une interface d'administration.</a:t>
            </a:r>
          </a:p>
          <a:p>
            <a:r>
              <a:rPr lang="fr-FR" dirty="0"/>
              <a:t>J'ai également prévu la gestion des demandes de devis et des avis utilisateurs.</a:t>
            </a:r>
          </a:p>
          <a:p>
            <a:r>
              <a:rPr lang="fr-FR" dirty="0"/>
              <a:t>L'objectif n'était donc pas uniquement de créer un site vitrine statique, mais une véritable application web avec un front-office et un back-office.</a:t>
            </a:r>
          </a:p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108707-2D50-6E24-29A8-CC65DA7A3D0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30224231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pt-BR" dirty="0"/>
              <a:t>30 s</a:t>
            </a:r>
            <a:r>
              <a:rPr dirty="0"/>
              <a:t>: </a:t>
            </a:r>
            <a:r>
              <a:rPr dirty="0" err="1"/>
              <a:t>Expliquer</a:t>
            </a:r>
            <a:r>
              <a:rPr dirty="0"/>
              <a:t> le </a:t>
            </a:r>
            <a:r>
              <a:rPr dirty="0" err="1"/>
              <a:t>besoin</a:t>
            </a:r>
            <a:r>
              <a:rPr dirty="0"/>
              <a:t> et les </a:t>
            </a:r>
            <a:r>
              <a:rPr dirty="0" err="1"/>
              <a:t>objectifs</a:t>
            </a:r>
            <a:r>
              <a:rPr dirty="0"/>
              <a:t>.</a:t>
            </a:r>
            <a:endParaRPr lang="pt-BR" dirty="0"/>
          </a:p>
          <a:p>
            <a:endParaRPr lang="pt-BR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dirty="0"/>
              <a:t>Projet de site web pour une activité de broderie et de personnalisation textile.</a:t>
            </a:r>
          </a:p>
          <a:p>
            <a:endParaRPr lang="fr-FR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dirty="0"/>
              <a:t>Je vais d'abord présenter le contexte et mes choix techniques, puis la conception de la base de données, le </a:t>
            </a:r>
            <a:r>
              <a:rPr lang="fr-FR" dirty="0" err="1"/>
              <a:t>front-end</a:t>
            </a:r>
            <a:r>
              <a:rPr lang="fr-FR" dirty="0"/>
              <a:t> et le </a:t>
            </a:r>
            <a:r>
              <a:rPr lang="fr-FR" dirty="0" err="1"/>
              <a:t>back-end</a:t>
            </a:r>
            <a:r>
              <a:rPr lang="fr-FR" dirty="0"/>
              <a:t>, avant de terminer par une démonstration et les évolutions prévues.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~2m : Justifier les technologies.</a:t>
            </a:r>
            <a:endParaRPr lang="pt-BR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dirty="0"/>
              <a:t>Pour le développement PHP et Symfony.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dirty="0"/>
              <a:t>Symfony, </a:t>
            </a:r>
            <a:r>
              <a:rPr lang="fr-FR" dirty="0" err="1"/>
              <a:t>framework</a:t>
            </a:r>
            <a:r>
              <a:rPr lang="fr-FR" dirty="0"/>
              <a:t> qui permet de structurer clairement une application web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fr-FR" dirty="0"/>
              <a:t>avec </a:t>
            </a:r>
            <a:r>
              <a:rPr lang="fr-FR" dirty="0" err="1"/>
              <a:t>controllers</a:t>
            </a:r>
            <a:r>
              <a:rPr lang="fr-FR" dirty="0"/>
              <a:t>, les repositories, Doctrine, Twig, les formulaires et la sécurité.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dirty="0"/>
              <a:t>La version utilisée est Symfony 7.4.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dirty="0"/>
              <a:t>BDD, j'utilise </a:t>
            </a:r>
            <a:r>
              <a:rPr lang="fr-FR" dirty="0" err="1"/>
              <a:t>MariaDB</a:t>
            </a:r>
            <a:r>
              <a:rPr lang="fr-FR" dirty="0"/>
              <a:t>, avec Doctrine ORM.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fr-FR" dirty="0"/>
              <a:t>Doctrine, manipuler les données avec des objets PHP et des repositories, plutôt que d'écrire directement toutes les requêtes SQL.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dirty="0"/>
              <a:t>Rendu, j'utilise Twig.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fr-FR" dirty="0"/>
              <a:t>Créer des </a:t>
            </a:r>
            <a:r>
              <a:rPr lang="fr-FR" dirty="0" err="1"/>
              <a:t>templates</a:t>
            </a:r>
            <a:r>
              <a:rPr lang="fr-FR" dirty="0"/>
              <a:t> réutilisables et de générer dynamiquement le HTML à partir des données récupérées depuis la base.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dirty="0"/>
              <a:t>Pour le </a:t>
            </a:r>
            <a:r>
              <a:rPr lang="fr-FR" dirty="0" err="1"/>
              <a:t>front-end</a:t>
            </a:r>
            <a:r>
              <a:rPr lang="fr-FR" dirty="0"/>
              <a:t>, j'utilise Bootstrap 5.3.8 pour la structure, le responsive et certains composants, et Font Awesome pour les icônes.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dirty="0" err="1"/>
              <a:t>Webpack</a:t>
            </a:r>
            <a:r>
              <a:rPr lang="fr-FR" dirty="0"/>
              <a:t> Encore est utilisé pour gérer les fichiers JavaScript et CSS et générer les assets utilisés par l'application.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dirty="0"/>
              <a:t>Enfin, j'utilise Docker pour avoir un environnement de développement composé de plusieurs services : PHP, Caddy, Node.js, </a:t>
            </a:r>
            <a:r>
              <a:rPr lang="fr-FR" dirty="0" err="1"/>
              <a:t>MariaDB</a:t>
            </a:r>
            <a:r>
              <a:rPr lang="fr-FR" dirty="0"/>
              <a:t> et phpMyAdmin.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~2m30 : </a:t>
            </a:r>
            <a:r>
              <a:rPr dirty="0" err="1"/>
              <a:t>Montrer</a:t>
            </a:r>
            <a:r>
              <a:rPr dirty="0"/>
              <a:t> le </a:t>
            </a:r>
            <a:r>
              <a:rPr dirty="0" err="1"/>
              <a:t>vrai</a:t>
            </a:r>
            <a:r>
              <a:rPr dirty="0"/>
              <a:t> UML et </a:t>
            </a:r>
            <a:r>
              <a:rPr dirty="0" err="1"/>
              <a:t>expliquer</a:t>
            </a:r>
            <a:r>
              <a:rPr dirty="0"/>
              <a:t> les relations.</a:t>
            </a:r>
            <a:endParaRPr lang="pt-BR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dirty="0"/>
              <a:t>Les cinq entités principales sont User, Product, </a:t>
            </a:r>
            <a:r>
              <a:rPr lang="fr-FR" dirty="0" err="1"/>
              <a:t>Category</a:t>
            </a:r>
            <a:r>
              <a:rPr lang="fr-FR" dirty="0"/>
              <a:t>, </a:t>
            </a:r>
            <a:r>
              <a:rPr lang="fr-FR" dirty="0" err="1"/>
              <a:t>Review</a:t>
            </a:r>
            <a:r>
              <a:rPr lang="fr-FR" dirty="0"/>
              <a:t> et </a:t>
            </a:r>
            <a:r>
              <a:rPr lang="fr-FR" dirty="0" err="1"/>
              <a:t>QuoteRequest</a:t>
            </a:r>
            <a:r>
              <a:rPr lang="fr-FR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dirty="0"/>
              <a:t>Un utilisateur peut par exemple créer plusieurs avis et plusieurs demandes de devis.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dirty="0"/>
              <a:t>Un produit peut appartenir à plusieurs catégories, et une catégorie peut contenir plusieurs produits. Il s'agit donc d'une relation </a:t>
            </a:r>
            <a:r>
              <a:rPr lang="fr-FR" dirty="0" err="1"/>
              <a:t>ManyToMany</a:t>
            </a:r>
            <a:r>
              <a:rPr lang="fr-FR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dirty="0"/>
              <a:t>Les avis sont également liés à un utilisateur et à un produit.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dirty="0"/>
              <a:t>Cette modélisation est ensuite représentée dans Symfony par des entités Doctrine.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dirty="0"/>
              <a:t>Par exemple, l'entité Product contient les propriétés du produit et les relations avec </a:t>
            </a:r>
            <a:r>
              <a:rPr lang="fr-FR" dirty="0" err="1"/>
              <a:t>Category</a:t>
            </a:r>
            <a:r>
              <a:rPr lang="fr-FR" dirty="0"/>
              <a:t> et </a:t>
            </a:r>
            <a:r>
              <a:rPr lang="fr-FR" dirty="0" err="1"/>
              <a:t>Review</a:t>
            </a:r>
            <a:r>
              <a:rPr lang="fr-FR" dirty="0"/>
              <a:t>.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6F3096-7536-B5B1-3F83-7B151DB9C8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8C9ABB6-E8EB-34D9-0E51-A1B3568E95F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69CD610-85EC-817B-B81E-0BC3E7F9D88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~2m30 : </a:t>
            </a:r>
            <a:r>
              <a:rPr dirty="0" err="1"/>
              <a:t>Montrer</a:t>
            </a:r>
            <a:r>
              <a:rPr dirty="0"/>
              <a:t> le </a:t>
            </a:r>
            <a:r>
              <a:rPr dirty="0" err="1"/>
              <a:t>vrai</a:t>
            </a:r>
            <a:r>
              <a:rPr dirty="0"/>
              <a:t> UML et </a:t>
            </a:r>
            <a:r>
              <a:rPr dirty="0" err="1"/>
              <a:t>expliquer</a:t>
            </a:r>
            <a:r>
              <a:rPr dirty="0"/>
              <a:t> les relations.</a:t>
            </a:r>
            <a:endParaRPr lang="pt-BR" dirty="0"/>
          </a:p>
          <a:p>
            <a:r>
              <a:rPr lang="fr-FR" dirty="0"/>
              <a:t>Doctrine utilise ensuite ces informations pour faire le lien entre les objets PHP et les tables de la base de données.</a:t>
            </a:r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2B959D-F341-A086-E112-86DC7B0F519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24904072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~1m30 : Comparer la maquette et le site.</a:t>
            </a:r>
            <a:endParaRPr lang="pt-BR" dirty="0"/>
          </a:p>
          <a:p>
            <a:r>
              <a:rPr lang="fr-FR" dirty="0"/>
              <a:t>La maquette m'a servi de référence pour construire l'interface.</a:t>
            </a:r>
          </a:p>
          <a:p>
            <a:r>
              <a:rPr lang="fr-FR" dirty="0"/>
              <a:t>J'ai d'abord repris la structure générale : la navigation, le </a:t>
            </a:r>
            <a:r>
              <a:rPr lang="fr-FR" dirty="0" err="1"/>
              <a:t>hero</a:t>
            </a:r>
            <a:r>
              <a:rPr lang="fr-FR" dirty="0"/>
              <a:t>, les services, les produits et les différentes sections.</a:t>
            </a:r>
          </a:p>
          <a:p>
            <a:r>
              <a:rPr lang="fr-FR" dirty="0"/>
              <a:t>Ensuite, j'ai intégré cette structure avec Twig et HTML.</a:t>
            </a:r>
          </a:p>
          <a:p>
            <a:r>
              <a:rPr lang="fr-FR" dirty="0"/>
              <a:t>Pour la mise en page responsive, j'ai utilisé principalement Bootstrap.</a:t>
            </a:r>
          </a:p>
          <a:p>
            <a:r>
              <a:rPr lang="fr-FR" dirty="0"/>
              <a:t>J'ai ensuite ajouté mon propre CSS pour adapter l'identité visuelle du site, notamment les couleurs, les cartes, le </a:t>
            </a:r>
            <a:r>
              <a:rPr lang="fr-FR" dirty="0" err="1"/>
              <a:t>hero</a:t>
            </a:r>
            <a:r>
              <a:rPr lang="fr-FR" dirty="0"/>
              <a:t> et les boutons.</a:t>
            </a:r>
          </a:p>
          <a:p>
            <a:r>
              <a:rPr lang="fr-FR" dirty="0"/>
              <a:t>Il y a cependant eu quelques adaptations entre la maquette et la réalisation finale, notamment pour obtenir un comportement correct sur les différentes tailles d'écran.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30E4A0-1160-12CB-E4F2-9530410607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83BA787-D6BD-7159-9C9C-BB6325B16A1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B4702FE-F111-C858-A01B-0E5DD6A0466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~1m30 : </a:t>
            </a:r>
            <a:r>
              <a:rPr lang="pt-BR" dirty="0" err="1"/>
              <a:t>Fixtures</a:t>
            </a:r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085137-0C77-2D0C-C154-F7E27428D8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84702078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~2m : </a:t>
            </a:r>
            <a:r>
              <a:rPr dirty="0" err="1"/>
              <a:t>Expliquer</a:t>
            </a:r>
            <a:r>
              <a:rPr dirty="0"/>
              <a:t> Twig, Bootstrap, CSS et JS.</a:t>
            </a:r>
            <a:endParaRPr lang="pt-BR" dirty="0"/>
          </a:p>
          <a:p>
            <a:r>
              <a:rPr lang="fr-FR" dirty="0"/>
              <a:t>Pour le </a:t>
            </a:r>
            <a:r>
              <a:rPr lang="fr-FR" dirty="0" err="1"/>
              <a:t>front-end</a:t>
            </a:r>
            <a:r>
              <a:rPr lang="fr-FR" dirty="0"/>
              <a:t>, j'utilise principalement Twig, HTML, Bootstrap, CSS et JavaScript.</a:t>
            </a:r>
          </a:p>
          <a:p>
            <a:r>
              <a:rPr lang="fr-FR" dirty="0"/>
              <a:t>Twig est utilisé pour générer les pages dynamiquement.</a:t>
            </a:r>
          </a:p>
          <a:p>
            <a:r>
              <a:rPr lang="fr-FR" dirty="0"/>
              <a:t>Par exemple, lorsqu'un </a:t>
            </a:r>
            <a:r>
              <a:rPr lang="fr-FR" dirty="0" err="1"/>
              <a:t>controller</a:t>
            </a:r>
            <a:r>
              <a:rPr lang="fr-FR" dirty="0"/>
              <a:t> récupère une liste de produits, Twig peut parcourir cette liste et générer automatiquement les cartes produits.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214650-3623-84CC-CAD4-60560A7767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E443CD2-0F4C-D245-27BF-960F96E6D32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23E3190-DACF-AF3D-F44E-B9E3A8EC833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~2m : </a:t>
            </a:r>
            <a:r>
              <a:rPr dirty="0" err="1"/>
              <a:t>Expliquer</a:t>
            </a:r>
            <a:r>
              <a:rPr dirty="0"/>
              <a:t> Twig, Bootstrap, CSS et JS.</a:t>
            </a:r>
            <a:endParaRPr lang="pt-BR" dirty="0"/>
          </a:p>
          <a:p>
            <a:r>
              <a:rPr lang="fr-FR" dirty="0"/>
              <a:t>Pour le CSS, j'utilise Bootstrap pour le système de grille, le responsive, les boutons, les formulaires et certains composants.</a:t>
            </a:r>
          </a:p>
          <a:p>
            <a:r>
              <a:rPr lang="fr-FR" dirty="0"/>
              <a:t>J'ai ensuite ajouté des classes personnalisées pour respecter le design du projet, par exemple « service-</a:t>
            </a:r>
            <a:r>
              <a:rPr lang="fr-FR" dirty="0" err="1"/>
              <a:t>card</a:t>
            </a:r>
            <a:r>
              <a:rPr lang="fr-FR" dirty="0"/>
              <a:t> », « </a:t>
            </a:r>
            <a:r>
              <a:rPr lang="fr-FR" dirty="0" err="1"/>
              <a:t>hero</a:t>
            </a:r>
            <a:r>
              <a:rPr lang="fr-FR" dirty="0"/>
              <a:t>-section » ou « </a:t>
            </a:r>
            <a:r>
              <a:rPr lang="fr-FR" dirty="0" err="1"/>
              <a:t>btn</a:t>
            </a:r>
            <a:r>
              <a:rPr lang="fr-FR" dirty="0"/>
              <a:t>-gold ».</a:t>
            </a:r>
          </a:p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EB2D9A-4DAD-4B55-3C66-DC40F5C056E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62543098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8E1159-95DD-E7EA-9203-51C0FFFA9A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AD2DFDE-0E7A-7D7A-2129-6FCC732C289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BF9DA19-03A8-92C7-68E6-27C40F8057C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~2m : </a:t>
            </a:r>
            <a:r>
              <a:rPr dirty="0" err="1"/>
              <a:t>Expliquer</a:t>
            </a:r>
            <a:r>
              <a:rPr dirty="0"/>
              <a:t> Twig, Bootstrap, CSS et JS.</a:t>
            </a:r>
            <a:endParaRPr lang="pt-BR" dirty="0"/>
          </a:p>
          <a:p>
            <a:r>
              <a:rPr lang="fr-FR" dirty="0"/>
              <a:t>Le JavaScript reste relativement léger dans cette version du projet. Une partie des interactions nécessaires est déjà fournie par Bootstrap.</a:t>
            </a:r>
          </a:p>
          <a:p>
            <a:r>
              <a:rPr lang="fr-FR" dirty="0"/>
              <a:t>Les fichiers CSS et JavaScript sont ensuite compilés et gérés avec </a:t>
            </a:r>
            <a:r>
              <a:rPr lang="fr-FR" dirty="0" err="1"/>
              <a:t>Webpack</a:t>
            </a:r>
            <a:r>
              <a:rPr lang="fr-FR" dirty="0"/>
              <a:t> Encore.</a:t>
            </a:r>
          </a:p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A0F60C-60C5-B1C0-D491-2D8C61EDFFB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86679763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~2m : </a:t>
            </a:r>
            <a:r>
              <a:rPr dirty="0" err="1"/>
              <a:t>Expliquer</a:t>
            </a:r>
            <a:r>
              <a:rPr dirty="0"/>
              <a:t> MVC avec les </a:t>
            </a:r>
            <a:r>
              <a:rPr dirty="0" err="1"/>
              <a:t>vrais</a:t>
            </a:r>
            <a:r>
              <a:rPr dirty="0"/>
              <a:t> controllers.</a:t>
            </a:r>
            <a:endParaRPr lang="pt-BR" dirty="0"/>
          </a:p>
          <a:p>
            <a:r>
              <a:rPr lang="fr-FR" dirty="0"/>
              <a:t>Le </a:t>
            </a:r>
            <a:r>
              <a:rPr lang="fr-FR" dirty="0" err="1"/>
              <a:t>back-end</a:t>
            </a:r>
            <a:r>
              <a:rPr lang="fr-FR" dirty="0"/>
              <a:t> est basé sur le principe MVC.</a:t>
            </a:r>
          </a:p>
          <a:p>
            <a:r>
              <a:rPr lang="fr-FR" dirty="0"/>
              <a:t>La partie Model est représentée principalement par les entités Doctrine et les repositories.</a:t>
            </a:r>
          </a:p>
          <a:p>
            <a:r>
              <a:rPr lang="fr-FR" dirty="0"/>
              <a:t>Les </a:t>
            </a:r>
            <a:r>
              <a:rPr lang="fr-FR" dirty="0" err="1"/>
              <a:t>controllers</a:t>
            </a:r>
            <a:r>
              <a:rPr lang="fr-FR" dirty="0"/>
              <a:t> reçoivent les requêtes et coordonnent le traitement.</a:t>
            </a:r>
          </a:p>
          <a:p>
            <a:r>
              <a:rPr lang="fr-FR" dirty="0"/>
              <a:t>Enfin, la </a:t>
            </a:r>
            <a:r>
              <a:rPr lang="fr-FR" dirty="0" err="1"/>
              <a:t>View</a:t>
            </a:r>
            <a:r>
              <a:rPr lang="fr-FR" dirty="0"/>
              <a:t> correspond aux </a:t>
            </a:r>
            <a:r>
              <a:rPr lang="fr-FR" dirty="0" err="1"/>
              <a:t>templates</a:t>
            </a:r>
            <a:r>
              <a:rPr lang="fr-FR" dirty="0"/>
              <a:t> Twig.</a:t>
            </a:r>
          </a:p>
          <a:p>
            <a:r>
              <a:rPr lang="fr-FR" dirty="0"/>
              <a:t>Par exemple, lorsqu'un utilisateur consulte la liste des produits, la requête arrive sur </a:t>
            </a:r>
            <a:r>
              <a:rPr lang="fr-FR" dirty="0" err="1"/>
              <a:t>ProductController</a:t>
            </a:r>
            <a:r>
              <a:rPr lang="fr-FR" dirty="0"/>
              <a:t>.</a:t>
            </a:r>
          </a:p>
          <a:p>
            <a:r>
              <a:rPr lang="fr-FR" dirty="0"/>
              <a:t>Le </a:t>
            </a:r>
            <a:r>
              <a:rPr lang="fr-FR" dirty="0" err="1"/>
              <a:t>controller</a:t>
            </a:r>
            <a:r>
              <a:rPr lang="fr-FR" dirty="0"/>
              <a:t> utilise </a:t>
            </a:r>
            <a:r>
              <a:rPr lang="fr-FR" dirty="0" err="1"/>
              <a:t>ProductRepository</a:t>
            </a:r>
            <a:r>
              <a:rPr lang="fr-FR" dirty="0"/>
              <a:t> pour récupérer les produits actifs.</a:t>
            </a:r>
          </a:p>
          <a:p>
            <a:r>
              <a:rPr lang="fr-FR" dirty="0"/>
              <a:t>Il transmet ensuite les données au </a:t>
            </a:r>
            <a:r>
              <a:rPr lang="fr-FR" dirty="0" err="1"/>
              <a:t>template</a:t>
            </a:r>
            <a:r>
              <a:rPr lang="fr-FR" dirty="0"/>
              <a:t> Twig.</a:t>
            </a:r>
          </a:p>
          <a:p>
            <a:r>
              <a:rPr lang="fr-FR" dirty="0"/>
              <a:t>Twig génère le HTML qui est finalement envoyé au navigateur.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~1m30 : </a:t>
            </a:r>
            <a:r>
              <a:rPr dirty="0" err="1"/>
              <a:t>Montrer</a:t>
            </a:r>
            <a:r>
              <a:rPr dirty="0"/>
              <a:t> Repository → Doctrine → SQL.</a:t>
            </a:r>
            <a:endParaRPr lang="pt-BR" dirty="0"/>
          </a:p>
          <a:p>
            <a:r>
              <a:rPr lang="fr-FR" dirty="0"/>
              <a:t>Un point important dans mon projet est l'utilisation de Doctrine.</a:t>
            </a:r>
          </a:p>
          <a:p>
            <a:r>
              <a:rPr lang="fr-FR" dirty="0"/>
              <a:t>Le </a:t>
            </a:r>
            <a:r>
              <a:rPr lang="fr-FR" dirty="0" err="1"/>
              <a:t>controller</a:t>
            </a:r>
            <a:r>
              <a:rPr lang="fr-FR" dirty="0"/>
              <a:t> ne communique pas directement avec </a:t>
            </a:r>
            <a:r>
              <a:rPr lang="fr-FR" dirty="0" err="1"/>
              <a:t>MariaDB</a:t>
            </a:r>
            <a:r>
              <a:rPr lang="fr-FR" dirty="0"/>
              <a:t>.</a:t>
            </a:r>
          </a:p>
          <a:p>
            <a:r>
              <a:rPr lang="fr-FR" dirty="0"/>
              <a:t>Il utilise un repository.</a:t>
            </a:r>
          </a:p>
          <a:p>
            <a:r>
              <a:rPr lang="fr-FR" dirty="0"/>
              <a:t>Dans le repository, je peux utiliser les méthodes fournies par Doctrine ou construire des requêtes plus spécifiques avec </a:t>
            </a:r>
            <a:r>
              <a:rPr lang="fr-FR" dirty="0" err="1"/>
              <a:t>QueryBuilder</a:t>
            </a:r>
            <a:r>
              <a:rPr lang="fr-FR" dirty="0"/>
              <a:t> et DQL.</a:t>
            </a:r>
          </a:p>
          <a:p>
            <a:r>
              <a:rPr lang="fr-FR" dirty="0"/>
              <a:t>Doctrine traduit ensuite cette logique en SQL compatible avec la base de données.</a:t>
            </a:r>
          </a:p>
          <a:p>
            <a:r>
              <a:rPr lang="fr-FR" dirty="0"/>
              <a:t>Par exemple, j'ai une méthode personnalisée « </a:t>
            </a:r>
            <a:r>
              <a:rPr lang="fr-FR" dirty="0" err="1"/>
              <a:t>findLatestApproved</a:t>
            </a:r>
            <a:r>
              <a:rPr lang="fr-FR" dirty="0"/>
              <a:t> » dans </a:t>
            </a:r>
            <a:r>
              <a:rPr lang="fr-FR" dirty="0" err="1"/>
              <a:t>ReviewRepository</a:t>
            </a:r>
            <a:r>
              <a:rPr lang="fr-FR" dirty="0"/>
              <a:t> pour récupérer les 6 dernières avis.</a:t>
            </a:r>
          </a:p>
          <a:p>
            <a:r>
              <a:rPr lang="fr-FR" dirty="0"/>
              <a:t>Cela permet de garder la logique d'accès aux données dans le repository plutôt que de mettre directement les requêtes dans le </a:t>
            </a:r>
            <a:r>
              <a:rPr lang="fr-FR" dirty="0" err="1"/>
              <a:t>controller</a:t>
            </a:r>
            <a:r>
              <a:rPr lang="fr-FR" dirty="0"/>
              <a:t>.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D7AC9E-FB79-2FFF-2E86-759977D00A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9A51549-88C4-7ED2-3054-D924B966649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A8F46E-7713-CE09-35B8-ABA25BFFB9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~1m30 : </a:t>
            </a:r>
            <a:r>
              <a:rPr dirty="0" err="1"/>
              <a:t>Montrer</a:t>
            </a:r>
            <a:r>
              <a:rPr dirty="0"/>
              <a:t> Repository → Doctrine → SQL.</a:t>
            </a:r>
            <a:endParaRPr lang="pt-BR" dirty="0"/>
          </a:p>
          <a:p>
            <a:r>
              <a:rPr lang="fr-FR" dirty="0"/>
              <a:t>Un point important dans mon projet est l'utilisation de Doctrine.</a:t>
            </a:r>
          </a:p>
          <a:p>
            <a:r>
              <a:rPr lang="fr-FR" dirty="0"/>
              <a:t>Le </a:t>
            </a:r>
            <a:r>
              <a:rPr lang="fr-FR" dirty="0" err="1"/>
              <a:t>controller</a:t>
            </a:r>
            <a:r>
              <a:rPr lang="fr-FR" dirty="0"/>
              <a:t> ne communique pas directement avec </a:t>
            </a:r>
            <a:r>
              <a:rPr lang="fr-FR" dirty="0" err="1"/>
              <a:t>MariaDB</a:t>
            </a:r>
            <a:r>
              <a:rPr lang="fr-FR" dirty="0"/>
              <a:t>.</a:t>
            </a:r>
          </a:p>
          <a:p>
            <a:r>
              <a:rPr lang="fr-FR" dirty="0"/>
              <a:t>Il utilise un repository.</a:t>
            </a:r>
          </a:p>
          <a:p>
            <a:r>
              <a:rPr lang="fr-FR" dirty="0"/>
              <a:t>Dans le repository, je peux utiliser les méthodes fournies par Doctrine ou construire des requêtes plus spécifiques avec </a:t>
            </a:r>
            <a:r>
              <a:rPr lang="fr-FR" dirty="0" err="1"/>
              <a:t>QueryBuilder</a:t>
            </a:r>
            <a:r>
              <a:rPr lang="fr-FR" dirty="0"/>
              <a:t> et DQL.</a:t>
            </a:r>
          </a:p>
          <a:p>
            <a:r>
              <a:rPr lang="fr-FR" dirty="0"/>
              <a:t>Doctrine traduit ensuite cette logique en SQL compatible avec la base de données.</a:t>
            </a:r>
          </a:p>
          <a:p>
            <a:r>
              <a:rPr lang="fr-FR" dirty="0"/>
              <a:t>Par exemple, j'ai une méthode personnalisée « </a:t>
            </a:r>
            <a:r>
              <a:rPr lang="fr-FR" dirty="0" err="1"/>
              <a:t>findLatestApproved</a:t>
            </a:r>
            <a:r>
              <a:rPr lang="fr-FR" dirty="0"/>
              <a:t> » dans </a:t>
            </a:r>
            <a:r>
              <a:rPr lang="fr-FR" dirty="0" err="1"/>
              <a:t>ReviewRepository</a:t>
            </a:r>
            <a:r>
              <a:rPr lang="fr-FR" dirty="0"/>
              <a:t> pour récupérer les 6 dernières avis.</a:t>
            </a:r>
          </a:p>
          <a:p>
            <a:r>
              <a:rPr lang="fr-FR" dirty="0"/>
              <a:t>Cela permet de garder la logique d'accès aux données dans le repository plutôt que de mettre directement les requêtes dans le </a:t>
            </a:r>
            <a:r>
              <a:rPr lang="fr-FR" dirty="0" err="1"/>
              <a:t>controller</a:t>
            </a:r>
            <a:r>
              <a:rPr lang="fr-FR" dirty="0"/>
              <a:t>.</a:t>
            </a:r>
          </a:p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F03960-5D09-2897-E151-A70182FEDFC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406921787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434B4A-F2B5-C8E6-1957-6388687705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089ABAA-5A3E-AEC9-2263-1828BF91C96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E44640F-1C24-77E4-AB3D-54EE8922C53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~2m : </a:t>
            </a:r>
            <a:r>
              <a:rPr dirty="0" err="1"/>
              <a:t>Expliquer</a:t>
            </a:r>
            <a:r>
              <a:rPr dirty="0"/>
              <a:t> </a:t>
            </a:r>
            <a:r>
              <a:rPr lang="pt-BR" dirty="0"/>
              <a:t>CRUD</a:t>
            </a:r>
            <a:r>
              <a:rPr dirty="0"/>
              <a:t>.</a:t>
            </a:r>
            <a:endParaRPr lang="pt-BR" dirty="0"/>
          </a:p>
          <a:p>
            <a:endParaRPr lang="pt-BR" dirty="0"/>
          </a:p>
          <a:p>
            <a:r>
              <a:rPr lang="pt-BR" dirty="0" err="1"/>
              <a:t>HandleRequest</a:t>
            </a:r>
            <a:r>
              <a:rPr lang="pt-BR" dirty="0"/>
              <a:t> : </a:t>
            </a:r>
            <a:r>
              <a:rPr lang="fr-FR" dirty="0" err="1"/>
              <a:t>Lê</a:t>
            </a:r>
            <a:r>
              <a:rPr lang="fr-FR" dirty="0"/>
              <a:t> os </a:t>
            </a:r>
            <a:r>
              <a:rPr lang="fr-FR" dirty="0" err="1"/>
              <a:t>dados</a:t>
            </a:r>
            <a:r>
              <a:rPr lang="fr-FR" dirty="0"/>
              <a:t> </a:t>
            </a:r>
            <a:r>
              <a:rPr lang="fr-FR" dirty="0" err="1"/>
              <a:t>enviados</a:t>
            </a:r>
            <a:r>
              <a:rPr lang="fr-FR" dirty="0"/>
              <a:t> pelo </a:t>
            </a:r>
            <a:r>
              <a:rPr lang="fr-FR" dirty="0" err="1"/>
              <a:t>usuário</a:t>
            </a:r>
            <a:r>
              <a:rPr lang="fr-FR" dirty="0"/>
              <a:t> na </a:t>
            </a:r>
            <a:r>
              <a:rPr lang="fr-FR" dirty="0" err="1"/>
              <a:t>requisição</a:t>
            </a:r>
            <a:r>
              <a:rPr lang="fr-FR" dirty="0"/>
              <a:t> HTTP e os </a:t>
            </a:r>
            <a:r>
              <a:rPr lang="fr-FR" dirty="0" err="1"/>
              <a:t>injeta</a:t>
            </a:r>
            <a:r>
              <a:rPr lang="fr-FR" dirty="0"/>
              <a:t> </a:t>
            </a:r>
            <a:r>
              <a:rPr lang="fr-FR" dirty="0" err="1"/>
              <a:t>dentro</a:t>
            </a:r>
            <a:r>
              <a:rPr lang="fr-FR" dirty="0"/>
              <a:t> do </a:t>
            </a:r>
            <a:r>
              <a:rPr lang="fr-FR" dirty="0" err="1"/>
              <a:t>formulário</a:t>
            </a:r>
            <a:r>
              <a:rPr lang="fr-FR" dirty="0"/>
              <a:t>.</a:t>
            </a:r>
          </a:p>
          <a:p>
            <a:r>
              <a:rPr lang="fr-FR" dirty="0"/>
              <a:t>O </a:t>
            </a:r>
            <a:r>
              <a:rPr lang="fr-FR" dirty="0" err="1"/>
              <a:t>código</a:t>
            </a:r>
            <a:r>
              <a:rPr lang="fr-FR" dirty="0"/>
              <a:t> HTTP </a:t>
            </a:r>
            <a:r>
              <a:rPr lang="fr-F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Response</a:t>
            </a:r>
            <a:r>
              <a:rPr lang="fr-F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::HTTP_SEE_OTHER</a:t>
            </a:r>
            <a:r>
              <a:rPr lang="fr-FR" dirty="0"/>
              <a:t> (</a:t>
            </a:r>
            <a:r>
              <a:rPr lang="fr-FR" dirty="0" err="1"/>
              <a:t>código</a:t>
            </a:r>
            <a:r>
              <a:rPr lang="fr-FR" dirty="0"/>
              <a:t> 303) garante que a </a:t>
            </a:r>
            <a:r>
              <a:rPr lang="fr-FR" dirty="0" err="1"/>
              <a:t>requisição</a:t>
            </a:r>
            <a:r>
              <a:rPr lang="fr-FR" dirty="0"/>
              <a:t> de </a:t>
            </a:r>
            <a:r>
              <a:rPr lang="fr-FR" dirty="0" err="1"/>
              <a:t>redirecionamento</a:t>
            </a:r>
            <a:r>
              <a:rPr lang="fr-FR" dirty="0"/>
              <a:t> mude </a:t>
            </a:r>
            <a:r>
              <a:rPr lang="fr-FR" dirty="0" err="1"/>
              <a:t>corretamente</a:t>
            </a:r>
            <a:r>
              <a:rPr lang="fr-FR" dirty="0"/>
              <a:t> para </a:t>
            </a:r>
            <a:r>
              <a:rPr lang="fr-F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GET</a:t>
            </a:r>
            <a:r>
              <a:rPr lang="fr-FR" dirty="0"/>
              <a:t>.</a:t>
            </a:r>
          </a:p>
          <a:p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isCsrfTokenValid</a:t>
            </a:r>
            <a:r>
              <a:rPr lang="fr-F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(...)</a:t>
            </a:r>
            <a:r>
              <a:rPr lang="fr-FR" dirty="0"/>
              <a:t>: Compara o </a:t>
            </a:r>
            <a:r>
              <a:rPr lang="fr-FR" dirty="0" err="1"/>
              <a:t>token</a:t>
            </a:r>
            <a:r>
              <a:rPr lang="fr-FR" dirty="0"/>
              <a:t> </a:t>
            </a:r>
            <a:r>
              <a:rPr lang="fr-FR" dirty="0" err="1"/>
              <a:t>enviado</a:t>
            </a:r>
            <a:r>
              <a:rPr lang="fr-FR" dirty="0"/>
              <a:t> com o </a:t>
            </a:r>
            <a:r>
              <a:rPr lang="fr-FR" dirty="0" err="1"/>
              <a:t>token</a:t>
            </a:r>
            <a:r>
              <a:rPr lang="fr-FR" dirty="0"/>
              <a:t> </a:t>
            </a:r>
            <a:r>
              <a:rPr lang="fr-FR" dirty="0" err="1"/>
              <a:t>gerado</a:t>
            </a:r>
            <a:r>
              <a:rPr lang="fr-FR" dirty="0"/>
              <a:t> pelo </a:t>
            </a:r>
            <a:r>
              <a:rPr lang="fr-FR" dirty="0" err="1"/>
              <a:t>servidor</a:t>
            </a:r>
            <a:r>
              <a:rPr lang="fr-FR" dirty="0"/>
              <a:t> para </a:t>
            </a:r>
            <a:r>
              <a:rPr lang="fr-FR" dirty="0" err="1"/>
              <a:t>aquela</a:t>
            </a:r>
            <a:r>
              <a:rPr lang="fr-FR" dirty="0"/>
              <a:t> </a:t>
            </a:r>
            <a:r>
              <a:rPr lang="fr-FR" dirty="0" err="1"/>
              <a:t>ação</a:t>
            </a:r>
            <a:r>
              <a:rPr lang="fr-FR" dirty="0"/>
              <a:t> </a:t>
            </a:r>
            <a:r>
              <a:rPr lang="fr-FR" dirty="0" err="1"/>
              <a:t>específica</a:t>
            </a:r>
            <a:r>
              <a:rPr lang="fr-FR" dirty="0"/>
              <a:t>.</a:t>
            </a:r>
          </a:p>
          <a:p>
            <a:r>
              <a:rPr lang="fr-FR" dirty="0"/>
              <a:t>O </a:t>
            </a:r>
            <a:r>
              <a:rPr lang="fr-FR" dirty="0" err="1"/>
              <a:t>identificador</a:t>
            </a:r>
            <a:r>
              <a:rPr lang="fr-FR" dirty="0"/>
              <a:t> </a:t>
            </a:r>
            <a:r>
              <a:rPr lang="fr-FR" dirty="0" err="1"/>
              <a:t>único</a:t>
            </a:r>
            <a:r>
              <a:rPr lang="fr-FR" dirty="0"/>
              <a:t> do </a:t>
            </a:r>
            <a:r>
              <a:rPr lang="fr-FR" dirty="0" err="1"/>
              <a:t>token</a:t>
            </a:r>
            <a:r>
              <a:rPr lang="fr-FR" dirty="0"/>
              <a:t> é composto pela string </a:t>
            </a:r>
            <a:r>
              <a:rPr lang="fr-F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'</a:t>
            </a:r>
            <a:r>
              <a:rPr lang="fr-F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delete</a:t>
            </a:r>
            <a:r>
              <a:rPr lang="fr-F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'</a:t>
            </a:r>
            <a:r>
              <a:rPr lang="fr-FR" dirty="0"/>
              <a:t> </a:t>
            </a:r>
            <a:r>
              <a:rPr lang="fr-FR" dirty="0" err="1"/>
              <a:t>concatenada</a:t>
            </a:r>
            <a:r>
              <a:rPr lang="fr-FR" dirty="0"/>
              <a:t> com o ID da </a:t>
            </a:r>
            <a:r>
              <a:rPr lang="fr-FR" dirty="0" err="1"/>
              <a:t>avaliação</a:t>
            </a:r>
            <a:r>
              <a:rPr lang="fr-FR" dirty="0"/>
              <a:t> (</a:t>
            </a:r>
            <a:r>
              <a:rPr lang="fr-F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$</a:t>
            </a:r>
            <a:r>
              <a:rPr lang="fr-F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review</a:t>
            </a:r>
            <a:r>
              <a:rPr lang="fr-F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-&gt;</a:t>
            </a:r>
            <a:r>
              <a:rPr lang="fr-F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getId</a:t>
            </a:r>
            <a:r>
              <a:rPr lang="fr-F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fr-FR" dirty="0"/>
              <a:t>).</a:t>
            </a:r>
          </a:p>
          <a:p>
            <a:r>
              <a:rPr lang="fr-F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$</a:t>
            </a:r>
            <a:r>
              <a:rPr lang="fr-F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request</a:t>
            </a:r>
            <a:r>
              <a:rPr lang="fr-F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-&gt;</a:t>
            </a:r>
            <a:r>
              <a:rPr lang="fr-F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getPayload</a:t>
            </a:r>
            <a:r>
              <a:rPr lang="fr-F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()-&gt;</a:t>
            </a:r>
            <a:r>
              <a:rPr lang="fr-F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getString</a:t>
            </a:r>
            <a:r>
              <a:rPr lang="fr-F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('_</a:t>
            </a:r>
            <a:r>
              <a:rPr lang="fr-F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token</a:t>
            </a:r>
            <a:r>
              <a:rPr lang="fr-F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')</a:t>
            </a:r>
            <a:r>
              <a:rPr lang="fr-FR" dirty="0"/>
              <a:t>: Busca de forma </a:t>
            </a:r>
            <a:r>
              <a:rPr lang="fr-FR" dirty="0" err="1"/>
              <a:t>segura</a:t>
            </a:r>
            <a:r>
              <a:rPr lang="fr-FR" dirty="0"/>
              <a:t> o </a:t>
            </a:r>
            <a:r>
              <a:rPr lang="fr-FR" dirty="0" err="1"/>
              <a:t>valor</a:t>
            </a:r>
            <a:r>
              <a:rPr lang="fr-FR" dirty="0"/>
              <a:t> do campo </a:t>
            </a:r>
            <a:r>
              <a:rPr lang="fr-FR" dirty="0" err="1"/>
              <a:t>oculto</a:t>
            </a:r>
            <a:r>
              <a:rPr lang="fr-FR" dirty="0"/>
              <a:t> </a:t>
            </a:r>
            <a:r>
              <a:rPr lang="fr-F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_</a:t>
            </a:r>
            <a:r>
              <a:rPr lang="fr-F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token</a:t>
            </a:r>
            <a:r>
              <a:rPr lang="fr-FR" dirty="0"/>
              <a:t> </a:t>
            </a:r>
            <a:r>
              <a:rPr lang="fr-FR" dirty="0" err="1"/>
              <a:t>enviado</a:t>
            </a:r>
            <a:r>
              <a:rPr lang="fr-FR" dirty="0"/>
              <a:t> </a:t>
            </a:r>
            <a:r>
              <a:rPr lang="fr-FR" dirty="0" err="1"/>
              <a:t>dentro</a:t>
            </a:r>
            <a:r>
              <a:rPr lang="fr-FR" dirty="0"/>
              <a:t> do </a:t>
            </a:r>
            <a:r>
              <a:rPr lang="fr-FR" dirty="0" err="1"/>
              <a:t>payload</a:t>
            </a:r>
            <a:r>
              <a:rPr lang="fr-FR" dirty="0"/>
              <a:t> da </a:t>
            </a:r>
            <a:r>
              <a:rPr lang="fr-FR" dirty="0" err="1"/>
              <a:t>requisição</a:t>
            </a:r>
            <a:r>
              <a:rPr lang="fr-FR" dirty="0"/>
              <a:t> POST.</a:t>
            </a:r>
          </a:p>
          <a:p>
            <a:pPr lvl="0"/>
            <a:r>
              <a:rPr lang="fr-FR" dirty="0" err="1"/>
              <a:t>evitar</a:t>
            </a:r>
            <a:r>
              <a:rPr lang="fr-FR" dirty="0"/>
              <a:t> </a:t>
            </a:r>
            <a:r>
              <a:rPr lang="fr-FR" dirty="0" err="1"/>
              <a:t>ataques</a:t>
            </a:r>
            <a:r>
              <a:rPr lang="fr-FR" dirty="0"/>
              <a:t> de </a:t>
            </a:r>
            <a:r>
              <a:rPr lang="fr-FR" i="1" dirty="0"/>
              <a:t>Cross-Site </a:t>
            </a:r>
            <a:r>
              <a:rPr lang="fr-FR" i="1" dirty="0" err="1"/>
              <a:t>Request</a:t>
            </a:r>
            <a:r>
              <a:rPr lang="fr-FR" i="1" dirty="0"/>
              <a:t> </a:t>
            </a:r>
            <a:r>
              <a:rPr lang="fr-FR" i="1" dirty="0" err="1"/>
              <a:t>Forgery</a:t>
            </a:r>
            <a:r>
              <a:rPr lang="fr-FR" i="1" dirty="0"/>
              <a:t> (CSRF)</a:t>
            </a:r>
            <a:r>
              <a:rPr lang="fr-FR" dirty="0"/>
              <a:t>, </a:t>
            </a:r>
            <a:r>
              <a:rPr lang="fr-FR" dirty="0" err="1"/>
              <a:t>garantindo</a:t>
            </a:r>
            <a:r>
              <a:rPr lang="fr-FR" dirty="0"/>
              <a:t> que a </a:t>
            </a:r>
            <a:r>
              <a:rPr lang="fr-FR" dirty="0" err="1"/>
              <a:t>solicitação</a:t>
            </a:r>
            <a:r>
              <a:rPr lang="fr-FR" dirty="0"/>
              <a:t> de </a:t>
            </a:r>
            <a:r>
              <a:rPr lang="fr-FR" dirty="0" err="1"/>
              <a:t>exclusão</a:t>
            </a:r>
            <a:r>
              <a:rPr lang="fr-FR" dirty="0"/>
              <a:t> </a:t>
            </a:r>
            <a:r>
              <a:rPr lang="fr-FR" dirty="0" err="1"/>
              <a:t>realmente</a:t>
            </a:r>
            <a:r>
              <a:rPr lang="fr-FR" dirty="0"/>
              <a:t> </a:t>
            </a:r>
            <a:r>
              <a:rPr lang="fr-FR" dirty="0" err="1"/>
              <a:t>veio</a:t>
            </a:r>
            <a:r>
              <a:rPr lang="fr-FR" dirty="0"/>
              <a:t> do </a:t>
            </a:r>
            <a:r>
              <a:rPr lang="fr-FR" dirty="0" err="1"/>
              <a:t>nosso</a:t>
            </a:r>
            <a:r>
              <a:rPr lang="fr-FR" dirty="0"/>
              <a:t> site/</a:t>
            </a:r>
            <a:r>
              <a:rPr lang="fr-FR" dirty="0" err="1"/>
              <a:t>sistema</a:t>
            </a:r>
            <a:r>
              <a:rPr lang="fr-FR" dirty="0"/>
              <a:t> e </a:t>
            </a:r>
            <a:r>
              <a:rPr lang="fr-FR" dirty="0" err="1"/>
              <a:t>não</a:t>
            </a:r>
            <a:r>
              <a:rPr lang="fr-FR" dirty="0"/>
              <a:t> de um site </a:t>
            </a:r>
            <a:r>
              <a:rPr lang="fr-FR" dirty="0" err="1"/>
              <a:t>malicioso</a:t>
            </a:r>
            <a:r>
              <a:rPr lang="fr-FR" dirty="0"/>
              <a:t> </a:t>
            </a:r>
            <a:r>
              <a:rPr lang="fr-FR" dirty="0" err="1"/>
              <a:t>externo</a:t>
            </a:r>
            <a:r>
              <a:rPr lang="fr-FR" dirty="0"/>
              <a:t> </a:t>
            </a:r>
            <a:r>
              <a:rPr lang="fr-FR" dirty="0" err="1"/>
              <a:t>tentando</a:t>
            </a:r>
            <a:r>
              <a:rPr lang="fr-FR" dirty="0"/>
              <a:t> </a:t>
            </a:r>
            <a:r>
              <a:rPr lang="fr-FR" dirty="0" err="1"/>
              <a:t>forçar</a:t>
            </a:r>
            <a:r>
              <a:rPr lang="fr-FR" dirty="0"/>
              <a:t> a </a:t>
            </a:r>
            <a:r>
              <a:rPr lang="fr-FR" dirty="0" err="1"/>
              <a:t>ação</a:t>
            </a:r>
            <a:r>
              <a:rPr lang="fr-FR" dirty="0"/>
              <a:t>.</a:t>
            </a:r>
          </a:p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4050EE-074D-3038-EB6D-ADB8CB9831B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14607178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BE95BA-2664-B704-434A-81C247A4D9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6CAB29D-25D9-AB3A-3450-01B99CF032D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F41B860-6C54-5A5B-DD4A-30854732357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~2m : </a:t>
            </a:r>
            <a:r>
              <a:rPr dirty="0" err="1"/>
              <a:t>Expliquer</a:t>
            </a:r>
            <a:r>
              <a:rPr dirty="0"/>
              <a:t> </a:t>
            </a:r>
            <a:r>
              <a:rPr lang="pt-BR" dirty="0"/>
              <a:t>CRUD</a:t>
            </a:r>
            <a:r>
              <a:rPr dirty="0"/>
              <a:t>.</a:t>
            </a:r>
            <a:endParaRPr lang="pt-BR" dirty="0"/>
          </a:p>
          <a:p>
            <a:endParaRPr lang="pt-BR" dirty="0"/>
          </a:p>
          <a:p>
            <a:r>
              <a:rPr lang="pt-BR" dirty="0" err="1"/>
              <a:t>HandleRequest</a:t>
            </a:r>
            <a:r>
              <a:rPr lang="pt-BR" dirty="0"/>
              <a:t> : </a:t>
            </a:r>
            <a:r>
              <a:rPr lang="fr-FR" dirty="0" err="1"/>
              <a:t>Lê</a:t>
            </a:r>
            <a:r>
              <a:rPr lang="fr-FR" dirty="0"/>
              <a:t> os </a:t>
            </a:r>
            <a:r>
              <a:rPr lang="fr-FR" dirty="0" err="1"/>
              <a:t>dados</a:t>
            </a:r>
            <a:r>
              <a:rPr lang="fr-FR" dirty="0"/>
              <a:t> </a:t>
            </a:r>
            <a:r>
              <a:rPr lang="fr-FR" dirty="0" err="1"/>
              <a:t>enviados</a:t>
            </a:r>
            <a:r>
              <a:rPr lang="fr-FR" dirty="0"/>
              <a:t> pelo </a:t>
            </a:r>
            <a:r>
              <a:rPr lang="fr-FR" dirty="0" err="1"/>
              <a:t>usuário</a:t>
            </a:r>
            <a:r>
              <a:rPr lang="fr-FR" dirty="0"/>
              <a:t> na </a:t>
            </a:r>
            <a:r>
              <a:rPr lang="fr-FR" dirty="0" err="1"/>
              <a:t>requisição</a:t>
            </a:r>
            <a:r>
              <a:rPr lang="fr-FR" dirty="0"/>
              <a:t> HTTP e os </a:t>
            </a:r>
            <a:r>
              <a:rPr lang="fr-FR" dirty="0" err="1"/>
              <a:t>injeta</a:t>
            </a:r>
            <a:r>
              <a:rPr lang="fr-FR" dirty="0"/>
              <a:t> </a:t>
            </a:r>
            <a:r>
              <a:rPr lang="fr-FR" dirty="0" err="1"/>
              <a:t>dentro</a:t>
            </a:r>
            <a:r>
              <a:rPr lang="fr-FR" dirty="0"/>
              <a:t> do </a:t>
            </a:r>
            <a:r>
              <a:rPr lang="fr-FR" dirty="0" err="1"/>
              <a:t>formulário</a:t>
            </a:r>
            <a:r>
              <a:rPr lang="fr-FR" dirty="0"/>
              <a:t>.</a:t>
            </a:r>
          </a:p>
          <a:p>
            <a:r>
              <a:rPr lang="fr-FR" dirty="0"/>
              <a:t>O </a:t>
            </a:r>
            <a:r>
              <a:rPr lang="fr-FR" dirty="0" err="1"/>
              <a:t>código</a:t>
            </a:r>
            <a:r>
              <a:rPr lang="fr-FR" dirty="0"/>
              <a:t> HTTP </a:t>
            </a:r>
            <a:r>
              <a:rPr lang="fr-F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Response</a:t>
            </a:r>
            <a:r>
              <a:rPr lang="fr-F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::HTTP_SEE_OTHER</a:t>
            </a:r>
            <a:r>
              <a:rPr lang="fr-FR" dirty="0"/>
              <a:t> (</a:t>
            </a:r>
            <a:r>
              <a:rPr lang="fr-FR" dirty="0" err="1"/>
              <a:t>código</a:t>
            </a:r>
            <a:r>
              <a:rPr lang="fr-FR" dirty="0"/>
              <a:t> 303) garante que a </a:t>
            </a:r>
            <a:r>
              <a:rPr lang="fr-FR" dirty="0" err="1"/>
              <a:t>requisição</a:t>
            </a:r>
            <a:r>
              <a:rPr lang="fr-FR" dirty="0"/>
              <a:t> de </a:t>
            </a:r>
            <a:r>
              <a:rPr lang="fr-FR" dirty="0" err="1"/>
              <a:t>redirecionamento</a:t>
            </a:r>
            <a:r>
              <a:rPr lang="fr-FR" dirty="0"/>
              <a:t> mude </a:t>
            </a:r>
            <a:r>
              <a:rPr lang="fr-FR" dirty="0" err="1"/>
              <a:t>corretamente</a:t>
            </a:r>
            <a:r>
              <a:rPr lang="fr-FR" dirty="0"/>
              <a:t> para </a:t>
            </a:r>
            <a:r>
              <a:rPr lang="fr-F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GET</a:t>
            </a:r>
            <a:r>
              <a:rPr lang="fr-FR" dirty="0"/>
              <a:t>.</a:t>
            </a:r>
          </a:p>
          <a:p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isCsrfTokenValid</a:t>
            </a:r>
            <a:r>
              <a:rPr lang="fr-F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(...)</a:t>
            </a:r>
            <a:r>
              <a:rPr lang="fr-FR" dirty="0"/>
              <a:t>: Compara o </a:t>
            </a:r>
            <a:r>
              <a:rPr lang="fr-FR" dirty="0" err="1"/>
              <a:t>token</a:t>
            </a:r>
            <a:r>
              <a:rPr lang="fr-FR" dirty="0"/>
              <a:t> </a:t>
            </a:r>
            <a:r>
              <a:rPr lang="fr-FR" dirty="0" err="1"/>
              <a:t>enviado</a:t>
            </a:r>
            <a:r>
              <a:rPr lang="fr-FR" dirty="0"/>
              <a:t> com o </a:t>
            </a:r>
            <a:r>
              <a:rPr lang="fr-FR" dirty="0" err="1"/>
              <a:t>token</a:t>
            </a:r>
            <a:r>
              <a:rPr lang="fr-FR" dirty="0"/>
              <a:t> </a:t>
            </a:r>
            <a:r>
              <a:rPr lang="fr-FR" dirty="0" err="1"/>
              <a:t>gerado</a:t>
            </a:r>
            <a:r>
              <a:rPr lang="fr-FR" dirty="0"/>
              <a:t> pelo </a:t>
            </a:r>
            <a:r>
              <a:rPr lang="fr-FR" dirty="0" err="1"/>
              <a:t>servidor</a:t>
            </a:r>
            <a:r>
              <a:rPr lang="fr-FR" dirty="0"/>
              <a:t> para </a:t>
            </a:r>
            <a:r>
              <a:rPr lang="fr-FR" dirty="0" err="1"/>
              <a:t>aquela</a:t>
            </a:r>
            <a:r>
              <a:rPr lang="fr-FR" dirty="0"/>
              <a:t> </a:t>
            </a:r>
            <a:r>
              <a:rPr lang="fr-FR" dirty="0" err="1"/>
              <a:t>ação</a:t>
            </a:r>
            <a:r>
              <a:rPr lang="fr-FR" dirty="0"/>
              <a:t> </a:t>
            </a:r>
            <a:r>
              <a:rPr lang="fr-FR" dirty="0" err="1"/>
              <a:t>específica</a:t>
            </a:r>
            <a:r>
              <a:rPr lang="fr-FR" dirty="0"/>
              <a:t>.</a:t>
            </a:r>
          </a:p>
          <a:p>
            <a:r>
              <a:rPr lang="fr-FR" dirty="0"/>
              <a:t>O </a:t>
            </a:r>
            <a:r>
              <a:rPr lang="fr-FR" dirty="0" err="1"/>
              <a:t>identificador</a:t>
            </a:r>
            <a:r>
              <a:rPr lang="fr-FR" dirty="0"/>
              <a:t> </a:t>
            </a:r>
            <a:r>
              <a:rPr lang="fr-FR" dirty="0" err="1"/>
              <a:t>único</a:t>
            </a:r>
            <a:r>
              <a:rPr lang="fr-FR" dirty="0"/>
              <a:t> do </a:t>
            </a:r>
            <a:r>
              <a:rPr lang="fr-FR" dirty="0" err="1"/>
              <a:t>token</a:t>
            </a:r>
            <a:r>
              <a:rPr lang="fr-FR" dirty="0"/>
              <a:t> é composto pela string </a:t>
            </a:r>
            <a:r>
              <a:rPr lang="fr-F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'</a:t>
            </a:r>
            <a:r>
              <a:rPr lang="fr-F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delete</a:t>
            </a:r>
            <a:r>
              <a:rPr lang="fr-F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'</a:t>
            </a:r>
            <a:r>
              <a:rPr lang="fr-FR" dirty="0"/>
              <a:t> </a:t>
            </a:r>
            <a:r>
              <a:rPr lang="fr-FR" dirty="0" err="1"/>
              <a:t>concatenada</a:t>
            </a:r>
            <a:r>
              <a:rPr lang="fr-FR" dirty="0"/>
              <a:t> com o ID da </a:t>
            </a:r>
            <a:r>
              <a:rPr lang="fr-FR" dirty="0" err="1"/>
              <a:t>avaliação</a:t>
            </a:r>
            <a:r>
              <a:rPr lang="fr-FR" dirty="0"/>
              <a:t> (</a:t>
            </a:r>
            <a:r>
              <a:rPr lang="fr-F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$</a:t>
            </a:r>
            <a:r>
              <a:rPr lang="fr-F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review</a:t>
            </a:r>
            <a:r>
              <a:rPr lang="fr-F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-&gt;</a:t>
            </a:r>
            <a:r>
              <a:rPr lang="fr-F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getId</a:t>
            </a:r>
            <a:r>
              <a:rPr lang="fr-F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fr-FR" dirty="0"/>
              <a:t>).</a:t>
            </a:r>
          </a:p>
          <a:p>
            <a:r>
              <a:rPr lang="fr-F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$</a:t>
            </a:r>
            <a:r>
              <a:rPr lang="fr-F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request</a:t>
            </a:r>
            <a:r>
              <a:rPr lang="fr-F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-&gt;</a:t>
            </a:r>
            <a:r>
              <a:rPr lang="fr-F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getPayload</a:t>
            </a:r>
            <a:r>
              <a:rPr lang="fr-F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()-&gt;</a:t>
            </a:r>
            <a:r>
              <a:rPr lang="fr-F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getString</a:t>
            </a:r>
            <a:r>
              <a:rPr lang="fr-F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('_</a:t>
            </a:r>
            <a:r>
              <a:rPr lang="fr-F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token</a:t>
            </a:r>
            <a:r>
              <a:rPr lang="fr-F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')</a:t>
            </a:r>
            <a:r>
              <a:rPr lang="fr-FR" dirty="0"/>
              <a:t>: Busca de forma </a:t>
            </a:r>
            <a:r>
              <a:rPr lang="fr-FR" dirty="0" err="1"/>
              <a:t>segura</a:t>
            </a:r>
            <a:r>
              <a:rPr lang="fr-FR" dirty="0"/>
              <a:t> o </a:t>
            </a:r>
            <a:r>
              <a:rPr lang="fr-FR" dirty="0" err="1"/>
              <a:t>valor</a:t>
            </a:r>
            <a:r>
              <a:rPr lang="fr-FR" dirty="0"/>
              <a:t> do campo </a:t>
            </a:r>
            <a:r>
              <a:rPr lang="fr-FR" dirty="0" err="1"/>
              <a:t>oculto</a:t>
            </a:r>
            <a:r>
              <a:rPr lang="fr-FR" dirty="0"/>
              <a:t> </a:t>
            </a:r>
            <a:r>
              <a:rPr lang="fr-F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_</a:t>
            </a:r>
            <a:r>
              <a:rPr lang="fr-F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token</a:t>
            </a:r>
            <a:r>
              <a:rPr lang="fr-FR" dirty="0"/>
              <a:t> </a:t>
            </a:r>
            <a:r>
              <a:rPr lang="fr-FR" dirty="0" err="1"/>
              <a:t>enviado</a:t>
            </a:r>
            <a:r>
              <a:rPr lang="fr-FR" dirty="0"/>
              <a:t> </a:t>
            </a:r>
            <a:r>
              <a:rPr lang="fr-FR" dirty="0" err="1"/>
              <a:t>dentro</a:t>
            </a:r>
            <a:r>
              <a:rPr lang="fr-FR" dirty="0"/>
              <a:t> do </a:t>
            </a:r>
            <a:r>
              <a:rPr lang="fr-FR" dirty="0" err="1"/>
              <a:t>payload</a:t>
            </a:r>
            <a:r>
              <a:rPr lang="fr-FR" dirty="0"/>
              <a:t> da </a:t>
            </a:r>
            <a:r>
              <a:rPr lang="fr-FR" dirty="0" err="1"/>
              <a:t>requisição</a:t>
            </a:r>
            <a:r>
              <a:rPr lang="fr-FR" dirty="0"/>
              <a:t> POST.</a:t>
            </a:r>
          </a:p>
          <a:p>
            <a:pPr lvl="0"/>
            <a:r>
              <a:rPr lang="fr-FR" dirty="0" err="1"/>
              <a:t>evitar</a:t>
            </a:r>
            <a:r>
              <a:rPr lang="fr-FR" dirty="0"/>
              <a:t> </a:t>
            </a:r>
            <a:r>
              <a:rPr lang="fr-FR" dirty="0" err="1"/>
              <a:t>ataques</a:t>
            </a:r>
            <a:r>
              <a:rPr lang="fr-FR" dirty="0"/>
              <a:t> de </a:t>
            </a:r>
            <a:r>
              <a:rPr lang="fr-FR" i="1" dirty="0"/>
              <a:t>Cross-Site </a:t>
            </a:r>
            <a:r>
              <a:rPr lang="fr-FR" i="1" dirty="0" err="1"/>
              <a:t>Request</a:t>
            </a:r>
            <a:r>
              <a:rPr lang="fr-FR" i="1" dirty="0"/>
              <a:t> </a:t>
            </a:r>
            <a:r>
              <a:rPr lang="fr-FR" i="1" dirty="0" err="1"/>
              <a:t>Forgery</a:t>
            </a:r>
            <a:r>
              <a:rPr lang="fr-FR" i="1" dirty="0"/>
              <a:t> (CSRF)</a:t>
            </a:r>
            <a:r>
              <a:rPr lang="fr-FR" dirty="0"/>
              <a:t>, </a:t>
            </a:r>
            <a:r>
              <a:rPr lang="fr-FR" dirty="0" err="1"/>
              <a:t>garantindo</a:t>
            </a:r>
            <a:r>
              <a:rPr lang="fr-FR" dirty="0"/>
              <a:t> que a </a:t>
            </a:r>
            <a:r>
              <a:rPr lang="fr-FR" dirty="0" err="1"/>
              <a:t>solicitação</a:t>
            </a:r>
            <a:r>
              <a:rPr lang="fr-FR" dirty="0"/>
              <a:t> de </a:t>
            </a:r>
            <a:r>
              <a:rPr lang="fr-FR" dirty="0" err="1"/>
              <a:t>exclusão</a:t>
            </a:r>
            <a:r>
              <a:rPr lang="fr-FR" dirty="0"/>
              <a:t> </a:t>
            </a:r>
            <a:r>
              <a:rPr lang="fr-FR" dirty="0" err="1"/>
              <a:t>realmente</a:t>
            </a:r>
            <a:r>
              <a:rPr lang="fr-FR" dirty="0"/>
              <a:t> </a:t>
            </a:r>
            <a:r>
              <a:rPr lang="fr-FR" dirty="0" err="1"/>
              <a:t>veio</a:t>
            </a:r>
            <a:r>
              <a:rPr lang="fr-FR" dirty="0"/>
              <a:t> do </a:t>
            </a:r>
            <a:r>
              <a:rPr lang="fr-FR" dirty="0" err="1"/>
              <a:t>nosso</a:t>
            </a:r>
            <a:r>
              <a:rPr lang="fr-FR" dirty="0"/>
              <a:t> site/</a:t>
            </a:r>
            <a:r>
              <a:rPr lang="fr-FR" dirty="0" err="1"/>
              <a:t>sistema</a:t>
            </a:r>
            <a:r>
              <a:rPr lang="fr-FR" dirty="0"/>
              <a:t> e </a:t>
            </a:r>
            <a:r>
              <a:rPr lang="fr-FR" dirty="0" err="1"/>
              <a:t>não</a:t>
            </a:r>
            <a:r>
              <a:rPr lang="fr-FR" dirty="0"/>
              <a:t> de um site </a:t>
            </a:r>
            <a:r>
              <a:rPr lang="fr-FR" dirty="0" err="1"/>
              <a:t>malicioso</a:t>
            </a:r>
            <a:r>
              <a:rPr lang="fr-FR" dirty="0"/>
              <a:t> </a:t>
            </a:r>
            <a:r>
              <a:rPr lang="fr-FR" dirty="0" err="1"/>
              <a:t>externo</a:t>
            </a:r>
            <a:r>
              <a:rPr lang="fr-FR" dirty="0"/>
              <a:t> </a:t>
            </a:r>
            <a:r>
              <a:rPr lang="fr-FR" dirty="0" err="1"/>
              <a:t>tentando</a:t>
            </a:r>
            <a:r>
              <a:rPr lang="fr-FR" dirty="0"/>
              <a:t> </a:t>
            </a:r>
            <a:r>
              <a:rPr lang="fr-FR" dirty="0" err="1"/>
              <a:t>forçar</a:t>
            </a:r>
            <a:r>
              <a:rPr lang="fr-FR" dirty="0"/>
              <a:t> a </a:t>
            </a:r>
            <a:r>
              <a:rPr lang="fr-FR" dirty="0" err="1"/>
              <a:t>ação</a:t>
            </a:r>
            <a:r>
              <a:rPr lang="fr-FR" dirty="0"/>
              <a:t>.</a:t>
            </a:r>
          </a:p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714190-D623-97D1-4157-043DF787815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56028563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~1m : Forms, Security et Mailer.</a:t>
            </a:r>
            <a:endParaRPr lang="pt-BR" dirty="0"/>
          </a:p>
          <a:p>
            <a:r>
              <a:rPr lang="fr-FR" dirty="0"/>
              <a:t>Symfony me permet également de gérer les formulaires.</a:t>
            </a:r>
          </a:p>
          <a:p>
            <a:r>
              <a:rPr lang="fr-FR" dirty="0"/>
              <a:t>J'utilise des classes </a:t>
            </a:r>
            <a:r>
              <a:rPr lang="fr-FR" dirty="0" err="1"/>
              <a:t>FormType</a:t>
            </a:r>
            <a:r>
              <a:rPr lang="fr-FR" dirty="0"/>
              <a:t> pour la création d'utilisateurs, les demandes de devis, les avis et les formulaires d'administration.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561664-256E-100F-1E97-40212D33EA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4CFDC0A-4B0D-09F9-86D9-ECEA885D33C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9ABE0F3-864D-5B80-DD18-11119F17542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~1m : Forms, Security et Mailer.</a:t>
            </a:r>
            <a:endParaRPr lang="pt-BR" dirty="0"/>
          </a:p>
          <a:p>
            <a:r>
              <a:rPr lang="fr-FR" dirty="0"/>
              <a:t>La sécurité est gérée avec le composant Security de Symfony.</a:t>
            </a:r>
          </a:p>
          <a:p>
            <a:r>
              <a:rPr lang="fr-FR" dirty="0"/>
              <a:t>Les mots de passe ne sont pas stockés en clair : ils sont </a:t>
            </a:r>
            <a:r>
              <a:rPr lang="fr-FR" dirty="0" err="1"/>
              <a:t>hashés</a:t>
            </a:r>
            <a:r>
              <a:rPr lang="fr-FR" dirty="0"/>
              <a:t> avant d'être enregistrés.</a:t>
            </a:r>
          </a:p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913D0E-062F-9342-9C9F-EA0DFE33B75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29961737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E0D553-F6D1-9EC8-0D97-EAE97A433F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43A099F-78D6-2FDD-A36F-F00D24647CD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263753F-90EF-0B5C-62C3-91DC7E92A12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~1m : Forms, Security et Mailer.</a:t>
            </a:r>
            <a:endParaRPr lang="pt-BR" dirty="0"/>
          </a:p>
          <a:p>
            <a:r>
              <a:rPr lang="fr-FR" dirty="0"/>
              <a:t>La sécurité est gérée avec le composant Security de Symfony.</a:t>
            </a:r>
          </a:p>
          <a:p>
            <a:r>
              <a:rPr lang="fr-FR" dirty="0"/>
              <a:t>Les mots de passe ne sont pas stockés en clair : ils sont </a:t>
            </a:r>
            <a:r>
              <a:rPr lang="fr-FR" dirty="0" err="1"/>
              <a:t>hashés</a:t>
            </a:r>
            <a:r>
              <a:rPr lang="fr-FR" dirty="0"/>
              <a:t> avant d'être enregistrés.</a:t>
            </a:r>
          </a:p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2DFBFA-1AF3-0C4A-394C-AB020D185E1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02455935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~5m : </a:t>
            </a:r>
            <a:r>
              <a:rPr dirty="0" err="1"/>
              <a:t>Démonstration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direct.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~1m30 : Donner 2-3 </a:t>
            </a:r>
            <a:r>
              <a:rPr dirty="0" err="1"/>
              <a:t>difficultés</a:t>
            </a:r>
            <a:r>
              <a:rPr dirty="0"/>
              <a:t> et solutions.</a:t>
            </a:r>
            <a:endParaRPr lang="pt-BR" dirty="0"/>
          </a:p>
          <a:p>
            <a:r>
              <a:rPr lang="fr-FR" dirty="0"/>
              <a:t>Une des premières difficultés a été de bien comprendre la manière dont les différentes parties de Symfony communiquent entre elles.</a:t>
            </a:r>
          </a:p>
          <a:p>
            <a:endParaRPr lang="fr-FR" dirty="0"/>
          </a:p>
          <a:p>
            <a:r>
              <a:rPr lang="fr-FR" dirty="0"/>
              <a:t>Par exemple, il faut comprendre la différence entre une entité, un repository et un </a:t>
            </a:r>
            <a:r>
              <a:rPr lang="fr-FR" dirty="0" err="1"/>
              <a:t>controller</a:t>
            </a:r>
            <a:r>
              <a:rPr lang="fr-FR" dirty="0"/>
              <a:t>, et surtout savoir où placer chaque responsabilité.</a:t>
            </a:r>
          </a:p>
          <a:p>
            <a:endParaRPr lang="fr-FR" dirty="0"/>
          </a:p>
          <a:p>
            <a:r>
              <a:rPr lang="fr-FR" dirty="0"/>
              <a:t>J'ai également rencontré des difficultés avec les relations entre les entités Doctrine, notamment les relations entre produits et catégories.</a:t>
            </a:r>
          </a:p>
          <a:p>
            <a:endParaRPr lang="fr-FR" dirty="0"/>
          </a:p>
          <a:p>
            <a:r>
              <a:rPr lang="fr-FR" dirty="0"/>
              <a:t>Côté </a:t>
            </a:r>
            <a:r>
              <a:rPr lang="fr-FR" dirty="0" err="1"/>
              <a:t>front-end</a:t>
            </a:r>
            <a:r>
              <a:rPr lang="fr-FR" dirty="0"/>
              <a:t>, l'intégration de la maquette a demandé plusieurs adaptations pour obtenir un résultat responsif.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~1m : </a:t>
            </a:r>
            <a:r>
              <a:rPr dirty="0" err="1"/>
              <a:t>Présenter</a:t>
            </a:r>
            <a:r>
              <a:rPr dirty="0"/>
              <a:t> les </a:t>
            </a:r>
            <a:r>
              <a:rPr dirty="0" err="1"/>
              <a:t>évolutions</a:t>
            </a:r>
            <a:r>
              <a:rPr dirty="0"/>
              <a:t> </a:t>
            </a:r>
            <a:r>
              <a:rPr dirty="0" err="1"/>
              <a:t>prévues</a:t>
            </a:r>
            <a:r>
              <a:rPr dirty="0"/>
              <a:t>.</a:t>
            </a:r>
            <a:endParaRPr lang="pt-BR" dirty="0"/>
          </a:p>
          <a:p>
            <a:r>
              <a:rPr lang="fr-FR" dirty="0"/>
              <a:t>Le projet est encore en cours de développement, donc plusieurs évolutions sont prévues.</a:t>
            </a:r>
          </a:p>
          <a:p>
            <a:r>
              <a:rPr lang="fr-FR" dirty="0"/>
              <a:t>À court terme, je souhaite principalement finaliser certaines fonctionnalités existantes et améliorer les tests et les validations.</a:t>
            </a:r>
          </a:p>
          <a:p>
            <a:r>
              <a:rPr lang="fr-FR" dirty="0"/>
              <a:t>Ensuite, je pourrais ajouter la gestion des images, une recherche plus avancée, des filtres et une pagination.</a:t>
            </a:r>
          </a:p>
          <a:p>
            <a:r>
              <a:rPr lang="fr-FR" dirty="0"/>
              <a:t>À plus long terme, une évolution intéressante serait de permettre à un utilisateur de personnaliser directement un produit avant de faire une demande de devis.</a:t>
            </a:r>
          </a:p>
          <a:p>
            <a:r>
              <a:rPr lang="fr-FR" dirty="0"/>
              <a:t>Enfin, l'objectif final serait de pouvoir mettre l'application en production.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~45s : Conclusion et questions.</a:t>
            </a:r>
            <a:endParaRPr lang="pt-BR" dirty="0"/>
          </a:p>
          <a:p>
            <a:r>
              <a:rPr lang="fr-FR" dirty="0"/>
              <a:t>Pour conclure, ce projet m'a permis de mettre en pratique plusieurs notions importantes du développement d'applications web.</a:t>
            </a:r>
          </a:p>
          <a:p>
            <a:r>
              <a:rPr lang="fr-FR" dirty="0"/>
              <a:t>J'ai travaillé sur la conception de la base de données, les relations entre les entités, les </a:t>
            </a:r>
            <a:r>
              <a:rPr lang="fr-FR" dirty="0" err="1"/>
              <a:t>controllers</a:t>
            </a:r>
            <a:r>
              <a:rPr lang="fr-FR" dirty="0"/>
              <a:t>, les repositories, Doctrine, les formulaires, la sécurité et le rendu avec Twig.</a:t>
            </a:r>
          </a:p>
          <a:p>
            <a:r>
              <a:rPr lang="fr-FR" dirty="0"/>
              <a:t>J'ai également travaillé sur l'intégration </a:t>
            </a:r>
            <a:r>
              <a:rPr lang="fr-FR" dirty="0" err="1"/>
              <a:t>front-end</a:t>
            </a:r>
            <a:r>
              <a:rPr lang="fr-FR" dirty="0"/>
              <a:t> avec Bootstrap, CSS et JavaScript.</a:t>
            </a:r>
          </a:p>
          <a:p>
            <a:r>
              <a:rPr lang="fr-FR" dirty="0"/>
              <a:t>Le projet n'est pas encore complètement terminé, mais les principales bases techniques sont en place et l'application possède déjà un fonctionnement complet sur plusieurs parties.</a:t>
            </a:r>
          </a:p>
          <a:p>
            <a:r>
              <a:rPr lang="fr-FR" dirty="0"/>
              <a:t>Ce projet m'a surtout permis de mieux comprendre comment les différentes couches d'une application Symfony communiquent entre elles.</a:t>
            </a:r>
          </a:p>
          <a:p>
            <a:endParaRPr lang="fr-FR" dirty="0"/>
          </a:p>
          <a:p>
            <a:r>
              <a:rPr lang="fr-FR" dirty="0"/>
              <a:t>Merci pour votre attention.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F0BBF9-FDDA-4B23-B401-580D566EDE34}" type="datetime1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8F0B54-4CA1-462C-A3CA-145342ABB252}" type="datetime1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FC4D4C-880A-4F8B-B5C2-53B3C9C28657}" type="datetime1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023AE9-28DD-4232-84BB-EC01B1CFADA4}" type="datetime1">
              <a:rPr lang="en-US" smtClean="0"/>
              <a:t>10/24/2026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BD6F03-AB67-4719-A2A7-2BBD689EEC74}" type="datetime1">
              <a:rPr lang="en-US" smtClean="0"/>
              <a:t>10/24/2026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D7D015-B9A4-41F9-B951-2C0BCF7D78D1}" type="datetime1">
              <a:rPr lang="en-US" smtClean="0"/>
              <a:t>10/24/2026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10009B-7227-4240-9450-4F66351B3DBE}" type="datetime1">
              <a:rPr lang="en-US" smtClean="0"/>
              <a:t>10/24/2026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9809018" y="6311900"/>
            <a:ext cx="2133600" cy="365125"/>
          </a:xfrm>
        </p:spPr>
        <p:txBody>
          <a:bodyPr/>
          <a:lstStyle>
            <a:lvl1pPr>
              <a:defRPr sz="2000"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pPr/>
              <a:t>‹N°›</a:t>
            </a:fld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5A1ACD-57D8-4D0A-A94D-EA57B0159C4D}" type="datetime1">
              <a:rPr lang="en-US" smtClean="0"/>
              <a:t>10/24/2026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5BC11E-83E0-47F6-B517-684087A81E6E}" type="datetime1">
              <a:rPr lang="en-US" smtClean="0"/>
              <a:t>10/24/2026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9FFBD-AE49-41AD-83FB-FE94F5340E39}" type="datetime1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0E8715-E3F0-4689-8D1F-767FDF19E4B2}" type="datetime1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alphaModFix amt="50000"/>
            <a:lum/>
          </a:blip>
          <a:srcRect/>
          <a:stretch>
            <a:fillRect r="-4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E1938-7668-4051-B501-987B32E23C0F}" type="datetime1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r="-4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300619" y="451794"/>
            <a:ext cx="5590761" cy="181588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fr-FR" sz="4800" b="1" noProof="0" dirty="0">
                <a:solidFill>
                  <a:srgbClr val="2C2522"/>
                </a:solidFill>
              </a:rPr>
              <a:t>Site web de broderie</a:t>
            </a:r>
          </a:p>
          <a:p>
            <a:pPr algn="ctr"/>
            <a:r>
              <a:rPr lang="fr-FR" sz="4000" noProof="0" dirty="0">
                <a:solidFill>
                  <a:schemeClr val="accent6">
                    <a:lumMod val="50000"/>
                  </a:schemeClr>
                </a:solidFill>
              </a:rPr>
              <a:t>et personnalisation textile</a:t>
            </a:r>
          </a:p>
          <a:p>
            <a:pPr algn="ctr"/>
            <a:r>
              <a:rPr lang="fr-FR" sz="2400" dirty="0"/>
              <a:t>Application web développée avec Symfony</a:t>
            </a: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6701434F-79A2-DB61-127D-E1C7527F13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26240" y="2651760"/>
            <a:ext cx="3539517" cy="2319531"/>
          </a:xfrm>
          <a:prstGeom prst="rect">
            <a:avLst/>
          </a:prstGeom>
        </p:spPr>
      </p:pic>
      <p:sp>
        <p:nvSpPr>
          <p:cNvPr id="5" name="Aureo Ruffier">
            <a:extLst>
              <a:ext uri="{FF2B5EF4-FFF2-40B4-BE49-F238E27FC236}">
                <a16:creationId xmlns:a16="http://schemas.microsoft.com/office/drawing/2014/main" id="{88E28915-DF6B-2942-0F6C-C577F367403C}"/>
              </a:ext>
            </a:extLst>
          </p:cNvPr>
          <p:cNvSpPr>
            <a:spLocks noGrp="1"/>
          </p:cNvSpPr>
          <p:nvPr/>
        </p:nvSpPr>
        <p:spPr>
          <a:xfrm>
            <a:off x="724215" y="5155736"/>
            <a:ext cx="5905500" cy="1255619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75" b="0">
                <a:solidFill>
                  <a:srgbClr val="262B29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262B29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262B29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262B29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262B29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262B29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262B29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262B29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262B29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262B29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875" b="0">
                <a:solidFill>
                  <a:srgbClr val="262B29"/>
                </a:solidFill>
                <a:latin typeface="Arial"/>
                <a:ea typeface="Arial"/>
                <a:cs typeface="Arial"/>
              </a:defRPr>
            </a:pPr>
            <a:r>
              <a:rPr sz="2000" b="1" dirty="0">
                <a:solidFill>
                  <a:srgbClr val="262B29"/>
                </a:solidFill>
                <a:latin typeface="+mj-lt"/>
                <a:ea typeface="Arial"/>
                <a:cs typeface="Arial"/>
              </a:rPr>
              <a:t>Aureo Ruffier</a:t>
            </a:r>
            <a:endParaRPr lang="pt-BR" sz="2000" b="1" dirty="0">
              <a:solidFill>
                <a:srgbClr val="262B29"/>
              </a:solidFill>
              <a:latin typeface="+mj-lt"/>
              <a:ea typeface="Arial"/>
              <a:cs typeface="Arial"/>
            </a:endParaRPr>
          </a:p>
          <a:p>
            <a:pPr>
              <a:defRPr sz="1875" b="0">
                <a:solidFill>
                  <a:srgbClr val="262B29"/>
                </a:solidFill>
                <a:latin typeface="Arial"/>
                <a:ea typeface="Arial"/>
                <a:cs typeface="Arial"/>
              </a:defRPr>
            </a:pPr>
            <a:endParaRPr lang="pt-BR" sz="800" b="1" dirty="0">
              <a:solidFill>
                <a:srgbClr val="262B29"/>
              </a:solidFill>
              <a:latin typeface="+mj-lt"/>
              <a:ea typeface="Arial"/>
              <a:cs typeface="Arial"/>
            </a:endParaRPr>
          </a:p>
          <a:p>
            <a:pPr>
              <a:defRPr sz="1875" b="0">
                <a:solidFill>
                  <a:srgbClr val="262B29"/>
                </a:solidFill>
                <a:latin typeface="Arial"/>
                <a:ea typeface="Arial"/>
                <a:cs typeface="Arial"/>
              </a:defRPr>
            </a:pPr>
            <a:r>
              <a:rPr lang="fr-FR" sz="2000" dirty="0">
                <a:latin typeface="+mj-lt"/>
              </a:rPr>
              <a:t>Centre de formation : Institut de la PME</a:t>
            </a:r>
            <a:endParaRPr lang="pt-BR" sz="2000" b="0" dirty="0">
              <a:solidFill>
                <a:srgbClr val="262B29"/>
              </a:solidFill>
              <a:latin typeface="+mj-lt"/>
              <a:ea typeface="Arial"/>
              <a:cs typeface="Arial"/>
            </a:endParaRPr>
          </a:p>
          <a:p>
            <a:pPr>
              <a:defRPr sz="1875" b="0">
                <a:solidFill>
                  <a:srgbClr val="262B29"/>
                </a:solidFill>
                <a:latin typeface="Arial"/>
                <a:ea typeface="Arial"/>
                <a:cs typeface="Arial"/>
              </a:defRPr>
            </a:pPr>
            <a:r>
              <a:rPr lang="fr-FR" sz="2000" dirty="0">
                <a:latin typeface="+mj-lt"/>
              </a:rPr>
              <a:t>Titre professionnel DWWM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638AA3-96AC-5444-2510-7A6F1F360A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0D45151-A5B0-6B8F-71F3-DEEA0B5ACAAF}"/>
              </a:ext>
            </a:extLst>
          </p:cNvPr>
          <p:cNvSpPr txBox="1"/>
          <p:nvPr/>
        </p:nvSpPr>
        <p:spPr>
          <a:xfrm>
            <a:off x="64008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fr-FR" sz="2800" b="1" noProof="0" dirty="0">
                <a:solidFill>
                  <a:srgbClr val="2C2522"/>
                </a:solidFill>
                <a:latin typeface="Aptos Display"/>
              </a:rPr>
              <a:t>Contexte et objectifs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A32800F5-2CEC-FE20-0280-6FFC5A1F13DF}"/>
              </a:ext>
            </a:extLst>
          </p:cNvPr>
          <p:cNvSpPr/>
          <p:nvPr/>
        </p:nvSpPr>
        <p:spPr>
          <a:xfrm>
            <a:off x="685800" y="1799776"/>
            <a:ext cx="5212080" cy="3303146"/>
          </a:xfrm>
          <a:prstGeom prst="roundRect">
            <a:avLst/>
          </a:prstGeom>
          <a:solidFill>
            <a:srgbClr val="FFFFFF"/>
          </a:solidFill>
          <a:ln>
            <a:solidFill>
              <a:srgbClr val="EFE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000" b="1" i="0" u="none" strike="noStrike" kern="1200" cap="none" spc="0" normalizeH="0" baseline="0" noProof="0" dirty="0">
                <a:ln>
                  <a:noFill/>
                </a:ln>
                <a:solidFill>
                  <a:srgbClr val="F79646">
                    <a:lumMod val="50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CONTEXTE</a:t>
            </a:r>
            <a:endParaRPr kumimoji="0" lang="fr-FR" sz="1600" b="1" i="0" u="none" strike="noStrike" kern="1200" cap="none" spc="0" normalizeH="0" baseline="0" noProof="0" dirty="0">
              <a:ln>
                <a:noFill/>
              </a:ln>
              <a:solidFill>
                <a:srgbClr val="F79646">
                  <a:lumMod val="50000"/>
                </a:srgb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solidFill>
                  <a:srgbClr val="2C2522"/>
                </a:solidFill>
              </a:defRPr>
            </a:pPr>
            <a:r>
              <a:rPr kumimoji="0" lang="fr-FR" sz="1600" b="0" i="0" u="none" strike="noStrike" kern="1200" cap="none" spc="0" normalizeH="0" baseline="0" noProof="0" dirty="0">
                <a:ln>
                  <a:noFill/>
                </a:ln>
                <a:solidFill>
                  <a:srgbClr val="2C252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Création d'un site web pour une activité de broderie et de personnalisation textile.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solidFill>
                  <a:srgbClr val="2C2522"/>
                </a:solidFill>
              </a:defRPr>
            </a:pPr>
            <a:br>
              <a:rPr kumimoji="0" lang="fr-FR" sz="1600" b="0" i="0" u="none" strike="noStrike" kern="1200" cap="none" spc="0" normalizeH="0" baseline="0" noProof="0" dirty="0">
                <a:ln>
                  <a:noFill/>
                </a:ln>
                <a:solidFill>
                  <a:srgbClr val="2C252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r>
              <a:rPr kumimoji="0" lang="fr-FR" sz="1600" b="0" i="0" u="none" strike="noStrike" kern="1200" cap="none" spc="0" normalizeH="0" baseline="0" noProof="0" dirty="0">
                <a:ln>
                  <a:noFill/>
                </a:ln>
                <a:solidFill>
                  <a:srgbClr val="2C252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Mettre en avant l'atelier « L’aiguille des volcans », spécialisé dans les créations artisanales sur mesure.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solidFill>
                  <a:srgbClr val="2C2522"/>
                </a:solidFill>
              </a:defRPr>
            </a:pPr>
            <a:br>
              <a:rPr kumimoji="0" lang="fr-FR" sz="1600" b="0" i="0" u="none" strike="noStrike" kern="1200" cap="none" spc="0" normalizeH="0" baseline="0" noProof="0" dirty="0">
                <a:ln>
                  <a:noFill/>
                </a:ln>
                <a:solidFill>
                  <a:srgbClr val="2C252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r>
              <a:rPr kumimoji="0" lang="fr-FR" sz="1600" b="0" i="0" u="none" strike="noStrike" kern="1200" cap="none" spc="0" normalizeH="0" baseline="0" noProof="0" dirty="0">
                <a:ln>
                  <a:noFill/>
                </a:ln>
                <a:solidFill>
                  <a:srgbClr val="2C252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Présenter l'activité, les services et les produits, tout en proposant des fonctionnalités dynamiques.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BDDA0986-1F04-62CA-9F73-0D55AD80E395}"/>
              </a:ext>
            </a:extLst>
          </p:cNvPr>
          <p:cNvSpPr/>
          <p:nvPr/>
        </p:nvSpPr>
        <p:spPr>
          <a:xfrm>
            <a:off x="6217920" y="1799776"/>
            <a:ext cx="5212080" cy="3303146"/>
          </a:xfrm>
          <a:prstGeom prst="roundRect">
            <a:avLst/>
          </a:prstGeom>
          <a:solidFill>
            <a:srgbClr val="FFFFFF"/>
          </a:solidFill>
          <a:ln>
            <a:solidFill>
              <a:srgbClr val="EFE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000" b="1" i="0" u="none" strike="noStrike" kern="1200" cap="none" spc="0" normalizeH="0" baseline="0" noProof="0" dirty="0">
                <a:ln>
                  <a:noFill/>
                </a:ln>
                <a:solidFill>
                  <a:srgbClr val="F79646">
                    <a:lumMod val="50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OBJECTIFS</a:t>
            </a:r>
            <a:endParaRPr kumimoji="0" lang="fr-FR" sz="1600" b="1" i="0" u="none" strike="noStrike" kern="1200" cap="none" spc="0" normalizeH="0" baseline="0" noProof="0" dirty="0">
              <a:ln>
                <a:noFill/>
              </a:ln>
              <a:solidFill>
                <a:srgbClr val="F79646">
                  <a:lumMod val="50000"/>
                </a:srgb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1200">
                <a:solidFill>
                  <a:srgbClr val="2C2522"/>
                </a:solidFill>
              </a:defRPr>
            </a:pPr>
            <a:r>
              <a:rPr kumimoji="0" lang="fr-FR" sz="1600" b="0" i="0" u="none" strike="noStrike" kern="1200" cap="none" spc="0" normalizeH="0" baseline="0" noProof="0" dirty="0">
                <a:ln>
                  <a:noFill/>
                </a:ln>
                <a:solidFill>
                  <a:srgbClr val="2C252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Présenter l'entreprise et ses services</a:t>
            </a:r>
            <a:endParaRPr lang="fr-FR" sz="1600" dirty="0">
              <a:solidFill>
                <a:srgbClr val="2C2522"/>
              </a:solidFill>
              <a:latin typeface="Calibri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1200">
                <a:solidFill>
                  <a:srgbClr val="2C2522"/>
                </a:solidFill>
              </a:defRPr>
            </a:pPr>
            <a:r>
              <a:rPr kumimoji="0" lang="fr-FR" sz="1600" b="0" i="0" u="none" strike="noStrike" kern="1200" cap="none" spc="0" normalizeH="0" baseline="0" noProof="0" dirty="0">
                <a:ln>
                  <a:noFill/>
                </a:ln>
                <a:solidFill>
                  <a:srgbClr val="2C252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Présenter les produits et catégories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1200">
                <a:solidFill>
                  <a:srgbClr val="2C2522"/>
                </a:solidFill>
              </a:defRPr>
            </a:pPr>
            <a:r>
              <a:rPr kumimoji="0" lang="fr-FR" sz="1600" b="0" i="0" u="none" strike="noStrike" kern="1200" cap="none" spc="0" normalizeH="0" baseline="0" noProof="0" dirty="0">
                <a:ln>
                  <a:noFill/>
                </a:ln>
                <a:solidFill>
                  <a:srgbClr val="2C252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Faciliter la prise de contact</a:t>
            </a:r>
            <a:endParaRPr lang="fr-FR" sz="1600" dirty="0">
              <a:solidFill>
                <a:srgbClr val="2C2522"/>
              </a:solidFill>
              <a:latin typeface="Calibri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1200">
                <a:solidFill>
                  <a:srgbClr val="2C2522"/>
                </a:solidFill>
              </a:defRPr>
            </a:pPr>
            <a:r>
              <a:rPr kumimoji="0" lang="fr-FR" sz="1600" b="0" i="0" u="none" strike="noStrike" kern="1200" cap="none" spc="0" normalizeH="0" baseline="0" noProof="0" dirty="0">
                <a:ln>
                  <a:noFill/>
                </a:ln>
                <a:solidFill>
                  <a:srgbClr val="2C252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Permettre une demande de devis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1200">
                <a:solidFill>
                  <a:srgbClr val="2C2522"/>
                </a:solidFill>
              </a:defRPr>
            </a:pPr>
            <a:r>
              <a:rPr lang="fr-FR" sz="1600" dirty="0">
                <a:solidFill>
                  <a:srgbClr val="2C2522"/>
                </a:solidFill>
                <a:latin typeface="Calibri"/>
              </a:rPr>
              <a:t>Laisser un avis</a:t>
            </a:r>
            <a:endParaRPr kumimoji="0" lang="fr-FR" sz="1600" b="0" i="0" u="none" strike="noStrike" kern="1200" cap="none" spc="0" normalizeH="0" baseline="0" noProof="0" dirty="0">
              <a:ln>
                <a:noFill/>
              </a:ln>
              <a:solidFill>
                <a:srgbClr val="2C2522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1200">
                <a:solidFill>
                  <a:srgbClr val="2C2522"/>
                </a:solidFill>
              </a:defRPr>
            </a:pPr>
            <a:r>
              <a:rPr kumimoji="0" lang="fr-FR" sz="1600" b="0" i="0" u="none" strike="noStrike" kern="1200" cap="none" spc="0" normalizeH="0" baseline="0" noProof="0" dirty="0">
                <a:ln>
                  <a:noFill/>
                </a:ln>
                <a:solidFill>
                  <a:srgbClr val="2C252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Gérer les contenus via un espace d'administration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E0DC280F-F4AC-9DEF-3F5F-5B1E831BC9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99981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40080" y="411480"/>
            <a:ext cx="1759200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fr-FR" sz="2800" b="1" noProof="0" dirty="0">
                <a:solidFill>
                  <a:srgbClr val="2C2522"/>
                </a:solidFill>
                <a:latin typeface="Aptos Display"/>
              </a:rPr>
              <a:t>Sommaire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519680" y="934700"/>
            <a:ext cx="5212080" cy="5374660"/>
          </a:xfrm>
          <a:prstGeom prst="roundRect">
            <a:avLst/>
          </a:prstGeom>
          <a:solidFill>
            <a:srgbClr val="FFFFFF"/>
          </a:solidFill>
          <a:ln>
            <a:solidFill>
              <a:srgbClr val="EFE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2200" b="1" i="0" u="none" strike="noStrike" kern="1200" cap="none" spc="0" normalizeH="0" baseline="0" noProof="0" dirty="0">
                <a:ln>
                  <a:noFill/>
                </a:ln>
                <a:solidFill>
                  <a:srgbClr val="F79646">
                    <a:lumMod val="50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Contexte et objectifs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2200" b="1" i="0" u="none" strike="noStrike" kern="1200" cap="none" spc="0" normalizeH="0" baseline="0" noProof="0" dirty="0">
                <a:ln>
                  <a:noFill/>
                </a:ln>
                <a:solidFill>
                  <a:srgbClr val="F79646">
                    <a:lumMod val="50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Technologies et environnement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2200" b="1" i="0" u="none" strike="noStrike" kern="1200" cap="none" spc="0" normalizeH="0" baseline="0" noProof="0" dirty="0">
                <a:ln>
                  <a:noFill/>
                </a:ln>
                <a:solidFill>
                  <a:srgbClr val="F79646">
                    <a:lumMod val="50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Schéma UML / BDD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2200" b="1" i="0" u="none" strike="noStrike" kern="1200" cap="none" spc="0" normalizeH="0" baseline="0" noProof="0" dirty="0">
                <a:ln>
                  <a:noFill/>
                </a:ln>
                <a:solidFill>
                  <a:srgbClr val="F79646">
                    <a:lumMod val="50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Maquette → réalisation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2200" b="1" i="0" u="none" strike="noStrike" kern="1200" cap="none" spc="0" normalizeH="0" baseline="0" noProof="0" dirty="0">
                <a:ln>
                  <a:noFill/>
                </a:ln>
                <a:solidFill>
                  <a:srgbClr val="F79646">
                    <a:lumMod val="50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Fixtures → Faker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2200" b="1" i="0" u="none" strike="noStrike" kern="1200" cap="none" spc="0" normalizeH="0" baseline="0" noProof="0" dirty="0" err="1">
                <a:ln>
                  <a:noFill/>
                </a:ln>
                <a:solidFill>
                  <a:srgbClr val="F79646">
                    <a:lumMod val="50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Front-end</a:t>
            </a:r>
            <a:endParaRPr kumimoji="0" lang="fr-FR" sz="2200" b="1" i="0" u="none" strike="noStrike" kern="1200" cap="none" spc="0" normalizeH="0" baseline="0" noProof="0" dirty="0">
              <a:ln>
                <a:noFill/>
              </a:ln>
              <a:solidFill>
                <a:srgbClr val="F79646">
                  <a:lumMod val="50000"/>
                </a:srgb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2200" b="1" i="0" u="none" strike="noStrike" kern="1200" cap="none" spc="0" normalizeH="0" baseline="0" noProof="0" dirty="0" err="1">
                <a:ln>
                  <a:noFill/>
                </a:ln>
                <a:solidFill>
                  <a:srgbClr val="F79646">
                    <a:lumMod val="50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Back-end</a:t>
            </a:r>
            <a:r>
              <a:rPr kumimoji="0" lang="fr-FR" sz="2200" b="1" i="0" u="none" strike="noStrike" kern="1200" cap="none" spc="0" normalizeH="0" baseline="0" noProof="0" dirty="0">
                <a:ln>
                  <a:noFill/>
                </a:ln>
                <a:solidFill>
                  <a:srgbClr val="F79646">
                    <a:lumMod val="50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— MVC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2200" b="1" i="0" u="none" strike="noStrike" kern="1200" cap="none" spc="0" normalizeH="0" baseline="0" noProof="0" dirty="0">
                <a:ln>
                  <a:noFill/>
                </a:ln>
                <a:solidFill>
                  <a:srgbClr val="F79646">
                    <a:lumMod val="50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Repository → Doctrine → SQL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2200" b="1" i="0" u="none" strike="noStrike" kern="1200" cap="none" spc="0" normalizeH="0" baseline="0" noProof="0" dirty="0">
                <a:ln>
                  <a:noFill/>
                </a:ln>
                <a:solidFill>
                  <a:srgbClr val="F79646">
                    <a:lumMod val="50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CRUD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2200" b="1" i="0" u="none" strike="noStrike" kern="1200" cap="none" spc="0" normalizeH="0" baseline="0" noProof="0" dirty="0">
                <a:ln>
                  <a:noFill/>
                </a:ln>
                <a:solidFill>
                  <a:srgbClr val="F79646">
                    <a:lumMod val="50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Forms et sécurité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2200" b="1" i="0" u="none" strike="noStrike" kern="1200" cap="none" spc="0" normalizeH="0" baseline="0" noProof="0" dirty="0">
                <a:ln>
                  <a:noFill/>
                </a:ln>
                <a:solidFill>
                  <a:srgbClr val="F79646">
                    <a:lumMod val="50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Démonstration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2200" b="1" i="0" u="none" strike="noStrike" kern="1200" cap="none" spc="0" normalizeH="0" baseline="0" noProof="0" dirty="0">
                <a:ln>
                  <a:noFill/>
                </a:ln>
                <a:solidFill>
                  <a:srgbClr val="F79646">
                    <a:lumMod val="50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Difficultés rencontrées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2200" b="1" i="0" u="none" strike="noStrike" kern="1200" cap="none" spc="0" normalizeH="0" baseline="0" noProof="0" dirty="0">
                <a:ln>
                  <a:noFill/>
                </a:ln>
                <a:solidFill>
                  <a:srgbClr val="F79646">
                    <a:lumMod val="50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Évolutions prévues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2200" b="1" i="0" u="none" strike="noStrike" kern="1200" cap="none" spc="0" normalizeH="0" baseline="0" noProof="0" dirty="0">
                <a:ln>
                  <a:noFill/>
                </a:ln>
                <a:solidFill>
                  <a:srgbClr val="F79646">
                    <a:lumMod val="50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Conclusion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FBC80B67-F870-D986-9C57-372F98C16A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</a:t>
            </a:fld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4008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fr-FR" sz="2800" b="1" noProof="0" dirty="0">
                <a:solidFill>
                  <a:srgbClr val="2C2522"/>
                </a:solidFill>
                <a:latin typeface="Aptos Display"/>
              </a:rPr>
              <a:t>Technologies et environnement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417320"/>
            <a:ext cx="347472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FE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5" name="TextBox 4"/>
          <p:cNvSpPr txBox="1"/>
          <p:nvPr/>
        </p:nvSpPr>
        <p:spPr>
          <a:xfrm>
            <a:off x="804671" y="1554480"/>
            <a:ext cx="3145536" cy="6437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600" b="1" noProof="0" dirty="0">
                <a:solidFill>
                  <a:schemeClr val="accent6">
                    <a:lumMod val="50000"/>
                  </a:schemeClr>
                </a:solidFill>
              </a:rPr>
              <a:t>PHP ≥ 8.2</a:t>
            </a:r>
          </a:p>
          <a:p>
            <a:pPr>
              <a:spcBef>
                <a:spcPts val="700"/>
              </a:spcBef>
              <a:defRPr sz="1200">
                <a:solidFill>
                  <a:srgbClr val="2C2522"/>
                </a:solidFill>
              </a:defRPr>
            </a:pPr>
            <a:r>
              <a:rPr lang="fr-FR" sz="1400" noProof="0" dirty="0"/>
              <a:t>Langage serveur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34840" y="1417320"/>
            <a:ext cx="347472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FE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7" name="TextBox 6"/>
          <p:cNvSpPr txBox="1"/>
          <p:nvPr/>
        </p:nvSpPr>
        <p:spPr>
          <a:xfrm>
            <a:off x="4599432" y="1554480"/>
            <a:ext cx="3145536" cy="6437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600" b="1" noProof="0" dirty="0">
                <a:solidFill>
                  <a:schemeClr val="accent6">
                    <a:lumMod val="50000"/>
                  </a:schemeClr>
                </a:solidFill>
              </a:rPr>
              <a:t>Symfony 7.4</a:t>
            </a:r>
          </a:p>
          <a:p>
            <a:pPr>
              <a:spcBef>
                <a:spcPts val="700"/>
              </a:spcBef>
              <a:defRPr sz="1200">
                <a:solidFill>
                  <a:srgbClr val="2C2522"/>
                </a:solidFill>
              </a:defRPr>
            </a:pPr>
            <a:r>
              <a:rPr lang="fr-FR" sz="1400" noProof="0" dirty="0"/>
              <a:t>Framework web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0" y="1417320"/>
            <a:ext cx="347472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FE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9" name="TextBox 8"/>
          <p:cNvSpPr txBox="1"/>
          <p:nvPr/>
        </p:nvSpPr>
        <p:spPr>
          <a:xfrm>
            <a:off x="8394192" y="1554480"/>
            <a:ext cx="3145536" cy="6437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600" b="1" noProof="0" dirty="0">
                <a:solidFill>
                  <a:schemeClr val="accent6">
                    <a:lumMod val="50000"/>
                  </a:schemeClr>
                </a:solidFill>
              </a:rPr>
              <a:t>Doctrine ORM 3.6</a:t>
            </a:r>
          </a:p>
          <a:p>
            <a:pPr>
              <a:spcBef>
                <a:spcPts val="700"/>
              </a:spcBef>
              <a:defRPr sz="1200">
                <a:solidFill>
                  <a:srgbClr val="2C2522"/>
                </a:solidFill>
              </a:defRPr>
            </a:pPr>
            <a:r>
              <a:rPr lang="fr-FR" sz="1400" noProof="0" dirty="0"/>
              <a:t>ORM / BDD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606040"/>
            <a:ext cx="347472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FE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11" name="TextBox 10"/>
          <p:cNvSpPr txBox="1"/>
          <p:nvPr/>
        </p:nvSpPr>
        <p:spPr>
          <a:xfrm>
            <a:off x="804671" y="2743200"/>
            <a:ext cx="3145536" cy="6437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600" b="1" noProof="0" dirty="0" err="1">
                <a:solidFill>
                  <a:schemeClr val="accent6">
                    <a:lumMod val="50000"/>
                  </a:schemeClr>
                </a:solidFill>
              </a:rPr>
              <a:t>MariaDB</a:t>
            </a:r>
            <a:r>
              <a:rPr lang="fr-FR" sz="1600" b="1" noProof="0" dirty="0">
                <a:solidFill>
                  <a:schemeClr val="accent6">
                    <a:lumMod val="50000"/>
                  </a:schemeClr>
                </a:solidFill>
              </a:rPr>
              <a:t> 10.11.11</a:t>
            </a:r>
          </a:p>
          <a:p>
            <a:pPr>
              <a:spcBef>
                <a:spcPts val="700"/>
              </a:spcBef>
              <a:defRPr sz="1200">
                <a:solidFill>
                  <a:srgbClr val="2C2522"/>
                </a:solidFill>
              </a:defRPr>
            </a:pPr>
            <a:r>
              <a:rPr lang="fr-FR" sz="1400" noProof="0" dirty="0"/>
              <a:t>Base de données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34840" y="2606040"/>
            <a:ext cx="347472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FE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13" name="TextBox 12"/>
          <p:cNvSpPr txBox="1"/>
          <p:nvPr/>
        </p:nvSpPr>
        <p:spPr>
          <a:xfrm>
            <a:off x="4599432" y="2743200"/>
            <a:ext cx="3145536" cy="6437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600" b="1" noProof="0" dirty="0">
                <a:solidFill>
                  <a:schemeClr val="accent6">
                    <a:lumMod val="50000"/>
                  </a:schemeClr>
                </a:solidFill>
              </a:rPr>
              <a:t>Twig</a:t>
            </a:r>
          </a:p>
          <a:p>
            <a:pPr>
              <a:spcBef>
                <a:spcPts val="700"/>
              </a:spcBef>
              <a:defRPr sz="1200">
                <a:solidFill>
                  <a:srgbClr val="2C2522"/>
                </a:solidFill>
              </a:defRPr>
            </a:pPr>
            <a:r>
              <a:rPr lang="fr-FR" sz="1400" noProof="0" dirty="0" err="1"/>
              <a:t>Templates</a:t>
            </a:r>
            <a:r>
              <a:rPr lang="fr-FR" sz="1400" noProof="0" dirty="0"/>
              <a:t> HTML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2606040"/>
            <a:ext cx="347472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FE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15" name="TextBox 14"/>
          <p:cNvSpPr txBox="1"/>
          <p:nvPr/>
        </p:nvSpPr>
        <p:spPr>
          <a:xfrm>
            <a:off x="8394192" y="2743200"/>
            <a:ext cx="3145536" cy="6437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600" b="1" noProof="0" dirty="0">
                <a:solidFill>
                  <a:schemeClr val="accent6">
                    <a:lumMod val="50000"/>
                  </a:schemeClr>
                </a:solidFill>
              </a:rPr>
              <a:t>Bootstrap 5.3.8</a:t>
            </a:r>
          </a:p>
          <a:p>
            <a:pPr>
              <a:spcBef>
                <a:spcPts val="700"/>
              </a:spcBef>
              <a:defRPr sz="1200">
                <a:solidFill>
                  <a:srgbClr val="2C2522"/>
                </a:solidFill>
              </a:defRPr>
            </a:pPr>
            <a:r>
              <a:rPr lang="fr-FR" sz="1400" noProof="0" dirty="0"/>
              <a:t>UI / responsive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794760"/>
            <a:ext cx="347472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FE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17" name="TextBox 16"/>
          <p:cNvSpPr txBox="1"/>
          <p:nvPr/>
        </p:nvSpPr>
        <p:spPr>
          <a:xfrm>
            <a:off x="804671" y="3931920"/>
            <a:ext cx="3145536" cy="6437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600" b="1" noProof="0" dirty="0">
                <a:solidFill>
                  <a:schemeClr val="accent6">
                    <a:lumMod val="50000"/>
                  </a:schemeClr>
                </a:solidFill>
              </a:rPr>
              <a:t>Font Awesome 7.3.1</a:t>
            </a:r>
          </a:p>
          <a:p>
            <a:pPr>
              <a:spcBef>
                <a:spcPts val="700"/>
              </a:spcBef>
              <a:defRPr sz="1200">
                <a:solidFill>
                  <a:srgbClr val="2C2522"/>
                </a:solidFill>
              </a:defRPr>
            </a:pPr>
            <a:r>
              <a:rPr lang="fr-FR" sz="1400" noProof="0" dirty="0"/>
              <a:t>Icônes</a:t>
            </a:r>
            <a:endParaRPr lang="fr-FR" noProof="0" dirty="0"/>
          </a:p>
        </p:txBody>
      </p:sp>
      <p:sp>
        <p:nvSpPr>
          <p:cNvPr id="18" name="Rounded Rectangle 17"/>
          <p:cNvSpPr/>
          <p:nvPr/>
        </p:nvSpPr>
        <p:spPr>
          <a:xfrm>
            <a:off x="4434840" y="3794760"/>
            <a:ext cx="347472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FE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19" name="TextBox 18"/>
          <p:cNvSpPr txBox="1"/>
          <p:nvPr/>
        </p:nvSpPr>
        <p:spPr>
          <a:xfrm>
            <a:off x="4599432" y="3931920"/>
            <a:ext cx="3145536" cy="6437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600" b="1" noProof="0" dirty="0" err="1">
                <a:solidFill>
                  <a:schemeClr val="accent6">
                    <a:lumMod val="50000"/>
                  </a:schemeClr>
                </a:solidFill>
              </a:rPr>
              <a:t>Webpack</a:t>
            </a:r>
            <a:r>
              <a:rPr lang="fr-FR" sz="1600" b="1" noProof="0" dirty="0">
                <a:solidFill>
                  <a:schemeClr val="accent6">
                    <a:lumMod val="50000"/>
                  </a:schemeClr>
                </a:solidFill>
              </a:rPr>
              <a:t> Encore</a:t>
            </a:r>
          </a:p>
          <a:p>
            <a:pPr>
              <a:spcBef>
                <a:spcPts val="700"/>
              </a:spcBef>
              <a:defRPr sz="1200">
                <a:solidFill>
                  <a:srgbClr val="2C2522"/>
                </a:solidFill>
              </a:defRPr>
            </a:pPr>
            <a:r>
              <a:rPr lang="fr-FR" sz="1400" noProof="0" dirty="0"/>
              <a:t>Gestion des assets (CSS et JavaScript)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0" y="3794760"/>
            <a:ext cx="347472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FE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21" name="TextBox 20"/>
          <p:cNvSpPr txBox="1"/>
          <p:nvPr/>
        </p:nvSpPr>
        <p:spPr>
          <a:xfrm>
            <a:off x="8394192" y="3931920"/>
            <a:ext cx="3145536" cy="6437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600" b="1" noProof="0" dirty="0">
                <a:solidFill>
                  <a:schemeClr val="accent6">
                    <a:lumMod val="50000"/>
                  </a:schemeClr>
                </a:solidFill>
              </a:rPr>
              <a:t>Node.js 22</a:t>
            </a:r>
          </a:p>
          <a:p>
            <a:pPr>
              <a:spcBef>
                <a:spcPts val="700"/>
              </a:spcBef>
              <a:defRPr sz="1200">
                <a:solidFill>
                  <a:srgbClr val="2C2522"/>
                </a:solidFill>
              </a:defRPr>
            </a:pPr>
            <a:r>
              <a:rPr lang="fr-FR" sz="1400" noProof="0" dirty="0" err="1"/>
              <a:t>Build</a:t>
            </a:r>
            <a:r>
              <a:rPr lang="fr-FR" sz="1400" noProof="0" dirty="0"/>
              <a:t> frontend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4983480"/>
            <a:ext cx="347472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FE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23" name="TextBox 22"/>
          <p:cNvSpPr txBox="1"/>
          <p:nvPr/>
        </p:nvSpPr>
        <p:spPr>
          <a:xfrm>
            <a:off x="804671" y="5120640"/>
            <a:ext cx="3145536" cy="6437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600" b="1" noProof="0" dirty="0">
                <a:solidFill>
                  <a:schemeClr val="accent6">
                    <a:lumMod val="50000"/>
                  </a:schemeClr>
                </a:solidFill>
              </a:rPr>
              <a:t>Docker</a:t>
            </a:r>
          </a:p>
          <a:p>
            <a:pPr>
              <a:spcBef>
                <a:spcPts val="700"/>
              </a:spcBef>
              <a:defRPr sz="1200">
                <a:solidFill>
                  <a:srgbClr val="2C2522"/>
                </a:solidFill>
              </a:defRPr>
            </a:pPr>
            <a:r>
              <a:rPr lang="fr-FR" sz="1400" noProof="0" dirty="0"/>
              <a:t>Environnement</a:t>
            </a:r>
            <a:endParaRPr lang="fr-FR" noProof="0" dirty="0"/>
          </a:p>
        </p:txBody>
      </p:sp>
      <p:sp>
        <p:nvSpPr>
          <p:cNvPr id="24" name="Rounded Rectangle 23"/>
          <p:cNvSpPr/>
          <p:nvPr/>
        </p:nvSpPr>
        <p:spPr>
          <a:xfrm>
            <a:off x="4434840" y="4983480"/>
            <a:ext cx="347472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FE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25" name="TextBox 24"/>
          <p:cNvSpPr txBox="1"/>
          <p:nvPr/>
        </p:nvSpPr>
        <p:spPr>
          <a:xfrm>
            <a:off x="4599432" y="5120640"/>
            <a:ext cx="3145536" cy="6437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600" b="1" noProof="0" dirty="0">
                <a:solidFill>
                  <a:schemeClr val="accent6">
                    <a:lumMod val="50000"/>
                  </a:schemeClr>
                </a:solidFill>
              </a:rPr>
              <a:t>Git</a:t>
            </a:r>
          </a:p>
          <a:p>
            <a:pPr>
              <a:spcBef>
                <a:spcPts val="700"/>
              </a:spcBef>
              <a:defRPr sz="1200">
                <a:solidFill>
                  <a:srgbClr val="2C2522"/>
                </a:solidFill>
              </a:defRPr>
            </a:pPr>
            <a:r>
              <a:rPr lang="fr-FR" sz="1400" noProof="0" dirty="0" err="1"/>
              <a:t>Versionnement</a:t>
            </a:r>
            <a:endParaRPr lang="fr-FR" sz="1400" noProof="0" dirty="0"/>
          </a:p>
        </p:txBody>
      </p:sp>
      <p:sp>
        <p:nvSpPr>
          <p:cNvPr id="26" name="Rounded Rectangle 25"/>
          <p:cNvSpPr/>
          <p:nvPr/>
        </p:nvSpPr>
        <p:spPr>
          <a:xfrm>
            <a:off x="8229600" y="4983480"/>
            <a:ext cx="347472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FE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27" name="TextBox 26"/>
          <p:cNvSpPr txBox="1"/>
          <p:nvPr/>
        </p:nvSpPr>
        <p:spPr>
          <a:xfrm>
            <a:off x="8394192" y="5120640"/>
            <a:ext cx="3145536" cy="6437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600" b="1" noProof="0" dirty="0">
                <a:solidFill>
                  <a:schemeClr val="accent6">
                    <a:lumMod val="50000"/>
                  </a:schemeClr>
                </a:solidFill>
              </a:rPr>
              <a:t>Windows 11</a:t>
            </a:r>
          </a:p>
          <a:p>
            <a:pPr>
              <a:spcBef>
                <a:spcPts val="700"/>
              </a:spcBef>
              <a:defRPr sz="1200">
                <a:solidFill>
                  <a:srgbClr val="2C2522"/>
                </a:solidFill>
              </a:defRPr>
            </a:pPr>
            <a:r>
              <a:rPr lang="fr-FR" sz="1400" noProof="0" dirty="0"/>
              <a:t>OS</a:t>
            </a:r>
            <a:endParaRPr lang="fr-FR" noProof="0" dirty="0"/>
          </a:p>
        </p:txBody>
      </p:sp>
      <p:sp>
        <p:nvSpPr>
          <p:cNvPr id="30" name="Espace réservé du numéro de diapositive 29">
            <a:extLst>
              <a:ext uri="{FF2B5EF4-FFF2-40B4-BE49-F238E27FC236}">
                <a16:creationId xmlns:a16="http://schemas.microsoft.com/office/drawing/2014/main" id="{E4A9B039-B4C4-AC3D-5114-3E3B448139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4</a:t>
            </a:fld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40080" y="411480"/>
            <a:ext cx="2204450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fr-FR" sz="2800" b="1" noProof="0" dirty="0">
                <a:solidFill>
                  <a:srgbClr val="2C2522"/>
                </a:solidFill>
                <a:latin typeface="Aptos Display"/>
              </a:rPr>
              <a:t>Schéma UML</a:t>
            </a:r>
          </a:p>
        </p:txBody>
      </p:sp>
      <p:pic>
        <p:nvPicPr>
          <p:cNvPr id="15" name="Image 14">
            <a:extLst>
              <a:ext uri="{FF2B5EF4-FFF2-40B4-BE49-F238E27FC236}">
                <a16:creationId xmlns:a16="http://schemas.microsoft.com/office/drawing/2014/main" id="{EE897103-6FAF-30F6-C5CC-3A21A4D837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0366" y="973471"/>
            <a:ext cx="10309257" cy="5409041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6151C1EC-F12C-3A93-9563-224CCEDBEC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5</a:t>
            </a:fld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AD1D17-6C2F-079F-E407-DEDF6C430A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27FED58-6963-B66A-6D98-AB1760E3B868}"/>
              </a:ext>
            </a:extLst>
          </p:cNvPr>
          <p:cNvSpPr txBox="1"/>
          <p:nvPr/>
        </p:nvSpPr>
        <p:spPr>
          <a:xfrm>
            <a:off x="640080" y="411480"/>
            <a:ext cx="2204450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fr-FR" sz="2800" b="1" noProof="0" dirty="0">
                <a:solidFill>
                  <a:srgbClr val="2C2522"/>
                </a:solidFill>
                <a:latin typeface="Aptos Display"/>
              </a:rPr>
              <a:t>Schéma BDD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A69C126F-3169-B7BF-3906-BBF6916BF6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6774" y="991326"/>
            <a:ext cx="8455794" cy="544850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A30A4946-4809-ECDF-0BE1-705053B3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91476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4008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fr-FR" sz="2800" b="1" noProof="0" dirty="0">
                <a:solidFill>
                  <a:srgbClr val="2C2522"/>
                </a:solidFill>
                <a:latin typeface="Aptos Display"/>
              </a:rPr>
              <a:t>Maquette → réalisation</a:t>
            </a:r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BA65C1A3-0886-8B2F-D347-37F0E72CD7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6607" y="1466088"/>
            <a:ext cx="5634941" cy="378466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14" name="Image 13">
            <a:extLst>
              <a:ext uri="{FF2B5EF4-FFF2-40B4-BE49-F238E27FC236}">
                <a16:creationId xmlns:a16="http://schemas.microsoft.com/office/drawing/2014/main" id="{1D592A63-C278-B9B0-478E-1F9671168C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0453" y="1683694"/>
            <a:ext cx="5809043" cy="3359729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5D68271-D6CF-BF7B-10F6-31E62F8B75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7</a:t>
            </a:fld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7BFCF9-B985-1C26-B056-3207E2004F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514054A-4D0B-F304-2108-80FFB6D1E9D4}"/>
              </a:ext>
            </a:extLst>
          </p:cNvPr>
          <p:cNvSpPr txBox="1"/>
          <p:nvPr/>
        </p:nvSpPr>
        <p:spPr>
          <a:xfrm>
            <a:off x="640080" y="411480"/>
            <a:ext cx="2615460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fr-FR" sz="2800" b="1" noProof="0" dirty="0">
                <a:solidFill>
                  <a:srgbClr val="2C2522"/>
                </a:solidFill>
                <a:latin typeface="Aptos Display"/>
              </a:rPr>
              <a:t>Fixtures → Faker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A51A0E7C-16BC-CD88-44D2-F43E92386D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9822" y="1151553"/>
            <a:ext cx="5229955" cy="2600688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823145A1-5959-2449-95E7-FE70F46DAC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12410" y="2785726"/>
            <a:ext cx="7549768" cy="341108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846BE13-7690-3450-B75B-C8DB9D83C3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2945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4008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fr-FR" sz="2800" b="1" noProof="0" dirty="0" err="1">
                <a:solidFill>
                  <a:srgbClr val="2C2522"/>
                </a:solidFill>
                <a:latin typeface="Aptos Display"/>
              </a:rPr>
              <a:t>Front-end</a:t>
            </a:r>
            <a:endParaRPr lang="fr-FR" sz="2800" b="1" noProof="0" dirty="0">
              <a:solidFill>
                <a:srgbClr val="2C2522"/>
              </a:solidFill>
              <a:latin typeface="Aptos Display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640080" y="960116"/>
            <a:ext cx="3072985" cy="1786529"/>
          </a:xfrm>
          <a:prstGeom prst="roundRect">
            <a:avLst/>
          </a:prstGeom>
          <a:solidFill>
            <a:srgbClr val="FFFFFF"/>
          </a:solidFill>
          <a:ln>
            <a:solidFill>
              <a:srgbClr val="EFE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b="1" i="0" u="none" strike="noStrike" kern="1200" cap="none" spc="0" normalizeH="0" baseline="0" noProof="0" dirty="0">
                <a:ln>
                  <a:noFill/>
                </a:ln>
                <a:solidFill>
                  <a:srgbClr val="F79646">
                    <a:lumMod val="50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HTML / TWIG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solidFill>
                  <a:srgbClr val="2C2522"/>
                </a:solidFill>
              </a:defRPr>
            </a:pPr>
            <a:r>
              <a:rPr kumimoji="0" lang="fr-FR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2C252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Templates</a:t>
            </a:r>
            <a:r>
              <a:rPr kumimoji="0" lang="fr-FR" sz="1600" b="0" i="0" u="none" strike="noStrike" kern="1200" cap="none" spc="0" normalizeH="0" baseline="0" noProof="0" dirty="0">
                <a:ln>
                  <a:noFill/>
                </a:ln>
                <a:solidFill>
                  <a:srgbClr val="2C252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dynamiques</a:t>
            </a:r>
            <a:br>
              <a:rPr kumimoji="0" lang="fr-FR" sz="1600" b="0" i="0" u="none" strike="noStrike" kern="1200" cap="none" spc="0" normalizeH="0" baseline="0" noProof="0" dirty="0">
                <a:ln>
                  <a:noFill/>
                </a:ln>
                <a:solidFill>
                  <a:srgbClr val="2C252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br>
              <a:rPr kumimoji="0" lang="fr-FR" sz="1600" b="0" i="0" u="none" strike="noStrike" kern="1200" cap="none" spc="0" normalizeH="0" baseline="0" noProof="0" dirty="0">
                <a:ln>
                  <a:noFill/>
                </a:ln>
                <a:solidFill>
                  <a:srgbClr val="2C252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r>
              <a:rPr kumimoji="0" lang="fr-FR" sz="1600" b="0" i="0" u="none" strike="noStrike" kern="1200" cap="none" spc="0" normalizeH="0" baseline="0" noProof="0" dirty="0">
                <a:ln>
                  <a:noFill/>
                </a:ln>
                <a:solidFill>
                  <a:srgbClr val="2C252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Boucles, conditions et </a:t>
            </a:r>
            <a:r>
              <a:rPr kumimoji="0" lang="fr-FR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2C252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layouts</a:t>
            </a:r>
            <a:r>
              <a:rPr kumimoji="0" lang="fr-FR" sz="1600" b="0" i="0" u="none" strike="noStrike" kern="1200" cap="none" spc="0" normalizeH="0" baseline="0" noProof="0" dirty="0">
                <a:ln>
                  <a:noFill/>
                </a:ln>
                <a:solidFill>
                  <a:srgbClr val="2C252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réutilisables.</a:t>
            </a: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BE8214C3-4717-CB88-E885-52D0426FBF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15084" y="323041"/>
            <a:ext cx="6774836" cy="6041182"/>
          </a:xfrm>
          <a:prstGeom prst="rect">
            <a:avLst/>
          </a:prstGeom>
        </p:spPr>
      </p:pic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BC3656C5-1B8E-3CCA-3ECE-832D6D50FC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9</a:t>
            </a:fld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F48E48-FC17-F909-87AB-1BA6E127C5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F45181B-3A1E-4552-3BB9-8A1DE9E22C07}"/>
              </a:ext>
            </a:extLst>
          </p:cNvPr>
          <p:cNvSpPr txBox="1"/>
          <p:nvPr/>
        </p:nvSpPr>
        <p:spPr>
          <a:xfrm>
            <a:off x="64008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fr-FR" sz="2800" b="1" noProof="0" dirty="0" err="1">
                <a:solidFill>
                  <a:srgbClr val="2C2522"/>
                </a:solidFill>
                <a:latin typeface="Aptos Display"/>
              </a:rPr>
              <a:t>Front-end</a:t>
            </a:r>
            <a:endParaRPr lang="fr-FR" sz="2800" b="1" noProof="0" dirty="0">
              <a:solidFill>
                <a:srgbClr val="2C2522"/>
              </a:solidFill>
              <a:latin typeface="Aptos Display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909F4DBC-FAC0-9652-E248-70AAABA23F4C}"/>
              </a:ext>
            </a:extLst>
          </p:cNvPr>
          <p:cNvSpPr/>
          <p:nvPr/>
        </p:nvSpPr>
        <p:spPr>
          <a:xfrm>
            <a:off x="332841" y="1460864"/>
            <a:ext cx="3407954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EFE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b="1" i="0" u="none" strike="noStrike" kern="1200" cap="none" spc="0" normalizeH="0" baseline="0" noProof="0" dirty="0">
                <a:ln>
                  <a:noFill/>
                </a:ln>
                <a:solidFill>
                  <a:srgbClr val="F79646">
                    <a:lumMod val="50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CSS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solidFill>
                  <a:srgbClr val="2C2522"/>
                </a:solidFill>
              </a:defRPr>
            </a:pPr>
            <a:r>
              <a:rPr kumimoji="0" lang="fr-FR" sz="1600" b="0" i="0" u="none" strike="noStrike" kern="1200" cap="none" spc="0" normalizeH="0" baseline="0" noProof="0" dirty="0">
                <a:ln>
                  <a:noFill/>
                </a:ln>
                <a:solidFill>
                  <a:srgbClr val="2C252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Bootstrap 5.3.8</a:t>
            </a:r>
            <a:br>
              <a:rPr kumimoji="0" lang="fr-FR" sz="1600" b="0" i="0" u="none" strike="noStrike" kern="1200" cap="none" spc="0" normalizeH="0" baseline="0" noProof="0" dirty="0">
                <a:ln>
                  <a:noFill/>
                </a:ln>
                <a:solidFill>
                  <a:srgbClr val="2C252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r>
              <a:rPr kumimoji="0" lang="fr-FR" sz="1600" b="0" i="0" u="none" strike="noStrike" kern="1200" cap="none" spc="0" normalizeH="0" baseline="0" noProof="0" dirty="0">
                <a:ln>
                  <a:noFill/>
                </a:ln>
                <a:solidFill>
                  <a:srgbClr val="2C252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+</a:t>
            </a:r>
            <a:br>
              <a:rPr kumimoji="0" lang="fr-FR" sz="1600" b="0" i="0" u="none" strike="noStrike" kern="1200" cap="none" spc="0" normalizeH="0" baseline="0" noProof="0" dirty="0">
                <a:ln>
                  <a:noFill/>
                </a:ln>
                <a:solidFill>
                  <a:srgbClr val="2C252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r>
              <a:rPr kumimoji="0" lang="fr-FR" sz="1600" b="0" i="0" u="none" strike="noStrike" kern="1200" cap="none" spc="0" normalizeH="0" baseline="0" noProof="0" dirty="0">
                <a:ln>
                  <a:noFill/>
                </a:ln>
                <a:solidFill>
                  <a:srgbClr val="2C252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CSS personnalisé</a:t>
            </a:r>
            <a:br>
              <a:rPr kumimoji="0" lang="fr-FR" sz="1600" b="0" i="0" u="none" strike="noStrike" kern="1200" cap="none" spc="0" normalizeH="0" baseline="0" noProof="0" dirty="0">
                <a:ln>
                  <a:noFill/>
                </a:ln>
                <a:solidFill>
                  <a:srgbClr val="2C252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endParaRPr kumimoji="0" lang="fr-FR" sz="1600" b="0" i="0" u="none" strike="noStrike" kern="1200" cap="none" spc="0" normalizeH="0" baseline="0" noProof="0" dirty="0">
              <a:ln>
                <a:noFill/>
              </a:ln>
              <a:solidFill>
                <a:srgbClr val="2C2522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solidFill>
                  <a:srgbClr val="2C2522"/>
                </a:solidFill>
              </a:defRPr>
            </a:pPr>
            <a:r>
              <a:rPr kumimoji="0" lang="fr-FR" sz="1600" b="0" i="0" u="none" strike="noStrike" kern="1200" cap="none" spc="0" normalizeH="0" baseline="0" noProof="0" dirty="0">
                <a:ln>
                  <a:noFill/>
                </a:ln>
                <a:solidFill>
                  <a:srgbClr val="2C252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Exemples de classes personnalisées :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solidFill>
                  <a:srgbClr val="2C2522"/>
                </a:solidFill>
              </a:defRPr>
            </a:pPr>
            <a:br>
              <a:rPr kumimoji="0" lang="fr-FR" sz="1600" b="0" i="0" u="none" strike="noStrike" kern="1200" cap="none" spc="0" normalizeH="0" baseline="0" noProof="0" dirty="0">
                <a:ln>
                  <a:noFill/>
                </a:ln>
                <a:solidFill>
                  <a:srgbClr val="2C252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r>
              <a:rPr kumimoji="0" lang="fr-FR" sz="1600" b="0" i="0" u="none" strike="noStrike" kern="1200" cap="none" spc="0" normalizeH="0" baseline="0" noProof="0" dirty="0">
                <a:ln>
                  <a:noFill/>
                </a:ln>
                <a:solidFill>
                  <a:srgbClr val="2C252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.</a:t>
            </a:r>
            <a:r>
              <a:rPr kumimoji="0" lang="fr-FR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2C252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hero</a:t>
            </a:r>
            <a:r>
              <a:rPr kumimoji="0" lang="fr-FR" sz="1600" b="0" i="0" u="none" strike="noStrike" kern="1200" cap="none" spc="0" normalizeH="0" baseline="0" noProof="0" dirty="0">
                <a:ln>
                  <a:noFill/>
                </a:ln>
                <a:solidFill>
                  <a:srgbClr val="2C252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-section</a:t>
            </a:r>
            <a:br>
              <a:rPr kumimoji="0" lang="fr-FR" sz="1600" b="0" i="0" u="none" strike="noStrike" kern="1200" cap="none" spc="0" normalizeH="0" baseline="0" noProof="0" dirty="0">
                <a:ln>
                  <a:noFill/>
                </a:ln>
                <a:solidFill>
                  <a:srgbClr val="2C252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r>
              <a:rPr kumimoji="0" lang="fr-FR" sz="1600" b="0" i="0" u="none" strike="noStrike" kern="1200" cap="none" spc="0" normalizeH="0" baseline="0" noProof="0" dirty="0">
                <a:ln>
                  <a:noFill/>
                </a:ln>
                <a:solidFill>
                  <a:srgbClr val="2C252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.</a:t>
            </a:r>
            <a:r>
              <a:rPr kumimoji="0" lang="fr-FR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2C252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hero-title</a:t>
            </a:r>
            <a:br>
              <a:rPr kumimoji="0" lang="fr-FR" sz="1600" b="0" i="0" u="none" strike="noStrike" kern="1200" cap="none" spc="0" normalizeH="0" baseline="0" noProof="0" dirty="0">
                <a:ln>
                  <a:noFill/>
                </a:ln>
                <a:solidFill>
                  <a:srgbClr val="2C252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r>
              <a:rPr kumimoji="0" lang="fr-FR" sz="1600" b="0" i="0" u="none" strike="noStrike" kern="1200" cap="none" spc="0" normalizeH="0" baseline="0" noProof="0" dirty="0">
                <a:ln>
                  <a:noFill/>
                </a:ln>
                <a:solidFill>
                  <a:srgbClr val="2C252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.</a:t>
            </a:r>
            <a:r>
              <a:rPr kumimoji="0" lang="fr-FR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2C252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hero-subtitle</a:t>
            </a:r>
            <a:br>
              <a:rPr kumimoji="0" lang="fr-FR" sz="1600" b="0" i="0" u="none" strike="noStrike" kern="1200" cap="none" spc="0" normalizeH="0" baseline="0" noProof="0" dirty="0">
                <a:ln>
                  <a:noFill/>
                </a:ln>
                <a:solidFill>
                  <a:srgbClr val="2C252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r>
              <a:rPr kumimoji="0" lang="fr-FR" sz="1600" b="0" i="0" u="none" strike="noStrike" kern="1200" cap="none" spc="0" normalizeH="0" baseline="0" noProof="0" dirty="0">
                <a:ln>
                  <a:noFill/>
                </a:ln>
                <a:solidFill>
                  <a:srgbClr val="2C252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.service-</a:t>
            </a:r>
            <a:r>
              <a:rPr kumimoji="0" lang="fr-FR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2C252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card</a:t>
            </a:r>
            <a:br>
              <a:rPr kumimoji="0" lang="fr-FR" sz="1600" b="0" i="0" u="none" strike="noStrike" kern="1200" cap="none" spc="0" normalizeH="0" baseline="0" noProof="0" dirty="0">
                <a:ln>
                  <a:noFill/>
                </a:ln>
                <a:solidFill>
                  <a:srgbClr val="2C252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r>
              <a:rPr kumimoji="0" lang="fr-FR" sz="1600" b="0" i="0" u="none" strike="noStrike" kern="1200" cap="none" spc="0" normalizeH="0" baseline="0" noProof="0" dirty="0">
                <a:ln>
                  <a:noFill/>
                </a:ln>
                <a:solidFill>
                  <a:srgbClr val="2C252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.</a:t>
            </a:r>
            <a:r>
              <a:rPr kumimoji="0" lang="fr-FR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2C252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feature</a:t>
            </a:r>
            <a:r>
              <a:rPr kumimoji="0" lang="fr-FR" sz="1600" b="0" i="0" u="none" strike="noStrike" kern="1200" cap="none" spc="0" normalizeH="0" baseline="0" noProof="0" dirty="0">
                <a:ln>
                  <a:noFill/>
                </a:ln>
                <a:solidFill>
                  <a:srgbClr val="2C252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-bar</a:t>
            </a:r>
            <a:br>
              <a:rPr kumimoji="0" lang="fr-FR" sz="1600" b="0" i="0" u="none" strike="noStrike" kern="1200" cap="none" spc="0" normalizeH="0" baseline="0" noProof="0" dirty="0">
                <a:ln>
                  <a:noFill/>
                </a:ln>
                <a:solidFill>
                  <a:srgbClr val="2C252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r>
              <a:rPr kumimoji="0" lang="fr-FR" sz="1600" b="0" i="0" u="none" strike="noStrike" kern="1200" cap="none" spc="0" normalizeH="0" baseline="0" noProof="0" dirty="0">
                <a:ln>
                  <a:noFill/>
                </a:ln>
                <a:solidFill>
                  <a:srgbClr val="2C252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.</a:t>
            </a:r>
            <a:r>
              <a:rPr kumimoji="0" lang="fr-FR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2C252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btn</a:t>
            </a:r>
            <a:r>
              <a:rPr kumimoji="0" lang="fr-FR" sz="1600" b="0" i="0" u="none" strike="noStrike" kern="1200" cap="none" spc="0" normalizeH="0" baseline="0" noProof="0" dirty="0">
                <a:ln>
                  <a:noFill/>
                </a:ln>
                <a:solidFill>
                  <a:srgbClr val="2C252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-gold</a:t>
            </a:r>
          </a:p>
          <a:p>
            <a:pPr algn="ctr"/>
            <a:endParaRPr lang="fr-FR" noProof="0" dirty="0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6FF85FC3-DB46-5BDA-8A06-685BC29B9B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60156" y="209451"/>
            <a:ext cx="6430272" cy="6173061"/>
          </a:xfrm>
          <a:prstGeom prst="rect">
            <a:avLst/>
          </a:prstGeom>
        </p:spPr>
      </p:pic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5292FA9-54CC-626A-FE78-ACA70C48BC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40500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90EADE-BC71-F356-3419-501EFDB9E2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85E551A-8839-452F-1D54-747D4D010CD6}"/>
              </a:ext>
            </a:extLst>
          </p:cNvPr>
          <p:cNvSpPr txBox="1"/>
          <p:nvPr/>
        </p:nvSpPr>
        <p:spPr>
          <a:xfrm>
            <a:off x="64008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fr-FR" sz="2800" b="1" noProof="0" dirty="0" err="1">
                <a:solidFill>
                  <a:srgbClr val="2C2522"/>
                </a:solidFill>
                <a:latin typeface="Aptos Display"/>
              </a:rPr>
              <a:t>Front-end</a:t>
            </a:r>
            <a:endParaRPr lang="fr-FR" sz="2800" b="1" noProof="0" dirty="0">
              <a:solidFill>
                <a:srgbClr val="2C2522"/>
              </a:solidFill>
              <a:latin typeface="Aptos Display"/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7571771E-2E0E-B42B-1EFE-36DE8221317B}"/>
              </a:ext>
            </a:extLst>
          </p:cNvPr>
          <p:cNvSpPr/>
          <p:nvPr/>
        </p:nvSpPr>
        <p:spPr>
          <a:xfrm>
            <a:off x="378563" y="1460864"/>
            <a:ext cx="2469569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EFE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b="1" i="0" u="none" strike="noStrike" kern="1200" cap="none" spc="0" normalizeH="0" baseline="0" noProof="0" dirty="0">
                <a:ln>
                  <a:noFill/>
                </a:ln>
                <a:solidFill>
                  <a:srgbClr val="F79646">
                    <a:lumMod val="50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JAVASCRIPT</a:t>
            </a:r>
            <a:br>
              <a:rPr kumimoji="0" lang="fr-FR" sz="1600" b="0" i="0" u="none" strike="noStrike" kern="1200" cap="none" spc="0" normalizeH="0" baseline="0" noProof="0" dirty="0">
                <a:ln>
                  <a:noFill/>
                </a:ln>
                <a:solidFill>
                  <a:srgbClr val="2C252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br>
              <a:rPr kumimoji="0" lang="fr-FR" sz="1600" b="0" i="0" u="none" strike="noStrike" kern="1200" cap="none" spc="0" normalizeH="0" baseline="0" noProof="0" dirty="0">
                <a:ln>
                  <a:noFill/>
                </a:ln>
                <a:solidFill>
                  <a:srgbClr val="2C252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r>
              <a:rPr kumimoji="0" lang="fr-FR" sz="1600" b="0" i="0" u="none" strike="noStrike" kern="1200" cap="none" spc="0" normalizeH="0" baseline="0" noProof="0" dirty="0">
                <a:ln>
                  <a:noFill/>
                </a:ln>
                <a:solidFill>
                  <a:srgbClr val="2C252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Bootstrap JS pour les interactions courantes.</a:t>
            </a:r>
            <a:br>
              <a:rPr kumimoji="0" lang="fr-FR" sz="1600" b="0" i="0" u="none" strike="noStrike" kern="1200" cap="none" spc="0" normalizeH="0" baseline="0" noProof="0" dirty="0">
                <a:ln>
                  <a:noFill/>
                </a:ln>
                <a:solidFill>
                  <a:srgbClr val="2C252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br>
              <a:rPr kumimoji="0" lang="fr-FR" sz="1600" b="0" i="0" u="none" strike="noStrike" kern="1200" cap="none" spc="0" normalizeH="0" baseline="0" noProof="0" dirty="0">
                <a:ln>
                  <a:noFill/>
                </a:ln>
                <a:solidFill>
                  <a:srgbClr val="2C252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r>
              <a:rPr kumimoji="0" lang="fr-FR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2C252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Webpack</a:t>
            </a:r>
            <a:r>
              <a:rPr kumimoji="0" lang="fr-FR" sz="1600" b="0" i="0" u="none" strike="noStrike" kern="1200" cap="none" spc="0" normalizeH="0" baseline="0" noProof="0" dirty="0">
                <a:ln>
                  <a:noFill/>
                </a:ln>
                <a:solidFill>
                  <a:srgbClr val="2C252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Encore pour compiler et gérer les assets.</a:t>
            </a:r>
          </a:p>
          <a:p>
            <a:pPr algn="ctr"/>
            <a:endParaRPr lang="fr-FR" noProof="0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7918BCD3-0479-D9AF-1E96-A3DAC57FC7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7738" y="621792"/>
            <a:ext cx="8705759" cy="5726455"/>
          </a:xfrm>
          <a:prstGeom prst="rect">
            <a:avLst/>
          </a:prstGeom>
        </p:spPr>
      </p:pic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F78665C-D4E7-0DEA-E6D7-D6E923C95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11558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4008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fr-FR" sz="2800" b="1" noProof="0" dirty="0" err="1">
                <a:solidFill>
                  <a:srgbClr val="2C2522"/>
                </a:solidFill>
                <a:latin typeface="Aptos Display"/>
              </a:rPr>
              <a:t>Back-end</a:t>
            </a:r>
            <a:r>
              <a:rPr lang="fr-FR" sz="2800" b="1" noProof="0" dirty="0">
                <a:solidFill>
                  <a:srgbClr val="2C2522"/>
                </a:solidFill>
                <a:latin typeface="Aptos Display"/>
              </a:rPr>
              <a:t> — MVC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62000" y="1862526"/>
            <a:ext cx="1666906" cy="3139242"/>
          </a:xfrm>
          <a:prstGeom prst="roundRect">
            <a:avLst/>
          </a:prstGeom>
          <a:solidFill>
            <a:srgbClr val="FFFFFF"/>
          </a:solidFill>
          <a:ln>
            <a:solidFill>
              <a:srgbClr val="EFE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b="1" i="0" u="none" strike="noStrike" kern="1200" cap="none" spc="0" normalizeH="0" baseline="0" noProof="0" dirty="0">
                <a:ln>
                  <a:noFill/>
                </a:ln>
                <a:solidFill>
                  <a:srgbClr val="F79646">
                    <a:lumMod val="50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MODEL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solidFill>
                  <a:srgbClr val="2C2522"/>
                </a:solidFill>
              </a:defRPr>
            </a:pPr>
            <a:r>
              <a:rPr kumimoji="0" lang="fr-FR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2C252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Entity</a:t>
            </a:r>
            <a:br>
              <a:rPr kumimoji="0" lang="fr-FR" sz="1600" b="0" i="0" u="none" strike="noStrike" kern="1200" cap="none" spc="0" normalizeH="0" baseline="0" noProof="0" dirty="0">
                <a:ln>
                  <a:noFill/>
                </a:ln>
                <a:solidFill>
                  <a:srgbClr val="2C252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r>
              <a:rPr kumimoji="0" lang="fr-FR" sz="1600" b="0" i="0" u="none" strike="noStrike" kern="1200" cap="none" spc="0" normalizeH="0" baseline="0" noProof="0" dirty="0">
                <a:ln>
                  <a:noFill/>
                </a:ln>
                <a:solidFill>
                  <a:srgbClr val="2C252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Doctrine</a:t>
            </a:r>
            <a:br>
              <a:rPr kumimoji="0" lang="fr-FR" sz="1600" b="0" i="0" u="none" strike="noStrike" kern="1200" cap="none" spc="0" normalizeH="0" baseline="0" noProof="0" dirty="0">
                <a:ln>
                  <a:noFill/>
                </a:ln>
                <a:solidFill>
                  <a:srgbClr val="2C252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r>
              <a:rPr kumimoji="0" lang="fr-FR" sz="1600" b="0" i="0" u="none" strike="noStrike" kern="1200" cap="none" spc="0" normalizeH="0" baseline="0" noProof="0" dirty="0">
                <a:ln>
                  <a:noFill/>
                </a:ln>
                <a:solidFill>
                  <a:srgbClr val="2C252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Repository</a:t>
            </a:r>
            <a:br>
              <a:rPr kumimoji="0" lang="fr-FR" sz="1600" b="0" i="0" u="none" strike="noStrike" kern="1200" cap="none" spc="0" normalizeH="0" baseline="0" noProof="0" dirty="0">
                <a:ln>
                  <a:noFill/>
                </a:ln>
                <a:solidFill>
                  <a:srgbClr val="2C252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br>
              <a:rPr kumimoji="0" lang="fr-FR" sz="1600" b="0" i="0" u="none" strike="noStrike" kern="1200" cap="none" spc="0" normalizeH="0" baseline="0" noProof="0" dirty="0">
                <a:ln>
                  <a:noFill/>
                </a:ln>
                <a:solidFill>
                  <a:srgbClr val="2C252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r>
              <a:rPr kumimoji="0" lang="fr-FR" sz="1600" b="0" i="0" u="none" strike="noStrike" kern="1200" cap="none" spc="0" normalizeH="0" baseline="0" noProof="0" dirty="0">
                <a:ln>
                  <a:noFill/>
                </a:ln>
                <a:solidFill>
                  <a:srgbClr val="2C252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Product</a:t>
            </a:r>
            <a:br>
              <a:rPr kumimoji="0" lang="fr-FR" sz="1600" b="0" i="0" u="none" strike="noStrike" kern="1200" cap="none" spc="0" normalizeH="0" baseline="0" noProof="0" dirty="0">
                <a:ln>
                  <a:noFill/>
                </a:ln>
                <a:solidFill>
                  <a:srgbClr val="2C252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r>
              <a:rPr kumimoji="0" lang="fr-FR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2C252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Category</a:t>
            </a:r>
            <a:br>
              <a:rPr kumimoji="0" lang="fr-FR" sz="1600" b="0" i="0" u="none" strike="noStrike" kern="1200" cap="none" spc="0" normalizeH="0" baseline="0" noProof="0" dirty="0">
                <a:ln>
                  <a:noFill/>
                </a:ln>
                <a:solidFill>
                  <a:srgbClr val="2C252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r>
              <a:rPr kumimoji="0" lang="fr-FR" sz="1600" b="0" i="0" u="none" strike="noStrike" kern="1200" cap="none" spc="0" normalizeH="0" baseline="0" noProof="0" dirty="0">
                <a:ln>
                  <a:noFill/>
                </a:ln>
                <a:solidFill>
                  <a:srgbClr val="2C252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User</a:t>
            </a:r>
            <a:br>
              <a:rPr kumimoji="0" lang="fr-FR" sz="1600" b="0" i="0" u="none" strike="noStrike" kern="1200" cap="none" spc="0" normalizeH="0" baseline="0" noProof="0" dirty="0">
                <a:ln>
                  <a:noFill/>
                </a:ln>
                <a:solidFill>
                  <a:srgbClr val="2C252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r>
              <a:rPr kumimoji="0" lang="fr-FR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2C252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Review</a:t>
            </a:r>
            <a:br>
              <a:rPr kumimoji="0" lang="fr-FR" sz="1600" b="0" i="0" u="none" strike="noStrike" kern="1200" cap="none" spc="0" normalizeH="0" baseline="0" noProof="0" dirty="0">
                <a:ln>
                  <a:noFill/>
                </a:ln>
                <a:solidFill>
                  <a:srgbClr val="2C252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r>
              <a:rPr kumimoji="0" lang="fr-FR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2C252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QuoteRequest</a:t>
            </a:r>
            <a:endParaRPr kumimoji="0" lang="fr-FR" sz="1600" b="0" i="0" u="none" strike="noStrike" kern="1200" cap="none" spc="0" normalizeH="0" baseline="0" noProof="0" dirty="0">
              <a:ln>
                <a:noFill/>
              </a:ln>
              <a:solidFill>
                <a:srgbClr val="2C2522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algn="ctr"/>
            <a:endParaRPr lang="fr-FR" noProof="0" dirty="0"/>
          </a:p>
        </p:txBody>
      </p:sp>
      <p:sp>
        <p:nvSpPr>
          <p:cNvPr id="6" name="Rounded Rectangle 5"/>
          <p:cNvSpPr/>
          <p:nvPr/>
        </p:nvSpPr>
        <p:spPr>
          <a:xfrm>
            <a:off x="4014292" y="692469"/>
            <a:ext cx="3383280" cy="2500811"/>
          </a:xfrm>
          <a:prstGeom prst="roundRect">
            <a:avLst/>
          </a:prstGeom>
          <a:solidFill>
            <a:srgbClr val="FFFFFF"/>
          </a:solidFill>
          <a:ln>
            <a:solidFill>
              <a:srgbClr val="EFE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b="1" i="0" u="none" strike="noStrike" kern="1200" cap="none" spc="0" normalizeH="0" baseline="0" noProof="0" dirty="0">
                <a:ln>
                  <a:noFill/>
                </a:ln>
                <a:solidFill>
                  <a:srgbClr val="F79646">
                    <a:lumMod val="50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VIEW</a:t>
            </a:r>
            <a:endParaRPr kumimoji="0" lang="fr-FR" sz="2000" b="1" i="0" u="none" strike="noStrike" kern="1200" cap="none" spc="0" normalizeH="0" baseline="0" noProof="0" dirty="0">
              <a:ln>
                <a:noFill/>
              </a:ln>
              <a:solidFill>
                <a:srgbClr val="F79646">
                  <a:lumMod val="50000"/>
                </a:srgb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solidFill>
                  <a:srgbClr val="2C2522"/>
                </a:solidFill>
              </a:defRPr>
            </a:pPr>
            <a:r>
              <a:rPr kumimoji="0" lang="fr-FR" sz="1600" b="0" i="0" u="none" strike="noStrike" kern="1200" cap="none" spc="0" normalizeH="0" baseline="0" noProof="0" dirty="0">
                <a:ln>
                  <a:noFill/>
                </a:ln>
                <a:solidFill>
                  <a:srgbClr val="2C252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Twig</a:t>
            </a:r>
            <a:br>
              <a:rPr kumimoji="0" lang="fr-FR" sz="1600" b="0" i="0" u="none" strike="noStrike" kern="1200" cap="none" spc="0" normalizeH="0" baseline="0" noProof="0" dirty="0">
                <a:ln>
                  <a:noFill/>
                </a:ln>
                <a:solidFill>
                  <a:srgbClr val="2C252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br>
              <a:rPr kumimoji="0" lang="fr-FR" sz="1600" b="0" i="0" u="none" strike="noStrike" kern="1200" cap="none" spc="0" normalizeH="0" baseline="0" noProof="0" dirty="0">
                <a:ln>
                  <a:noFill/>
                </a:ln>
                <a:solidFill>
                  <a:srgbClr val="2C252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r>
              <a:rPr kumimoji="0" lang="fr-FR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2C252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Templates</a:t>
            </a:r>
            <a:r>
              <a:rPr kumimoji="0" lang="fr-FR" sz="1600" b="0" i="0" u="none" strike="noStrike" kern="1200" cap="none" spc="0" normalizeH="0" baseline="0" noProof="0" dirty="0">
                <a:ln>
                  <a:noFill/>
                </a:ln>
                <a:solidFill>
                  <a:srgbClr val="2C252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HTML</a:t>
            </a:r>
            <a:br>
              <a:rPr kumimoji="0" lang="fr-FR" sz="1600" b="0" i="0" u="none" strike="noStrike" kern="1200" cap="none" spc="0" normalizeH="0" baseline="0" noProof="0" dirty="0">
                <a:ln>
                  <a:noFill/>
                </a:ln>
                <a:solidFill>
                  <a:srgbClr val="2C252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br>
              <a:rPr kumimoji="0" lang="fr-FR" sz="1600" b="0" i="0" u="none" strike="noStrike" kern="1200" cap="none" spc="0" normalizeH="0" baseline="0" noProof="0" dirty="0">
                <a:ln>
                  <a:noFill/>
                </a:ln>
                <a:solidFill>
                  <a:srgbClr val="2C252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r>
              <a:rPr kumimoji="0" lang="fr-FR" sz="1600" b="0" i="0" u="none" strike="noStrike" kern="1200" cap="none" spc="0" normalizeH="0" baseline="0" noProof="0" dirty="0">
                <a:ln>
                  <a:noFill/>
                </a:ln>
                <a:solidFill>
                  <a:srgbClr val="2C252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Données transmises par le </a:t>
            </a:r>
            <a:r>
              <a:rPr kumimoji="0" lang="fr-FR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2C252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controller</a:t>
            </a:r>
            <a:br>
              <a:rPr kumimoji="0" lang="fr-FR" sz="1600" b="0" i="0" u="none" strike="noStrike" kern="1200" cap="none" spc="0" normalizeH="0" baseline="0" noProof="0" dirty="0">
                <a:ln>
                  <a:noFill/>
                </a:ln>
                <a:solidFill>
                  <a:srgbClr val="2C252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br>
              <a:rPr kumimoji="0" lang="fr-FR" sz="1600" b="0" i="0" u="none" strike="noStrike" kern="1200" cap="none" spc="0" normalizeH="0" baseline="0" noProof="0" dirty="0">
                <a:ln>
                  <a:noFill/>
                </a:ln>
                <a:solidFill>
                  <a:srgbClr val="2C252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r>
              <a:rPr kumimoji="0" lang="fr-FR" sz="1600" b="0" i="0" u="none" strike="noStrike" kern="1200" cap="none" spc="0" normalizeH="0" baseline="0" noProof="0" dirty="0">
                <a:ln>
                  <a:noFill/>
                </a:ln>
                <a:solidFill>
                  <a:srgbClr val="2C252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Rendu côté navigateur</a:t>
            </a:r>
          </a:p>
          <a:p>
            <a:pPr algn="ctr"/>
            <a:endParaRPr lang="fr-FR" noProof="0" dirty="0"/>
          </a:p>
        </p:txBody>
      </p:sp>
      <p:sp>
        <p:nvSpPr>
          <p:cNvPr id="8" name="Rounded Rectangle 7"/>
          <p:cNvSpPr/>
          <p:nvPr/>
        </p:nvSpPr>
        <p:spPr>
          <a:xfrm>
            <a:off x="9136505" y="1856679"/>
            <a:ext cx="2476375" cy="3139242"/>
          </a:xfrm>
          <a:prstGeom prst="roundRect">
            <a:avLst/>
          </a:prstGeom>
          <a:solidFill>
            <a:srgbClr val="FFFFFF"/>
          </a:solidFill>
          <a:ln>
            <a:solidFill>
              <a:srgbClr val="EFE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b="1" i="0" u="none" strike="noStrike" kern="1200" cap="none" spc="0" normalizeH="0" baseline="0" noProof="0" dirty="0">
                <a:ln>
                  <a:noFill/>
                </a:ln>
                <a:solidFill>
                  <a:srgbClr val="F79646">
                    <a:lumMod val="50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CONTROLLER</a:t>
            </a:r>
            <a:endParaRPr kumimoji="0" lang="fr-FR" sz="2000" b="1" i="0" u="none" strike="noStrike" kern="1200" cap="none" spc="0" normalizeH="0" baseline="0" noProof="0" dirty="0">
              <a:ln>
                <a:noFill/>
              </a:ln>
              <a:solidFill>
                <a:srgbClr val="F79646">
                  <a:lumMod val="50000"/>
                </a:srgb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solidFill>
                  <a:srgbClr val="2C2522"/>
                </a:solidFill>
              </a:defRPr>
            </a:pPr>
            <a:r>
              <a:rPr kumimoji="0" lang="fr-FR" sz="1600" b="0" i="0" u="none" strike="noStrike" kern="1200" cap="none" spc="0" normalizeH="0" baseline="0" noProof="0" dirty="0">
                <a:ln>
                  <a:noFill/>
                </a:ln>
                <a:solidFill>
                  <a:srgbClr val="2C252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Routes</a:t>
            </a:r>
            <a:br>
              <a:rPr kumimoji="0" lang="fr-FR" sz="1600" b="0" i="0" u="none" strike="noStrike" kern="1200" cap="none" spc="0" normalizeH="0" baseline="0" noProof="0" dirty="0">
                <a:ln>
                  <a:noFill/>
                </a:ln>
                <a:solidFill>
                  <a:srgbClr val="2C252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r>
              <a:rPr kumimoji="0" lang="fr-FR" sz="1600" b="0" i="0" u="none" strike="noStrike" kern="1200" cap="none" spc="0" normalizeH="0" baseline="0" noProof="0" dirty="0">
                <a:ln>
                  <a:noFill/>
                </a:ln>
                <a:solidFill>
                  <a:srgbClr val="2C252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Traitement des requêtes</a:t>
            </a:r>
            <a:br>
              <a:rPr kumimoji="0" lang="fr-FR" sz="1600" b="0" i="0" u="none" strike="noStrike" kern="1200" cap="none" spc="0" normalizeH="0" baseline="0" noProof="0" dirty="0">
                <a:ln>
                  <a:noFill/>
                </a:ln>
                <a:solidFill>
                  <a:srgbClr val="2C252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r>
              <a:rPr kumimoji="0" lang="fr-FR" sz="1600" b="0" i="0" u="none" strike="noStrike" kern="1200" cap="none" spc="0" normalizeH="0" baseline="0" noProof="0" dirty="0">
                <a:ln>
                  <a:noFill/>
                </a:ln>
                <a:solidFill>
                  <a:srgbClr val="2C252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Coordination</a:t>
            </a:r>
            <a:br>
              <a:rPr kumimoji="0" lang="fr-FR" sz="1600" b="0" i="0" u="none" strike="noStrike" kern="1200" cap="none" spc="0" normalizeH="0" baseline="0" noProof="0" dirty="0">
                <a:ln>
                  <a:noFill/>
                </a:ln>
                <a:solidFill>
                  <a:srgbClr val="2C252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br>
              <a:rPr kumimoji="0" lang="fr-FR" sz="1600" b="0" i="0" u="none" strike="noStrike" kern="1200" cap="none" spc="0" normalizeH="0" baseline="0" noProof="0" dirty="0">
                <a:ln>
                  <a:noFill/>
                </a:ln>
                <a:solidFill>
                  <a:srgbClr val="2C252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r>
              <a:rPr kumimoji="0" lang="fr-FR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2C252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HomeController</a:t>
            </a:r>
            <a:br>
              <a:rPr kumimoji="0" lang="fr-FR" sz="1600" b="0" i="0" u="none" strike="noStrike" kern="1200" cap="none" spc="0" normalizeH="0" baseline="0" noProof="0" dirty="0">
                <a:ln>
                  <a:noFill/>
                </a:ln>
                <a:solidFill>
                  <a:srgbClr val="2C252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r>
              <a:rPr kumimoji="0" lang="fr-FR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2C252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ProductController</a:t>
            </a:r>
            <a:br>
              <a:rPr kumimoji="0" lang="fr-FR" sz="1600" b="0" i="0" u="none" strike="noStrike" kern="1200" cap="none" spc="0" normalizeH="0" baseline="0" noProof="0" dirty="0">
                <a:ln>
                  <a:noFill/>
                </a:ln>
                <a:solidFill>
                  <a:srgbClr val="2C252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r>
              <a:rPr kumimoji="0" lang="fr-FR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2C252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CategoryController</a:t>
            </a:r>
            <a:br>
              <a:rPr kumimoji="0" lang="fr-FR" sz="1600" b="0" i="0" u="none" strike="noStrike" kern="1200" cap="none" spc="0" normalizeH="0" baseline="0" noProof="0" dirty="0">
                <a:ln>
                  <a:noFill/>
                </a:ln>
                <a:solidFill>
                  <a:srgbClr val="2C252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r>
              <a:rPr kumimoji="0" lang="fr-FR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2C252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QuoteRequestController</a:t>
            </a:r>
            <a:endParaRPr kumimoji="0" lang="fr-FR" sz="1600" b="0" i="0" u="none" strike="noStrike" kern="1200" cap="none" spc="0" normalizeH="0" baseline="0" noProof="0" dirty="0">
              <a:ln>
                <a:noFill/>
              </a:ln>
              <a:solidFill>
                <a:srgbClr val="2C2522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algn="ctr"/>
            <a:endParaRPr lang="fr-FR" noProof="0" dirty="0"/>
          </a:p>
        </p:txBody>
      </p:sp>
      <p:pic>
        <p:nvPicPr>
          <p:cNvPr id="17" name="Image 16">
            <a:extLst>
              <a:ext uri="{FF2B5EF4-FFF2-40B4-BE49-F238E27FC236}">
                <a16:creationId xmlns:a16="http://schemas.microsoft.com/office/drawing/2014/main" id="{8F360745-8C06-27A5-CBAF-CE3419DCF5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34280" y="3405813"/>
            <a:ext cx="6096851" cy="2800741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F82F9729-FCFB-66FE-97D3-6FA9CEF0C7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12</a:t>
            </a:fld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40080" y="411480"/>
            <a:ext cx="2744662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fr-FR" sz="2800" b="1" dirty="0">
                <a:solidFill>
                  <a:srgbClr val="2C2522"/>
                </a:solidFill>
                <a:latin typeface="Aptos Display"/>
              </a:rPr>
              <a:t>Doctrine → </a:t>
            </a:r>
            <a:r>
              <a:rPr lang="fr-FR" sz="2800" b="1" noProof="0" dirty="0" err="1">
                <a:solidFill>
                  <a:srgbClr val="2C2522"/>
                </a:solidFill>
                <a:latin typeface="Aptos Display"/>
              </a:rPr>
              <a:t>Entity</a:t>
            </a:r>
            <a:endParaRPr lang="fr-FR" sz="2800" b="1" noProof="0" dirty="0">
              <a:solidFill>
                <a:srgbClr val="2C2522"/>
              </a:solidFill>
              <a:latin typeface="Aptos Display"/>
            </a:endParaRPr>
          </a:p>
        </p:txBody>
      </p:sp>
      <p:sp>
        <p:nvSpPr>
          <p:cNvPr id="10" name="Espace réservé du numéro de diapositive 9">
            <a:extLst>
              <a:ext uri="{FF2B5EF4-FFF2-40B4-BE49-F238E27FC236}">
                <a16:creationId xmlns:a16="http://schemas.microsoft.com/office/drawing/2014/main" id="{688A63D7-E5AC-2D3C-3588-857C55B10C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13</a:t>
            </a:fld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D2FAA98-A1BF-24BA-365B-2B6C66F09B6E}"/>
              </a:ext>
            </a:extLst>
          </p:cNvPr>
          <p:cNvSpPr/>
          <p:nvPr/>
        </p:nvSpPr>
        <p:spPr>
          <a:xfrm>
            <a:off x="2788920" y="1670134"/>
            <a:ext cx="6614160" cy="3272763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 err="1"/>
              <a:t>Parler</a:t>
            </a:r>
            <a:r>
              <a:rPr lang="pt-BR" dirty="0"/>
              <a:t> de </a:t>
            </a:r>
            <a:r>
              <a:rPr lang="pt-BR" dirty="0" err="1"/>
              <a:t>Doctrine</a:t>
            </a:r>
            <a:r>
              <a:rPr lang="pt-BR" dirty="0"/>
              <a:t>, ORM, </a:t>
            </a:r>
            <a:r>
              <a:rPr lang="pt-BR" dirty="0" err="1"/>
              <a:t>pq</a:t>
            </a:r>
            <a:r>
              <a:rPr lang="pt-BR" dirty="0"/>
              <a:t> </a:t>
            </a:r>
            <a:r>
              <a:rPr lang="pt-BR" dirty="0" err="1"/>
              <a:t>ont</a:t>
            </a:r>
            <a:r>
              <a:rPr lang="pt-BR" dirty="0"/>
              <a:t> utilize etc... </a:t>
            </a:r>
            <a:r>
              <a:rPr lang="pt-BR" dirty="0" err="1"/>
              <a:t>l’Entity</a:t>
            </a:r>
            <a:endParaRPr lang="pt-BR" dirty="0"/>
          </a:p>
          <a:p>
            <a:pPr algn="ctr"/>
            <a:r>
              <a:rPr lang="pt-BR" dirty="0"/>
              <a:t>Exemplo de código com as classes, os </a:t>
            </a:r>
            <a:r>
              <a:rPr lang="pt-BR" dirty="0" err="1"/>
              <a:t>ORM´s</a:t>
            </a:r>
            <a:r>
              <a:rPr lang="pt-BR" dirty="0"/>
              <a:t>, PK, FK,</a:t>
            </a:r>
            <a:br>
              <a:rPr lang="pt-BR" dirty="0"/>
            </a:br>
            <a:br>
              <a:rPr lang="pt-BR" dirty="0"/>
            </a:br>
            <a:r>
              <a:rPr lang="pt-BR" dirty="0"/>
              <a:t>Model: </a:t>
            </a:r>
            <a:endParaRPr lang="fr-FR" dirty="0"/>
          </a:p>
        </p:txBody>
      </p:sp>
      <p:sp>
        <p:nvSpPr>
          <p:cNvPr id="5" name="Rounded Rectangle 3">
            <a:extLst>
              <a:ext uri="{FF2B5EF4-FFF2-40B4-BE49-F238E27FC236}">
                <a16:creationId xmlns:a16="http://schemas.microsoft.com/office/drawing/2014/main" id="{EDD39D81-3232-86FC-958D-CA9A1A4F6234}"/>
              </a:ext>
            </a:extLst>
          </p:cNvPr>
          <p:cNvSpPr/>
          <p:nvPr/>
        </p:nvSpPr>
        <p:spPr>
          <a:xfrm>
            <a:off x="762000" y="1862526"/>
            <a:ext cx="1666906" cy="3139242"/>
          </a:xfrm>
          <a:prstGeom prst="roundRect">
            <a:avLst/>
          </a:prstGeom>
          <a:solidFill>
            <a:srgbClr val="FFFFFF"/>
          </a:solidFill>
          <a:ln>
            <a:solidFill>
              <a:srgbClr val="EFE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b="1" i="0" u="none" strike="noStrike" kern="1200" cap="none" spc="0" normalizeH="0" baseline="0" noProof="0" dirty="0">
                <a:ln>
                  <a:noFill/>
                </a:ln>
                <a:solidFill>
                  <a:srgbClr val="F79646">
                    <a:lumMod val="50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MODEL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solidFill>
                  <a:srgbClr val="2C2522"/>
                </a:solidFill>
              </a:defRPr>
            </a:pPr>
            <a:r>
              <a:rPr kumimoji="0" lang="fr-FR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2C252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Entity</a:t>
            </a:r>
            <a:br>
              <a:rPr kumimoji="0" lang="fr-FR" sz="1600" b="0" i="0" u="none" strike="noStrike" kern="1200" cap="none" spc="0" normalizeH="0" baseline="0" noProof="0" dirty="0">
                <a:ln>
                  <a:noFill/>
                </a:ln>
                <a:solidFill>
                  <a:srgbClr val="2C252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r>
              <a:rPr kumimoji="0" lang="fr-FR" sz="1600" b="0" i="0" u="none" strike="noStrike" kern="1200" cap="none" spc="0" normalizeH="0" baseline="0" noProof="0" dirty="0">
                <a:ln>
                  <a:noFill/>
                </a:ln>
                <a:solidFill>
                  <a:srgbClr val="2C252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Doctrine</a:t>
            </a:r>
            <a:br>
              <a:rPr kumimoji="0" lang="fr-FR" sz="1600" b="0" i="0" u="none" strike="noStrike" kern="1200" cap="none" spc="0" normalizeH="0" baseline="0" noProof="0" dirty="0">
                <a:ln>
                  <a:noFill/>
                </a:ln>
                <a:solidFill>
                  <a:srgbClr val="2C252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r>
              <a:rPr kumimoji="0" lang="fr-FR" sz="1600" b="0" i="0" u="none" strike="noStrike" kern="1200" cap="none" spc="0" normalizeH="0" baseline="0" noProof="0" dirty="0">
                <a:ln>
                  <a:noFill/>
                </a:ln>
                <a:solidFill>
                  <a:srgbClr val="2C252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Repository</a:t>
            </a:r>
            <a:br>
              <a:rPr kumimoji="0" lang="fr-FR" sz="1600" b="0" i="0" u="none" strike="noStrike" kern="1200" cap="none" spc="0" normalizeH="0" baseline="0" noProof="0" dirty="0">
                <a:ln>
                  <a:noFill/>
                </a:ln>
                <a:solidFill>
                  <a:srgbClr val="2C252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br>
              <a:rPr kumimoji="0" lang="fr-FR" sz="1600" b="0" i="0" u="none" strike="noStrike" kern="1200" cap="none" spc="0" normalizeH="0" baseline="0" noProof="0" dirty="0">
                <a:ln>
                  <a:noFill/>
                </a:ln>
                <a:solidFill>
                  <a:srgbClr val="2C252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r>
              <a:rPr kumimoji="0" lang="fr-FR" sz="1600" b="0" i="0" u="none" strike="noStrike" kern="1200" cap="none" spc="0" normalizeH="0" baseline="0" noProof="0" dirty="0">
                <a:ln>
                  <a:noFill/>
                </a:ln>
                <a:solidFill>
                  <a:srgbClr val="2C252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Product</a:t>
            </a:r>
            <a:br>
              <a:rPr kumimoji="0" lang="fr-FR" sz="1600" b="0" i="0" u="none" strike="noStrike" kern="1200" cap="none" spc="0" normalizeH="0" baseline="0" noProof="0" dirty="0">
                <a:ln>
                  <a:noFill/>
                </a:ln>
                <a:solidFill>
                  <a:srgbClr val="2C252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r>
              <a:rPr kumimoji="0" lang="fr-FR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2C252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Category</a:t>
            </a:r>
            <a:br>
              <a:rPr kumimoji="0" lang="fr-FR" sz="1600" b="0" i="0" u="none" strike="noStrike" kern="1200" cap="none" spc="0" normalizeH="0" baseline="0" noProof="0" dirty="0">
                <a:ln>
                  <a:noFill/>
                </a:ln>
                <a:solidFill>
                  <a:srgbClr val="2C252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r>
              <a:rPr kumimoji="0" lang="fr-FR" sz="1600" b="0" i="0" u="none" strike="noStrike" kern="1200" cap="none" spc="0" normalizeH="0" baseline="0" noProof="0" dirty="0">
                <a:ln>
                  <a:noFill/>
                </a:ln>
                <a:solidFill>
                  <a:srgbClr val="2C252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User</a:t>
            </a:r>
            <a:br>
              <a:rPr kumimoji="0" lang="fr-FR" sz="1600" b="0" i="0" u="none" strike="noStrike" kern="1200" cap="none" spc="0" normalizeH="0" baseline="0" noProof="0" dirty="0">
                <a:ln>
                  <a:noFill/>
                </a:ln>
                <a:solidFill>
                  <a:srgbClr val="2C252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r>
              <a:rPr kumimoji="0" lang="fr-FR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2C252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Review</a:t>
            </a:r>
            <a:br>
              <a:rPr kumimoji="0" lang="fr-FR" sz="1600" b="0" i="0" u="none" strike="noStrike" kern="1200" cap="none" spc="0" normalizeH="0" baseline="0" noProof="0" dirty="0">
                <a:ln>
                  <a:noFill/>
                </a:ln>
                <a:solidFill>
                  <a:srgbClr val="2C252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r>
              <a:rPr kumimoji="0" lang="fr-FR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2C252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QuoteRequest</a:t>
            </a:r>
            <a:endParaRPr kumimoji="0" lang="fr-FR" sz="1600" b="0" i="0" u="none" strike="noStrike" kern="1200" cap="none" spc="0" normalizeH="0" baseline="0" noProof="0" dirty="0">
              <a:ln>
                <a:noFill/>
              </a:ln>
              <a:solidFill>
                <a:srgbClr val="2C2522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algn="ctr"/>
            <a:endParaRPr lang="fr-FR" noProof="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E7111A-29E2-6828-900B-FEE51A9374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F8EA6D7-28AB-1B36-D852-99F40BA338C8}"/>
              </a:ext>
            </a:extLst>
          </p:cNvPr>
          <p:cNvSpPr txBox="1"/>
          <p:nvPr/>
        </p:nvSpPr>
        <p:spPr>
          <a:xfrm>
            <a:off x="640080" y="411480"/>
            <a:ext cx="4505272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fr-FR" sz="2800" b="1" dirty="0">
                <a:solidFill>
                  <a:srgbClr val="2C2522"/>
                </a:solidFill>
                <a:latin typeface="Aptos Display"/>
              </a:rPr>
              <a:t>Doctrine → </a:t>
            </a:r>
            <a:r>
              <a:rPr lang="fr-FR" sz="2800" b="1" noProof="0" dirty="0">
                <a:solidFill>
                  <a:srgbClr val="2C2522"/>
                </a:solidFill>
                <a:latin typeface="Aptos Display"/>
              </a:rPr>
              <a:t>Repository → SQL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85378065-D266-E1A0-2E43-3C22DC445B63}"/>
              </a:ext>
            </a:extLst>
          </p:cNvPr>
          <p:cNvSpPr/>
          <p:nvPr/>
        </p:nvSpPr>
        <p:spPr>
          <a:xfrm>
            <a:off x="2409661" y="1436398"/>
            <a:ext cx="1686827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B897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>
                <a:solidFill>
                  <a:srgbClr val="2C2522"/>
                </a:solidFill>
              </a:rPr>
              <a:t>Doctrine ORM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DD4117A9-E469-EEEF-1281-37010E993A28}"/>
              </a:ext>
            </a:extLst>
          </p:cNvPr>
          <p:cNvSpPr/>
          <p:nvPr/>
        </p:nvSpPr>
        <p:spPr>
          <a:xfrm>
            <a:off x="4311613" y="1436398"/>
            <a:ext cx="1686827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B897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>
                <a:solidFill>
                  <a:srgbClr val="2C2522"/>
                </a:solidFill>
              </a:rPr>
              <a:t>Repository</a:t>
            </a:r>
            <a:endParaRPr lang="fr-FR" sz="1200" b="1" dirty="0">
              <a:solidFill>
                <a:srgbClr val="2C2522"/>
              </a:solidFill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A3DAE911-44BE-3B16-E99C-3CD1A76D91C5}"/>
              </a:ext>
            </a:extLst>
          </p:cNvPr>
          <p:cNvSpPr/>
          <p:nvPr/>
        </p:nvSpPr>
        <p:spPr>
          <a:xfrm>
            <a:off x="6213565" y="1436398"/>
            <a:ext cx="1686827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B897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noProof="0" dirty="0">
                <a:solidFill>
                  <a:srgbClr val="2C2522"/>
                </a:solidFill>
              </a:rPr>
              <a:t>SQL</a:t>
            </a:r>
            <a:endParaRPr lang="fr-FR" sz="1200" b="1" noProof="0" dirty="0">
              <a:solidFill>
                <a:srgbClr val="2C2522"/>
              </a:solidFill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483A899D-134E-7012-4116-A661A01AD121}"/>
              </a:ext>
            </a:extLst>
          </p:cNvPr>
          <p:cNvSpPr/>
          <p:nvPr/>
        </p:nvSpPr>
        <p:spPr>
          <a:xfrm>
            <a:off x="8115517" y="1436398"/>
            <a:ext cx="1686827" cy="914400"/>
          </a:xfrm>
          <a:prstGeom prst="roundRect">
            <a:avLst/>
          </a:prstGeom>
          <a:solidFill>
            <a:schemeClr val="bg1"/>
          </a:solidFill>
          <a:ln>
            <a:solidFill>
              <a:srgbClr val="B897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noProof="0" dirty="0" err="1">
                <a:solidFill>
                  <a:srgbClr val="2C2522"/>
                </a:solidFill>
              </a:rPr>
              <a:t>MariaDB</a:t>
            </a:r>
            <a:endParaRPr lang="fr-FR" sz="1200" b="1" noProof="0" dirty="0">
              <a:solidFill>
                <a:srgbClr val="2C2522"/>
              </a:solidFill>
            </a:endParaRPr>
          </a:p>
        </p:txBody>
      </p:sp>
      <p:pic>
        <p:nvPicPr>
          <p:cNvPr id="14" name="Image 13">
            <a:extLst>
              <a:ext uri="{FF2B5EF4-FFF2-40B4-BE49-F238E27FC236}">
                <a16:creationId xmlns:a16="http://schemas.microsoft.com/office/drawing/2014/main" id="{F7C5124A-A0A8-3D91-C836-EC6EE32D81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7785" y="2881803"/>
            <a:ext cx="4838278" cy="320978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16" name="Image 15">
            <a:extLst>
              <a:ext uri="{FF2B5EF4-FFF2-40B4-BE49-F238E27FC236}">
                <a16:creationId xmlns:a16="http://schemas.microsoft.com/office/drawing/2014/main" id="{6F52923A-FB1F-C51D-29CD-2BCE89B204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62265" y="3142971"/>
            <a:ext cx="5067735" cy="2171886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10" name="Espace réservé du numéro de diapositive 9">
            <a:extLst>
              <a:ext uri="{FF2B5EF4-FFF2-40B4-BE49-F238E27FC236}">
                <a16:creationId xmlns:a16="http://schemas.microsoft.com/office/drawing/2014/main" id="{4400DDCF-081D-3AC0-5FA1-9325B81101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41447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51C5A4-E5BE-C837-A6FB-D5FDA906F9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AAA615F-956B-5AA0-7A12-FC2265D741A2}"/>
              </a:ext>
            </a:extLst>
          </p:cNvPr>
          <p:cNvSpPr txBox="1"/>
          <p:nvPr/>
        </p:nvSpPr>
        <p:spPr>
          <a:xfrm>
            <a:off x="640080" y="411480"/>
            <a:ext cx="2408160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fr-FR" sz="2800" b="1" noProof="0" dirty="0">
                <a:solidFill>
                  <a:srgbClr val="2C2522"/>
                </a:solidFill>
                <a:latin typeface="Aptos Display"/>
              </a:rPr>
              <a:t>CONTROLEUR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A0A929F-EE3B-550D-0FFE-E9A12CAB36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15</a:t>
            </a:fld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6264AB1-15D3-FDD8-66B2-15D350B81F1E}"/>
              </a:ext>
            </a:extLst>
          </p:cNvPr>
          <p:cNvSpPr/>
          <p:nvPr/>
        </p:nvSpPr>
        <p:spPr>
          <a:xfrm>
            <a:off x="1889760" y="1767840"/>
            <a:ext cx="4709160" cy="233172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 err="1"/>
              <a:t>Symfony</a:t>
            </a:r>
            <a:r>
              <a:rPr lang="pt-BR" dirty="0"/>
              <a:t>, </a:t>
            </a:r>
            <a:r>
              <a:rPr lang="pt-BR" dirty="0" err="1"/>
              <a:t>requete</a:t>
            </a:r>
            <a:r>
              <a:rPr lang="pt-BR" dirty="0"/>
              <a:t>, </a:t>
            </a:r>
            <a:r>
              <a:rPr lang="pt-BR" dirty="0" err="1"/>
              <a:t>atribut</a:t>
            </a:r>
            <a:r>
              <a:rPr lang="pt-BR" dirty="0"/>
              <a:t>, Route, </a:t>
            </a:r>
          </a:p>
          <a:p>
            <a:pPr algn="ctr"/>
            <a:endParaRPr lang="pt-BR" dirty="0"/>
          </a:p>
          <a:p>
            <a:pPr algn="ctr"/>
            <a:r>
              <a:rPr lang="pt-BR" dirty="0"/>
              <a:t>Route -&gt; index (</a:t>
            </a:r>
            <a:r>
              <a:rPr lang="pt-BR" dirty="0" err="1"/>
              <a:t>ex</a:t>
            </a:r>
            <a:r>
              <a:rPr lang="pt-BR" dirty="0"/>
              <a:t>: </a:t>
            </a:r>
            <a:r>
              <a:rPr lang="pt-BR" dirty="0" err="1"/>
              <a:t>galerie</a:t>
            </a:r>
            <a:r>
              <a:rPr lang="pt-BR" dirty="0"/>
              <a:t>)</a:t>
            </a:r>
          </a:p>
          <a:p>
            <a:pPr algn="ctr"/>
            <a:r>
              <a:rPr lang="pt-BR" dirty="0" err="1"/>
              <a:t>Injection</a:t>
            </a:r>
            <a:r>
              <a:rPr lang="pt-BR" dirty="0"/>
              <a:t> de </a:t>
            </a:r>
            <a:r>
              <a:rPr lang="pt-BR" dirty="0" err="1"/>
              <a:t>dependence</a:t>
            </a:r>
            <a:r>
              <a:rPr lang="pt-BR" dirty="0"/>
              <a:t>;</a:t>
            </a:r>
          </a:p>
          <a:p>
            <a:pPr algn="ctr"/>
            <a:r>
              <a:rPr lang="pt-BR" dirty="0" err="1"/>
              <a:t>Laisser</a:t>
            </a:r>
            <a:r>
              <a:rPr lang="pt-BR" dirty="0"/>
              <a:t> </a:t>
            </a:r>
            <a:r>
              <a:rPr lang="pt-BR" dirty="0" err="1"/>
              <a:t>le</a:t>
            </a:r>
            <a:r>
              <a:rPr lang="pt-BR" dirty="0"/>
              <a:t> framework </a:t>
            </a:r>
            <a:r>
              <a:rPr lang="pt-BR" dirty="0" err="1"/>
              <a:t>gerer</a:t>
            </a:r>
            <a:r>
              <a:rPr lang="pt-BR" dirty="0"/>
              <a:t> </a:t>
            </a:r>
            <a:r>
              <a:rPr lang="pt-BR" dirty="0" err="1"/>
              <a:t>le</a:t>
            </a:r>
            <a:r>
              <a:rPr lang="pt-BR" dirty="0"/>
              <a:t> </a:t>
            </a:r>
            <a:r>
              <a:rPr lang="pt-BR" dirty="0" err="1"/>
              <a:t>cycle</a:t>
            </a:r>
            <a:r>
              <a:rPr lang="pt-BR" dirty="0"/>
              <a:t> de </a:t>
            </a:r>
            <a:r>
              <a:rPr lang="pt-BR" dirty="0" err="1"/>
              <a:t>vie</a:t>
            </a:r>
            <a:r>
              <a:rPr lang="pt-BR" dirty="0"/>
              <a:t> 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8499540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BB99F0-42D7-C485-56FD-F0C301916D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B90DE24-7C4B-9E34-6507-2E88C4A15B51}"/>
              </a:ext>
            </a:extLst>
          </p:cNvPr>
          <p:cNvSpPr txBox="1"/>
          <p:nvPr/>
        </p:nvSpPr>
        <p:spPr>
          <a:xfrm>
            <a:off x="640080" y="411480"/>
            <a:ext cx="1130438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fr-FR" sz="2800" b="1" noProof="0" dirty="0">
                <a:solidFill>
                  <a:srgbClr val="2C2522"/>
                </a:solidFill>
                <a:latin typeface="Aptos Display"/>
              </a:rPr>
              <a:t>CRUD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F91C96B4-5272-F4BC-245C-0F6515E94723}"/>
              </a:ext>
            </a:extLst>
          </p:cNvPr>
          <p:cNvSpPr/>
          <p:nvPr/>
        </p:nvSpPr>
        <p:spPr>
          <a:xfrm>
            <a:off x="8026399" y="1710779"/>
            <a:ext cx="1596572" cy="961281"/>
          </a:xfrm>
          <a:prstGeom prst="roundRect">
            <a:avLst/>
          </a:prstGeom>
          <a:solidFill>
            <a:srgbClr val="FFFFFF"/>
          </a:solidFill>
          <a:ln>
            <a:solidFill>
              <a:srgbClr val="EFE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b="1" i="0" u="none" strike="noStrike" kern="1200" cap="none" spc="0" normalizeH="0" baseline="0" noProof="0" dirty="0">
                <a:ln>
                  <a:noFill/>
                </a:ln>
                <a:solidFill>
                  <a:srgbClr val="F79646">
                    <a:lumMod val="50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MODIFIER UN PRODUIT</a:t>
            </a:r>
            <a:endParaRPr kumimoji="0" lang="fr-FR" sz="2000" b="1" i="0" u="none" strike="noStrike" kern="1200" cap="none" spc="0" normalizeH="0" baseline="0" noProof="0" dirty="0">
              <a:ln>
                <a:noFill/>
              </a:ln>
              <a:solidFill>
                <a:srgbClr val="F79646">
                  <a:lumMod val="50000"/>
                </a:srgb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C0C48C7B-F090-25F6-62AB-EBE9E383B8AE}"/>
              </a:ext>
            </a:extLst>
          </p:cNvPr>
          <p:cNvSpPr/>
          <p:nvPr/>
        </p:nvSpPr>
        <p:spPr>
          <a:xfrm>
            <a:off x="1004296" y="4994375"/>
            <a:ext cx="1985647" cy="924851"/>
          </a:xfrm>
          <a:prstGeom prst="roundRect">
            <a:avLst/>
          </a:prstGeom>
          <a:solidFill>
            <a:srgbClr val="FFFFFF"/>
          </a:solidFill>
          <a:ln>
            <a:solidFill>
              <a:srgbClr val="EFE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2000" b="1" dirty="0">
                <a:solidFill>
                  <a:srgbClr val="F79646">
                    <a:lumMod val="50000"/>
                  </a:srgbClr>
                </a:solidFill>
                <a:latin typeface="Calibri"/>
              </a:rPr>
              <a:t>SUPPRIMER UN PRODUIT</a:t>
            </a:r>
            <a:endParaRPr kumimoji="0" lang="fr-FR" sz="2000" b="1" i="0" u="none" strike="noStrike" kern="1200" cap="none" spc="0" normalizeH="0" baseline="0" noProof="0" dirty="0">
              <a:ln>
                <a:noFill/>
              </a:ln>
              <a:solidFill>
                <a:srgbClr val="F79646">
                  <a:lumMod val="50000"/>
                </a:srgb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3" name="Image 12">
            <a:extLst>
              <a:ext uri="{FF2B5EF4-FFF2-40B4-BE49-F238E27FC236}">
                <a16:creationId xmlns:a16="http://schemas.microsoft.com/office/drawing/2014/main" id="{31657EDA-6B7C-5DFD-5EA8-581767BB0A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0903" y="1065330"/>
            <a:ext cx="7249486" cy="347472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15" name="Image 14">
            <a:extLst>
              <a:ext uri="{FF2B5EF4-FFF2-40B4-BE49-F238E27FC236}">
                <a16:creationId xmlns:a16="http://schemas.microsoft.com/office/drawing/2014/main" id="{C42EA8DC-E160-83CF-B65D-079D7526A8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93143" y="4105438"/>
            <a:ext cx="8639785" cy="2238776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3DA8967-4427-B081-4361-51CF30C4AF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559592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40080" y="411480"/>
            <a:ext cx="2844305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fr-FR" sz="2800" b="1" dirty="0">
                <a:solidFill>
                  <a:srgbClr val="2C2522"/>
                </a:solidFill>
                <a:latin typeface="Aptos Display"/>
              </a:rPr>
              <a:t>Forms et sécurité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79" y="981889"/>
            <a:ext cx="2741749" cy="2149422"/>
          </a:xfrm>
          <a:prstGeom prst="roundRect">
            <a:avLst/>
          </a:prstGeom>
          <a:solidFill>
            <a:srgbClr val="FFFFFF"/>
          </a:solidFill>
          <a:ln>
            <a:solidFill>
              <a:srgbClr val="EFE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b="1" i="0" u="none" strike="noStrike" kern="1200" cap="none" spc="0" normalizeH="0" baseline="0" noProof="0" dirty="0">
                <a:ln>
                  <a:noFill/>
                </a:ln>
                <a:solidFill>
                  <a:srgbClr val="F79646">
                    <a:lumMod val="50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FORMS</a:t>
            </a:r>
            <a:endParaRPr kumimoji="0" lang="fr-FR" sz="1600" b="1" i="0" u="none" strike="noStrike" kern="1200" cap="none" spc="0" normalizeH="0" baseline="0" noProof="0" dirty="0">
              <a:ln>
                <a:noFill/>
              </a:ln>
              <a:solidFill>
                <a:srgbClr val="F79646">
                  <a:lumMod val="50000"/>
                </a:srgb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solidFill>
                  <a:srgbClr val="2C2522"/>
                </a:solidFill>
              </a:defRPr>
            </a:pPr>
            <a:r>
              <a:rPr kumimoji="0" lang="fr-FR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2C252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RegistrationFormType</a:t>
            </a:r>
            <a:br>
              <a:rPr kumimoji="0" lang="fr-FR" sz="1600" b="0" i="0" u="none" strike="noStrike" kern="1200" cap="none" spc="0" normalizeH="0" baseline="0" noProof="0" dirty="0">
                <a:ln>
                  <a:noFill/>
                </a:ln>
                <a:solidFill>
                  <a:srgbClr val="2C252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r>
              <a:rPr kumimoji="0" lang="fr-FR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2C252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QuoteRequestType</a:t>
            </a:r>
            <a:br>
              <a:rPr kumimoji="0" lang="fr-FR" sz="1600" b="0" i="0" u="none" strike="noStrike" kern="1200" cap="none" spc="0" normalizeH="0" baseline="0" noProof="0" dirty="0">
                <a:ln>
                  <a:noFill/>
                </a:ln>
                <a:solidFill>
                  <a:srgbClr val="2C252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r>
              <a:rPr kumimoji="0" lang="fr-FR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2C252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ReviewType</a:t>
            </a:r>
            <a:br>
              <a:rPr kumimoji="0" lang="fr-FR" sz="1600" b="0" i="0" u="none" strike="noStrike" kern="1200" cap="none" spc="0" normalizeH="0" baseline="0" noProof="0" dirty="0">
                <a:ln>
                  <a:noFill/>
                </a:ln>
                <a:solidFill>
                  <a:srgbClr val="2C252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r>
              <a:rPr kumimoji="0" lang="fr-FR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2C252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AdminProductType</a:t>
            </a:r>
            <a:br>
              <a:rPr kumimoji="0" lang="fr-FR" sz="1600" b="0" i="0" u="none" strike="noStrike" kern="1200" cap="none" spc="0" normalizeH="0" baseline="0" noProof="0" dirty="0">
                <a:ln>
                  <a:noFill/>
                </a:ln>
                <a:solidFill>
                  <a:srgbClr val="2C252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r>
              <a:rPr kumimoji="0" lang="fr-FR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2C252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AdminCategoryType</a:t>
            </a:r>
            <a:br>
              <a:rPr kumimoji="0" lang="fr-FR" sz="1600" b="0" i="0" u="none" strike="noStrike" kern="1200" cap="none" spc="0" normalizeH="0" baseline="0" noProof="0" dirty="0">
                <a:ln>
                  <a:noFill/>
                </a:ln>
                <a:solidFill>
                  <a:srgbClr val="2C252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r>
              <a:rPr kumimoji="0" lang="fr-FR" sz="1600" b="0" i="0" u="none" strike="noStrike" kern="1200" cap="none" spc="0" normalizeH="0" baseline="0" noProof="0" dirty="0">
                <a:ln>
                  <a:noFill/>
                </a:ln>
                <a:solidFill>
                  <a:srgbClr val="2C252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...</a:t>
            </a:r>
          </a:p>
          <a:p>
            <a:pPr algn="ctr"/>
            <a:endParaRPr lang="fr-FR" noProof="0" dirty="0"/>
          </a:p>
        </p:txBody>
      </p:sp>
      <p:pic>
        <p:nvPicPr>
          <p:cNvPr id="17" name="Image 16">
            <a:extLst>
              <a:ext uri="{FF2B5EF4-FFF2-40B4-BE49-F238E27FC236}">
                <a16:creationId xmlns:a16="http://schemas.microsoft.com/office/drawing/2014/main" id="{85B70BDA-03A1-83F4-CC5E-C77A15C982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80872" y="237764"/>
            <a:ext cx="7255791" cy="6144748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51519722-9888-B6E8-C6C7-DBF6F9816C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17</a:t>
            </a:fld>
            <a:endParaRPr 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256DE7-2C2A-7B14-4C38-48BDFAE091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7145087-FD0C-1A13-C456-210C0B99BD04}"/>
              </a:ext>
            </a:extLst>
          </p:cNvPr>
          <p:cNvSpPr txBox="1"/>
          <p:nvPr/>
        </p:nvSpPr>
        <p:spPr>
          <a:xfrm>
            <a:off x="640080" y="411480"/>
            <a:ext cx="2913233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fr-FR" sz="2800" b="1" noProof="0" dirty="0">
                <a:solidFill>
                  <a:srgbClr val="2C2522"/>
                </a:solidFill>
                <a:latin typeface="Aptos Display"/>
              </a:rPr>
              <a:t>Forms et sécurité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4544FB3A-F7C8-5D59-1E47-8DC62598B015}"/>
              </a:ext>
            </a:extLst>
          </p:cNvPr>
          <p:cNvSpPr/>
          <p:nvPr/>
        </p:nvSpPr>
        <p:spPr>
          <a:xfrm>
            <a:off x="624841" y="995681"/>
            <a:ext cx="2698930" cy="2149422"/>
          </a:xfrm>
          <a:prstGeom prst="roundRect">
            <a:avLst/>
          </a:prstGeom>
          <a:solidFill>
            <a:srgbClr val="FFFFFF"/>
          </a:solidFill>
          <a:ln>
            <a:solidFill>
              <a:srgbClr val="EFE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b="1" i="0" u="none" strike="noStrike" kern="1200" cap="none" spc="0" normalizeH="0" baseline="0" noProof="0" dirty="0">
                <a:ln>
                  <a:noFill/>
                </a:ln>
                <a:solidFill>
                  <a:srgbClr val="F79646">
                    <a:lumMod val="50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SECURITY</a:t>
            </a:r>
            <a:endParaRPr kumimoji="0" lang="fr-FR" sz="1600" b="1" i="0" u="none" strike="noStrike" kern="1200" cap="none" spc="0" normalizeH="0" baseline="0" noProof="0" dirty="0">
              <a:ln>
                <a:noFill/>
              </a:ln>
              <a:solidFill>
                <a:srgbClr val="F79646">
                  <a:lumMod val="50000"/>
                </a:srgb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solidFill>
                  <a:srgbClr val="2C2522"/>
                </a:solidFill>
              </a:defRPr>
            </a:pPr>
            <a:r>
              <a:rPr kumimoji="0" lang="fr-FR" sz="1600" b="0" i="0" u="none" strike="noStrike" kern="1200" cap="none" spc="0" normalizeH="0" baseline="0" noProof="0" dirty="0">
                <a:ln>
                  <a:noFill/>
                </a:ln>
                <a:solidFill>
                  <a:srgbClr val="2C252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Authentification</a:t>
            </a:r>
            <a:br>
              <a:rPr kumimoji="0" lang="fr-FR" sz="1600" b="0" i="0" u="none" strike="noStrike" kern="1200" cap="none" spc="0" normalizeH="0" baseline="0" noProof="0" dirty="0">
                <a:ln>
                  <a:noFill/>
                </a:ln>
                <a:solidFill>
                  <a:srgbClr val="2C252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r>
              <a:rPr kumimoji="0" lang="fr-FR" sz="1600" b="0" i="0" u="none" strike="noStrike" kern="1200" cap="none" spc="0" normalizeH="0" baseline="0" noProof="0" dirty="0">
                <a:ln>
                  <a:noFill/>
                </a:ln>
                <a:solidFill>
                  <a:srgbClr val="2C252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Gestion des utilisateurs</a:t>
            </a:r>
            <a:br>
              <a:rPr kumimoji="0" lang="fr-FR" sz="1600" b="0" i="0" u="none" strike="noStrike" kern="1200" cap="none" spc="0" normalizeH="0" baseline="0" noProof="0" dirty="0">
                <a:ln>
                  <a:noFill/>
                </a:ln>
                <a:solidFill>
                  <a:srgbClr val="2C252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r>
              <a:rPr kumimoji="0" lang="fr-FR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2C252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Hashage</a:t>
            </a:r>
            <a:r>
              <a:rPr kumimoji="0" lang="fr-FR" sz="1600" b="0" i="0" u="none" strike="noStrike" kern="1200" cap="none" spc="0" normalizeH="0" baseline="0" noProof="0" dirty="0">
                <a:ln>
                  <a:noFill/>
                </a:ln>
                <a:solidFill>
                  <a:srgbClr val="2C252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des mots de passe</a:t>
            </a:r>
            <a:br>
              <a:rPr kumimoji="0" lang="fr-FR" sz="1600" b="0" i="0" u="none" strike="noStrike" kern="1200" cap="none" spc="0" normalizeH="0" baseline="0" noProof="0" dirty="0">
                <a:ln>
                  <a:noFill/>
                </a:ln>
                <a:solidFill>
                  <a:srgbClr val="2C252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r>
              <a:rPr kumimoji="0" lang="fr-FR" sz="1600" b="0" i="0" u="none" strike="noStrike" kern="1200" cap="none" spc="0" normalizeH="0" baseline="0" noProof="0" dirty="0">
                <a:ln>
                  <a:noFill/>
                </a:ln>
                <a:solidFill>
                  <a:srgbClr val="2C252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Accès à l'administration</a:t>
            </a:r>
          </a:p>
          <a:p>
            <a:pPr algn="ctr"/>
            <a:endParaRPr lang="fr-FR" noProof="0" dirty="0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2391ED45-FFD8-171D-097D-61A3EBEF86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59200" y="219457"/>
            <a:ext cx="7768081" cy="615805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9C11573-D8FD-92B7-B406-C4C6D7CEE6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209295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C09B69-F2A0-64E1-0C87-1B1422D689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B89BC96-140C-92BB-78AB-82A39DA62D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19</a:t>
            </a:fld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FABD650-A063-6AD4-C81F-990130922EB6}"/>
              </a:ext>
            </a:extLst>
          </p:cNvPr>
          <p:cNvSpPr/>
          <p:nvPr/>
        </p:nvSpPr>
        <p:spPr>
          <a:xfrm>
            <a:off x="1641072" y="538049"/>
            <a:ext cx="8519160" cy="518160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 err="1"/>
              <a:t>Security.yaml</a:t>
            </a:r>
            <a:endParaRPr lang="pt-BR" dirty="0"/>
          </a:p>
          <a:p>
            <a:pPr algn="ctr"/>
            <a:endParaRPr lang="pt-BR" dirty="0"/>
          </a:p>
          <a:p>
            <a:pPr algn="ctr"/>
            <a:r>
              <a:rPr lang="pt-BR" dirty="0" err="1"/>
              <a:t>Mot</a:t>
            </a:r>
            <a:r>
              <a:rPr lang="pt-BR" dirty="0"/>
              <a:t> de </a:t>
            </a:r>
            <a:r>
              <a:rPr lang="pt-BR" dirty="0" err="1"/>
              <a:t>pass</a:t>
            </a:r>
            <a:endParaRPr lang="pt-BR" dirty="0"/>
          </a:p>
          <a:p>
            <a:pPr algn="ctr"/>
            <a:r>
              <a:rPr lang="pt-BR" dirty="0" err="1"/>
              <a:t>Provider</a:t>
            </a:r>
            <a:r>
              <a:rPr lang="pt-BR" dirty="0"/>
              <a:t> </a:t>
            </a:r>
            <a:r>
              <a:rPr lang="pt-BR" dirty="0" err="1"/>
              <a:t>manierer</a:t>
            </a:r>
            <a:r>
              <a:rPr lang="pt-BR" dirty="0"/>
              <a:t> </a:t>
            </a:r>
            <a:r>
              <a:rPr lang="pt-BR" dirty="0" err="1"/>
              <a:t>conecter</a:t>
            </a:r>
            <a:endParaRPr lang="pt-BR" dirty="0"/>
          </a:p>
          <a:p>
            <a:pPr algn="ctr"/>
            <a:r>
              <a:rPr lang="fr-FR" dirty="0"/>
              <a:t>Firewall ??</a:t>
            </a:r>
          </a:p>
          <a:p>
            <a:pPr algn="ctr"/>
            <a:endParaRPr lang="fr-FR" dirty="0"/>
          </a:p>
          <a:p>
            <a:pPr algn="ctr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62735490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4008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fr-FR" sz="2800" b="1" noProof="0" dirty="0">
                <a:solidFill>
                  <a:srgbClr val="2C2522"/>
                </a:solidFill>
                <a:latin typeface="Aptos Display"/>
              </a:rPr>
              <a:t>Démonstration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641565"/>
            <a:ext cx="2514600" cy="1068832"/>
          </a:xfrm>
          <a:prstGeom prst="roundRect">
            <a:avLst/>
          </a:prstGeom>
          <a:solidFill>
            <a:srgbClr val="FFFFFF"/>
          </a:solidFill>
          <a:ln>
            <a:solidFill>
              <a:srgbClr val="EFE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chemeClr val="accent6">
                    <a:lumMod val="50000"/>
                  </a:schemeClr>
                </a:solidFill>
              </a:rPr>
              <a:t>1. Accueil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1641565"/>
            <a:ext cx="2514600" cy="1068832"/>
          </a:xfrm>
          <a:prstGeom prst="roundRect">
            <a:avLst/>
          </a:prstGeom>
          <a:solidFill>
            <a:srgbClr val="FFFFFF"/>
          </a:solidFill>
          <a:ln>
            <a:solidFill>
              <a:srgbClr val="EFE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chemeClr val="accent6">
                    <a:lumMod val="50000"/>
                  </a:schemeClr>
                </a:solidFill>
              </a:rPr>
              <a:t>2. Produits / catégories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641565"/>
            <a:ext cx="2514600" cy="1068832"/>
          </a:xfrm>
          <a:prstGeom prst="roundRect">
            <a:avLst/>
          </a:prstGeom>
          <a:solidFill>
            <a:srgbClr val="FFFFFF"/>
          </a:solidFill>
          <a:ln>
            <a:solidFill>
              <a:srgbClr val="EFE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chemeClr val="accent6">
                    <a:lumMod val="50000"/>
                  </a:schemeClr>
                </a:solidFill>
              </a:rPr>
              <a:t>3. Détail produit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052559" y="1641565"/>
            <a:ext cx="2514600" cy="1068832"/>
          </a:xfrm>
          <a:prstGeom prst="roundRect">
            <a:avLst/>
          </a:prstGeom>
          <a:solidFill>
            <a:srgbClr val="FFFFFF"/>
          </a:solidFill>
          <a:ln>
            <a:solidFill>
              <a:srgbClr val="EFE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chemeClr val="accent6">
                    <a:lumMod val="50000"/>
                  </a:schemeClr>
                </a:solidFill>
              </a:rPr>
              <a:t>4. Demande de devis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717109"/>
            <a:ext cx="2514600" cy="1068832"/>
          </a:xfrm>
          <a:prstGeom prst="roundRect">
            <a:avLst/>
          </a:prstGeom>
          <a:solidFill>
            <a:srgbClr val="FFFFFF"/>
          </a:solidFill>
          <a:ln>
            <a:solidFill>
              <a:srgbClr val="EFE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chemeClr val="accent6">
                    <a:lumMod val="50000"/>
                  </a:schemeClr>
                </a:solidFill>
              </a:rPr>
              <a:t>5. Avis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74720" y="3717109"/>
            <a:ext cx="2514600" cy="1068832"/>
          </a:xfrm>
          <a:prstGeom prst="roundRect">
            <a:avLst/>
          </a:prstGeom>
          <a:solidFill>
            <a:srgbClr val="FFFFFF"/>
          </a:solidFill>
          <a:ln>
            <a:solidFill>
              <a:srgbClr val="EFE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chemeClr val="accent6">
                    <a:lumMod val="50000"/>
                  </a:schemeClr>
                </a:solidFill>
              </a:rPr>
              <a:t>6. Connexion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3717109"/>
            <a:ext cx="2514600" cy="1068832"/>
          </a:xfrm>
          <a:prstGeom prst="roundRect">
            <a:avLst/>
          </a:prstGeom>
          <a:solidFill>
            <a:srgbClr val="FFFFFF"/>
          </a:solidFill>
          <a:ln>
            <a:solidFill>
              <a:srgbClr val="EFE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chemeClr val="accent6">
                    <a:lumMod val="50000"/>
                  </a:schemeClr>
                </a:solidFill>
              </a:rPr>
              <a:t>7. Administration</a:t>
            </a:r>
          </a:p>
        </p:txBody>
      </p:sp>
      <p:sp>
        <p:nvSpPr>
          <p:cNvPr id="22" name="Rounded Rectangle 16">
            <a:extLst>
              <a:ext uri="{FF2B5EF4-FFF2-40B4-BE49-F238E27FC236}">
                <a16:creationId xmlns:a16="http://schemas.microsoft.com/office/drawing/2014/main" id="{71DC1511-7701-FA73-F28E-10BB6028FB6E}"/>
              </a:ext>
            </a:extLst>
          </p:cNvPr>
          <p:cNvSpPr/>
          <p:nvPr/>
        </p:nvSpPr>
        <p:spPr>
          <a:xfrm>
            <a:off x="9052559" y="3717109"/>
            <a:ext cx="2514600" cy="1068832"/>
          </a:xfrm>
          <a:prstGeom prst="roundRect">
            <a:avLst/>
          </a:prstGeom>
          <a:solidFill>
            <a:srgbClr val="FFFFFF"/>
          </a:solidFill>
          <a:ln>
            <a:solidFill>
              <a:srgbClr val="EFE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chemeClr val="accent6">
                    <a:lumMod val="50000"/>
                  </a:schemeClr>
                </a:solidFill>
              </a:rPr>
              <a:t>8. Responsive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BFD72F4-8BB5-6E6D-C4B4-4E968818F8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20</a:t>
            </a:fld>
            <a:endParaRPr lang="en-US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40080" y="411480"/>
            <a:ext cx="3692678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fr-FR" sz="2800" b="1" noProof="0" dirty="0">
                <a:solidFill>
                  <a:srgbClr val="2C2522"/>
                </a:solidFill>
                <a:latin typeface="Aptos Display"/>
              </a:rPr>
              <a:t>Difficultés rencontrées</a:t>
            </a:r>
          </a:p>
        </p:txBody>
      </p:sp>
      <p:sp>
        <p:nvSpPr>
          <p:cNvPr id="8" name="Rounded Rectangle 3">
            <a:extLst>
              <a:ext uri="{FF2B5EF4-FFF2-40B4-BE49-F238E27FC236}">
                <a16:creationId xmlns:a16="http://schemas.microsoft.com/office/drawing/2014/main" id="{213D243F-129E-C8D4-B29B-6BF00D7E6861}"/>
              </a:ext>
            </a:extLst>
          </p:cNvPr>
          <p:cNvSpPr/>
          <p:nvPr/>
        </p:nvSpPr>
        <p:spPr>
          <a:xfrm>
            <a:off x="1349829" y="1578854"/>
            <a:ext cx="701040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EFE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spcAft>
                <a:spcPts val="1300"/>
              </a:spcAft>
              <a:defRPr sz="2000">
                <a:solidFill>
                  <a:srgbClr val="2C2522"/>
                </a:solidFill>
              </a:defRPr>
            </a:pPr>
            <a:endParaRPr lang="fr-FR" dirty="0"/>
          </a:p>
          <a:p>
            <a:pPr marL="342900" indent="-342900">
              <a:spcAft>
                <a:spcPts val="1300"/>
              </a:spcAft>
              <a:buFont typeface="Arial" panose="020B0604020202020204" pitchFamily="34" charset="0"/>
              <a:buChar char="•"/>
              <a:defRPr sz="2000">
                <a:solidFill>
                  <a:srgbClr val="2C2522"/>
                </a:solidFill>
              </a:defRPr>
            </a:pPr>
            <a:r>
              <a:rPr lang="fr-FR" sz="2000" dirty="0"/>
              <a:t>Répondre aux besoins spécifiques d'une autre personne.</a:t>
            </a:r>
            <a:endParaRPr lang="fr-FR" dirty="0"/>
          </a:p>
          <a:p>
            <a:pPr marL="342900" indent="-342900">
              <a:spcAft>
                <a:spcPts val="1300"/>
              </a:spcAft>
              <a:buFont typeface="Arial" panose="020B0604020202020204" pitchFamily="34" charset="0"/>
              <a:buChar char="•"/>
              <a:defRPr sz="2000">
                <a:solidFill>
                  <a:srgbClr val="2C2522"/>
                </a:solidFill>
              </a:defRPr>
            </a:pPr>
            <a:r>
              <a:rPr lang="fr-FR" dirty="0"/>
              <a:t>Compréhension de l'architecture Symfony avec Docker</a:t>
            </a:r>
          </a:p>
          <a:p>
            <a:pPr marL="342900" indent="-342900">
              <a:spcAft>
                <a:spcPts val="1300"/>
              </a:spcAft>
              <a:buFont typeface="Arial" panose="020B0604020202020204" pitchFamily="34" charset="0"/>
              <a:buChar char="•"/>
              <a:defRPr sz="2000">
                <a:solidFill>
                  <a:srgbClr val="2C2522"/>
                </a:solidFill>
              </a:defRPr>
            </a:pPr>
            <a:r>
              <a:rPr lang="fr-FR" dirty="0"/>
              <a:t>Relations entre les entités Doctrine</a:t>
            </a:r>
          </a:p>
          <a:p>
            <a:pPr marL="342900" indent="-342900">
              <a:spcAft>
                <a:spcPts val="1300"/>
              </a:spcAft>
              <a:buFont typeface="Arial" panose="020B0604020202020204" pitchFamily="34" charset="0"/>
              <a:buChar char="•"/>
              <a:defRPr sz="2000">
                <a:solidFill>
                  <a:srgbClr val="2C2522"/>
                </a:solidFill>
              </a:defRPr>
            </a:pPr>
            <a:r>
              <a:rPr lang="fr-FR" dirty="0"/>
              <a:t>Communication Controller ↔ Repository ↔ Twig</a:t>
            </a:r>
          </a:p>
          <a:p>
            <a:pPr marL="342900" indent="-342900">
              <a:spcAft>
                <a:spcPts val="1300"/>
              </a:spcAft>
              <a:buFont typeface="Arial" panose="020B0604020202020204" pitchFamily="34" charset="0"/>
              <a:buChar char="•"/>
              <a:defRPr sz="2000">
                <a:solidFill>
                  <a:srgbClr val="2C2522"/>
                </a:solidFill>
              </a:defRPr>
            </a:pPr>
            <a:r>
              <a:rPr lang="fr-FR" dirty="0"/>
              <a:t>Responsive et intégration de la maquette</a:t>
            </a:r>
          </a:p>
          <a:p>
            <a:pPr>
              <a:spcAft>
                <a:spcPts val="1300"/>
              </a:spcAft>
              <a:defRPr sz="2000">
                <a:solidFill>
                  <a:srgbClr val="2C2522"/>
                </a:solidFill>
              </a:defRPr>
            </a:pPr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671A0EF-9FA1-BA87-6EA9-26946CDA65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21</a:t>
            </a:fld>
            <a:endParaRPr lang="en-US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4008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fr-FR" sz="2800" b="1" noProof="0" dirty="0">
                <a:solidFill>
                  <a:srgbClr val="2C2522"/>
                </a:solidFill>
                <a:latin typeface="Aptos Display"/>
              </a:rPr>
              <a:t>Évolutions prévues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186578"/>
            <a:ext cx="3520440" cy="2617651"/>
          </a:xfrm>
          <a:prstGeom prst="roundRect">
            <a:avLst/>
          </a:prstGeom>
          <a:solidFill>
            <a:srgbClr val="FFFFFF"/>
          </a:solidFill>
          <a:ln>
            <a:solidFill>
              <a:srgbClr val="EFE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b="1" i="0" u="none" strike="noStrike" kern="1200" cap="none" spc="0" normalizeH="0" baseline="0" noProof="0" dirty="0">
                <a:ln>
                  <a:noFill/>
                </a:ln>
                <a:solidFill>
                  <a:srgbClr val="F79646">
                    <a:lumMod val="50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COURT TERME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1200">
                <a:solidFill>
                  <a:srgbClr val="2C2522"/>
                </a:solidFill>
              </a:defRPr>
            </a:pPr>
            <a:r>
              <a:rPr kumimoji="0" lang="fr-FR" sz="1600" b="0" i="0" u="none" strike="noStrike" kern="1200" cap="none" spc="0" normalizeH="0" baseline="0" noProof="0" dirty="0">
                <a:ln>
                  <a:noFill/>
                </a:ln>
                <a:solidFill>
                  <a:srgbClr val="2C252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Finaliser le back-office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1200">
                <a:solidFill>
                  <a:srgbClr val="2C2522"/>
                </a:solidFill>
              </a:defRPr>
            </a:pPr>
            <a:r>
              <a:rPr kumimoji="0" lang="fr-FR" sz="1600" b="0" i="0" u="none" strike="noStrike" kern="1200" cap="none" spc="0" normalizeH="0" baseline="0" noProof="0" dirty="0">
                <a:ln>
                  <a:noFill/>
                </a:ln>
                <a:solidFill>
                  <a:srgbClr val="2C252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Améliorer les validations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1200">
                <a:solidFill>
                  <a:srgbClr val="2C2522"/>
                </a:solidFill>
              </a:defRPr>
            </a:pPr>
            <a:r>
              <a:rPr kumimoji="0" lang="fr-FR" sz="1600" b="0" i="0" u="none" strike="noStrike" kern="1200" cap="none" spc="0" normalizeH="0" baseline="0" noProof="0" dirty="0">
                <a:ln>
                  <a:noFill/>
                </a:ln>
                <a:solidFill>
                  <a:srgbClr val="2C252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Ajouter de tests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1200">
                <a:solidFill>
                  <a:srgbClr val="2C2522"/>
                </a:solidFill>
              </a:defRPr>
            </a:pPr>
            <a:r>
              <a:rPr kumimoji="0" lang="fr-FR" sz="1600" b="0" i="0" u="none" strike="noStrike" kern="1200" cap="none" spc="0" normalizeH="0" baseline="0" noProof="0" dirty="0">
                <a:ln>
                  <a:noFill/>
                </a:ln>
                <a:solidFill>
                  <a:srgbClr val="2C252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Finaliser le responsive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2186578"/>
            <a:ext cx="3520440" cy="2617651"/>
          </a:xfrm>
          <a:prstGeom prst="roundRect">
            <a:avLst/>
          </a:prstGeom>
          <a:solidFill>
            <a:srgbClr val="FFFFFF"/>
          </a:solidFill>
          <a:ln>
            <a:solidFill>
              <a:srgbClr val="EFE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b="1" i="0" u="none" strike="noStrike" kern="1200" cap="none" spc="0" normalizeH="0" baseline="0" noProof="0" dirty="0">
                <a:ln>
                  <a:noFill/>
                </a:ln>
                <a:solidFill>
                  <a:srgbClr val="F79646">
                    <a:lumMod val="50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MOYEN TERME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1200">
                <a:solidFill>
                  <a:srgbClr val="2C2522"/>
                </a:solidFill>
              </a:defRPr>
            </a:pPr>
            <a:r>
              <a:rPr kumimoji="0" lang="fr-FR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2C252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Upload</a:t>
            </a:r>
            <a:r>
              <a:rPr kumimoji="0" lang="fr-FR" sz="1600" b="0" i="0" u="none" strike="noStrike" kern="1200" cap="none" spc="0" normalizeH="0" baseline="0" noProof="0" dirty="0">
                <a:ln>
                  <a:noFill/>
                </a:ln>
                <a:solidFill>
                  <a:srgbClr val="2C252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d'images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1200">
                <a:solidFill>
                  <a:srgbClr val="2C2522"/>
                </a:solidFill>
              </a:defRPr>
            </a:pPr>
            <a:r>
              <a:rPr kumimoji="0" lang="fr-FR" sz="1600" b="0" i="0" u="none" strike="noStrike" kern="1200" cap="none" spc="0" normalizeH="0" baseline="0" noProof="0" dirty="0">
                <a:ln>
                  <a:noFill/>
                </a:ln>
                <a:solidFill>
                  <a:srgbClr val="2C252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Recherche et filtres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1200">
                <a:solidFill>
                  <a:srgbClr val="2C2522"/>
                </a:solidFill>
              </a:defRPr>
            </a:pPr>
            <a:r>
              <a:rPr kumimoji="0" lang="fr-FR" sz="1600" b="0" i="0" u="none" strike="noStrike" kern="1200" cap="none" spc="0" normalizeH="0" baseline="0" noProof="0" dirty="0">
                <a:ln>
                  <a:noFill/>
                </a:ln>
                <a:solidFill>
                  <a:srgbClr val="2C252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Pagination</a:t>
            </a:r>
            <a:endParaRPr lang="fr-FR" sz="1600" dirty="0">
              <a:solidFill>
                <a:srgbClr val="2C2522"/>
              </a:solidFill>
              <a:latin typeface="Calibri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1200">
                <a:solidFill>
                  <a:srgbClr val="2C2522"/>
                </a:solidFill>
              </a:defRPr>
            </a:pPr>
            <a:r>
              <a:rPr kumimoji="0" lang="fr-FR" sz="1600" b="0" i="0" u="none" strike="noStrike" kern="1200" cap="none" spc="0" normalizeH="0" baseline="0" noProof="0" dirty="0">
                <a:ln>
                  <a:noFill/>
                </a:ln>
                <a:solidFill>
                  <a:srgbClr val="2C252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Notifications email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2186578"/>
            <a:ext cx="3520440" cy="2617651"/>
          </a:xfrm>
          <a:prstGeom prst="roundRect">
            <a:avLst/>
          </a:prstGeom>
          <a:solidFill>
            <a:srgbClr val="FFFFFF"/>
          </a:solidFill>
          <a:ln>
            <a:solidFill>
              <a:srgbClr val="EFE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b="1" i="0" u="none" strike="noStrike" kern="1200" cap="none" spc="0" normalizeH="0" baseline="0" noProof="0" dirty="0">
                <a:ln>
                  <a:noFill/>
                </a:ln>
                <a:solidFill>
                  <a:srgbClr val="F79646">
                    <a:lumMod val="50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LONG TERME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1200">
                <a:solidFill>
                  <a:srgbClr val="2C2522"/>
                </a:solidFill>
              </a:defRPr>
            </a:pPr>
            <a:r>
              <a:rPr kumimoji="0" lang="fr-FR" sz="1600" b="0" i="0" u="none" strike="noStrike" kern="1200" cap="none" spc="0" normalizeH="0" baseline="0" noProof="0" dirty="0">
                <a:ln>
                  <a:noFill/>
                </a:ln>
                <a:solidFill>
                  <a:srgbClr val="2C252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Demande de devis avancée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1200">
                <a:solidFill>
                  <a:srgbClr val="2C2522"/>
                </a:solidFill>
              </a:defRPr>
            </a:pPr>
            <a:r>
              <a:rPr kumimoji="0" lang="fr-FR" sz="1600" b="0" i="0" u="none" strike="noStrike" kern="1200" cap="none" spc="0" normalizeH="0" baseline="0" noProof="0" dirty="0">
                <a:ln>
                  <a:noFill/>
                </a:ln>
                <a:solidFill>
                  <a:srgbClr val="2C252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Personnalisation des produits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1200">
                <a:solidFill>
                  <a:srgbClr val="2C2522"/>
                </a:solidFill>
              </a:defRPr>
            </a:pPr>
            <a:r>
              <a:rPr lang="fr-FR" sz="1600" dirty="0">
                <a:solidFill>
                  <a:srgbClr val="2C2522"/>
                </a:solidFill>
                <a:latin typeface="Calibri"/>
              </a:rPr>
              <a:t>Traduction du site</a:t>
            </a:r>
            <a:endParaRPr kumimoji="0" lang="fr-FR" sz="1600" b="0" i="0" u="none" strike="noStrike" kern="1200" cap="none" spc="0" normalizeH="0" baseline="0" noProof="0" dirty="0">
              <a:ln>
                <a:noFill/>
              </a:ln>
              <a:solidFill>
                <a:srgbClr val="2C2522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1200">
                <a:solidFill>
                  <a:srgbClr val="2C2522"/>
                </a:solidFill>
              </a:defRPr>
            </a:pPr>
            <a:r>
              <a:rPr kumimoji="0" lang="fr-FR" sz="1600" b="0" i="0" u="none" strike="noStrike" kern="1200" cap="none" spc="0" normalizeH="0" baseline="0" noProof="0" dirty="0">
                <a:ln>
                  <a:noFill/>
                </a:ln>
                <a:solidFill>
                  <a:srgbClr val="2C252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Mise en production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A687AFE9-CEBB-9E56-167B-83D86C5602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22</a:t>
            </a:fld>
            <a:endParaRPr lang="en-US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822960" y="91440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fr-FR" sz="3600" b="1" noProof="0" dirty="0">
                <a:solidFill>
                  <a:srgbClr val="2C2522"/>
                </a:solidFill>
              </a:rPr>
              <a:t>Conclusion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651760"/>
            <a:ext cx="192024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B897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noProof="0" dirty="0">
                <a:solidFill>
                  <a:srgbClr val="2C2522"/>
                </a:solidFill>
              </a:rPr>
              <a:t>Conception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154680" y="2651760"/>
            <a:ext cx="192024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B897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noProof="0" dirty="0">
                <a:solidFill>
                  <a:srgbClr val="2C2522"/>
                </a:solidFill>
              </a:rPr>
              <a:t>Base de données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94960" y="2651760"/>
            <a:ext cx="192024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B897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noProof="0" dirty="0">
                <a:solidFill>
                  <a:srgbClr val="2C2522"/>
                </a:solidFill>
              </a:rPr>
              <a:t>Symfony / </a:t>
            </a:r>
            <a:r>
              <a:rPr lang="fr-FR" sz="1400" b="1" noProof="0" dirty="0" err="1">
                <a:solidFill>
                  <a:srgbClr val="2C2522"/>
                </a:solidFill>
              </a:rPr>
              <a:t>Back-end</a:t>
            </a:r>
            <a:endParaRPr lang="fr-FR" sz="1400" b="1" noProof="0" dirty="0">
              <a:solidFill>
                <a:srgbClr val="2C2522"/>
              </a:solidFill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7635240" y="2651760"/>
            <a:ext cx="192024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B897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noProof="0" dirty="0">
                <a:solidFill>
                  <a:srgbClr val="2C2522"/>
                </a:solidFill>
              </a:rPr>
              <a:t>Twig / </a:t>
            </a:r>
            <a:r>
              <a:rPr lang="fr-FR" sz="1400" b="1" noProof="0" dirty="0" err="1">
                <a:solidFill>
                  <a:srgbClr val="2C2522"/>
                </a:solidFill>
              </a:rPr>
              <a:t>Front-end</a:t>
            </a:r>
            <a:endParaRPr lang="fr-FR" sz="1400" b="1" noProof="0" dirty="0">
              <a:solidFill>
                <a:srgbClr val="2C2522"/>
              </a:solidFill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9875520" y="2651760"/>
            <a:ext cx="1920240" cy="914400"/>
          </a:xfrm>
          <a:prstGeom prst="roundRect">
            <a:avLst/>
          </a:prstGeom>
          <a:solidFill>
            <a:srgbClr val="EFEAE0"/>
          </a:solidFill>
          <a:ln>
            <a:solidFill>
              <a:srgbClr val="B897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noProof="0" dirty="0">
                <a:solidFill>
                  <a:srgbClr val="2C2522"/>
                </a:solidFill>
              </a:rPr>
              <a:t>Application fonctionnelle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2133" y="4572000"/>
            <a:ext cx="4957255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fr-FR" sz="3200" b="1" noProof="0" dirty="0">
                <a:solidFill>
                  <a:schemeClr val="accent6">
                    <a:lumMod val="50000"/>
                  </a:schemeClr>
                </a:solidFill>
              </a:rPr>
              <a:t>Merci pour votre attention !</a:t>
            </a:r>
            <a:endParaRPr lang="fr-FR" sz="2400" b="1" noProof="0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12" name="Espace réservé du numéro de diapositive 11">
            <a:extLst>
              <a:ext uri="{FF2B5EF4-FFF2-40B4-BE49-F238E27FC236}">
                <a16:creationId xmlns:a16="http://schemas.microsoft.com/office/drawing/2014/main" id="{30F055C5-3205-65CE-8FCF-24FF77C24A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23</a:t>
            </a:fld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9275</TotalTime>
  <Words>2514</Words>
  <Application>Microsoft Office PowerPoint</Application>
  <PresentationFormat>Grand écran</PresentationFormat>
  <Paragraphs>298</Paragraphs>
  <Slides>23</Slides>
  <Notes>23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23</vt:i4>
      </vt:variant>
    </vt:vector>
  </HeadingPairs>
  <TitlesOfParts>
    <vt:vector size="28" baseType="lpstr">
      <vt:lpstr>Aptos</vt:lpstr>
      <vt:lpstr>Aptos Display</vt:lpstr>
      <vt:lpstr>Arial</vt:lpstr>
      <vt:lpstr>Calibri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Aureo Ruffier</dc:creator>
  <cp:keywords/>
  <dc:description>generated using python-pptx</dc:description>
  <cp:lastModifiedBy>Aureo Ruffier</cp:lastModifiedBy>
  <cp:revision>22</cp:revision>
  <dcterms:created xsi:type="dcterms:W3CDTF">2013-01-27T09:14:16Z</dcterms:created>
  <dcterms:modified xsi:type="dcterms:W3CDTF">2026-10-24T14:30:07Z</dcterms:modified>
  <cp:category/>
</cp:coreProperties>
</file>