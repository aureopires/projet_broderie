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75" r:id="rId4"/>
    <p:sldId id="258" r:id="rId5"/>
    <p:sldId id="260" r:id="rId6"/>
    <p:sldId id="271" r:id="rId7"/>
    <p:sldId id="261" r:id="rId8"/>
    <p:sldId id="273" r:id="rId9"/>
    <p:sldId id="262" r:id="rId10"/>
    <p:sldId id="277" r:id="rId11"/>
    <p:sldId id="278" r:id="rId12"/>
    <p:sldId id="263" r:id="rId13"/>
    <p:sldId id="264" r:id="rId14"/>
    <p:sldId id="279" r:id="rId15"/>
    <p:sldId id="280" r:id="rId16"/>
    <p:sldId id="272" r:id="rId17"/>
    <p:sldId id="265" r:id="rId18"/>
    <p:sldId id="276" r:id="rId19"/>
    <p:sldId id="281" r:id="rId20"/>
    <p:sldId id="266" r:id="rId21"/>
    <p:sldId id="267" r:id="rId22"/>
    <p:sldId id="269" r:id="rId23"/>
    <p:sldId id="270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2412" autoAdjust="0"/>
  </p:normalViewPr>
  <p:slideViewPr>
    <p:cSldViewPr snapToGrid="0" snapToObjects="1">
      <p:cViewPr varScale="1">
        <p:scale>
          <a:sx n="63" d="100"/>
          <a:sy n="63" d="100"/>
        </p:scale>
        <p:origin x="99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6566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 dirty="0"/>
              <a:t>Bonjour à tous.</a:t>
            </a:r>
          </a:p>
          <a:p>
            <a:r>
              <a:rPr lang="fr-FR" dirty="0"/>
              <a:t>Je vais vous présenter mon projet de site web pour une activité de broderie et de personnalisation textile.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30 s</a:t>
            </a:r>
            <a:r>
              <a:rPr dirty="0"/>
              <a:t>: </a:t>
            </a:r>
            <a:r>
              <a:rPr dirty="0" err="1"/>
              <a:t>Expliquer</a:t>
            </a:r>
            <a:r>
              <a:rPr dirty="0"/>
              <a:t> le </a:t>
            </a:r>
            <a:r>
              <a:rPr dirty="0" err="1"/>
              <a:t>besoin</a:t>
            </a:r>
            <a:r>
              <a:rPr dirty="0"/>
              <a:t> et les </a:t>
            </a:r>
            <a:r>
              <a:rPr dirty="0" err="1"/>
              <a:t>objectifs</a:t>
            </a:r>
            <a:r>
              <a:rPr dirty="0"/>
              <a:t>.</a:t>
            </a:r>
            <a:endParaRPr lang="pt-BR" dirty="0"/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Projet de site web pour une activité de broderie et de personnalisation textile.</a:t>
            </a:r>
          </a:p>
          <a:p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Je vais d'abord présenter le contexte et mes choix techniques, puis la conception de la base de données, le </a:t>
            </a:r>
            <a:r>
              <a:rPr lang="fr-FR" dirty="0" err="1"/>
              <a:t>front-end</a:t>
            </a:r>
            <a:r>
              <a:rPr lang="fr-FR" dirty="0"/>
              <a:t> et le </a:t>
            </a:r>
            <a:r>
              <a:rPr lang="fr-FR" dirty="0" err="1"/>
              <a:t>back-end</a:t>
            </a:r>
            <a:r>
              <a:rPr lang="fr-FR" dirty="0"/>
              <a:t>, avant de terminer par une démonstration et les évolutions prévues.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71064-1956-3932-053E-F99EBA7E8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7852EB-2D52-3927-A2DF-A43C672622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C3D76E-E428-F4CD-3EEE-AA583CCAC6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dirty="0" err="1"/>
              <a:t>Expliquer</a:t>
            </a:r>
            <a:r>
              <a:rPr dirty="0"/>
              <a:t> le </a:t>
            </a:r>
            <a:r>
              <a:rPr dirty="0" err="1"/>
              <a:t>besoin</a:t>
            </a:r>
            <a:r>
              <a:rPr dirty="0"/>
              <a:t> et les </a:t>
            </a:r>
            <a:r>
              <a:rPr dirty="0" err="1"/>
              <a:t>objectifs</a:t>
            </a:r>
            <a:r>
              <a:rPr dirty="0"/>
              <a:t>.</a:t>
            </a:r>
            <a:endParaRPr lang="pt-BR" dirty="0"/>
          </a:p>
          <a:p>
            <a:r>
              <a:rPr lang="fr-FR" dirty="0"/>
              <a:t>Le projet part d'un besoin assez simple : avoir une présence web professionnelle pour une activité de broderie et de personnalisation textile.</a:t>
            </a:r>
          </a:p>
          <a:p>
            <a:r>
              <a:rPr lang="fr-FR" dirty="0"/>
              <a:t>Le site doit d'abord avoir un rôle de présentation, avec une page d'accueil, les services proposés, les produits et différentes informations sur l'activité.</a:t>
            </a:r>
          </a:p>
          <a:p>
            <a:r>
              <a:rPr lang="fr-FR" dirty="0"/>
              <a:t>Mais je voulais également avoir une partie dynamique. Les produits et les catégories sont donc stockés en base de données et peuvent être gérés depuis une interface d'administration.</a:t>
            </a:r>
          </a:p>
          <a:p>
            <a:r>
              <a:rPr lang="fr-FR" dirty="0"/>
              <a:t>J'ai également prévu la gestion des demandes de devis et des avis utilisateurs.</a:t>
            </a:r>
          </a:p>
          <a:p>
            <a:r>
              <a:rPr lang="fr-FR" dirty="0"/>
              <a:t>L'objectif n'était donc pas uniquement de créer un site vitrine statique, mais une véritable application web avec un front-office et un back-office.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08707-2D50-6E24-29A8-CC65DA7A3D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02242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Justifier les technologies.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Pour le développement PHP et Symfony.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Symfony, </a:t>
            </a:r>
            <a:r>
              <a:rPr lang="fr-FR" dirty="0" err="1"/>
              <a:t>framework</a:t>
            </a:r>
            <a:r>
              <a:rPr lang="fr-FR" dirty="0"/>
              <a:t> qui permet de structurer clairement une application web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dirty="0"/>
              <a:t>avec </a:t>
            </a:r>
            <a:r>
              <a:rPr lang="fr-FR" dirty="0" err="1"/>
              <a:t>controllers</a:t>
            </a:r>
            <a:r>
              <a:rPr lang="fr-FR" dirty="0"/>
              <a:t>, les repositories, Doctrine, Twig, les formulaires et la sécurité.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version utilisée est Symfony 7.4.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BDD, j'utilise </a:t>
            </a:r>
            <a:r>
              <a:rPr lang="fr-FR" dirty="0" err="1"/>
              <a:t>MariaDB</a:t>
            </a:r>
            <a:r>
              <a:rPr lang="fr-FR" dirty="0"/>
              <a:t>, avec Doctrine ORM.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dirty="0"/>
              <a:t>Doctrine, manipuler les données avec des objets PHP et des repositories, plutôt que d'écrire directement toutes les requêtes SQL.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Rendu, j'utilise Twig.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dirty="0"/>
              <a:t>Créer des </a:t>
            </a:r>
            <a:r>
              <a:rPr lang="fr-FR" dirty="0" err="1"/>
              <a:t>templates</a:t>
            </a:r>
            <a:r>
              <a:rPr lang="fr-FR" dirty="0"/>
              <a:t> réutilisables et de générer dynamiquement le HTML à partir des données récupérées depuis la base.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Pour le </a:t>
            </a:r>
            <a:r>
              <a:rPr lang="fr-FR" dirty="0" err="1"/>
              <a:t>front-end</a:t>
            </a:r>
            <a:r>
              <a:rPr lang="fr-FR" dirty="0"/>
              <a:t>, j'utilise Bootstrap 5.3.8 pour la structure, le responsive et certains composants, et Font Awesome pour les icônes.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Webpack</a:t>
            </a:r>
            <a:r>
              <a:rPr lang="fr-FR" dirty="0"/>
              <a:t> Encore est utilisé pour gérer les fichiers JavaScript et CSS et générer les assets utilisés par l'application.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Enfin, j'utilise Docker pour avoir un environnement de développement composé de plusieurs services : PHP, Caddy, Node.js, </a:t>
            </a:r>
            <a:r>
              <a:rPr lang="fr-FR" dirty="0" err="1"/>
              <a:t>MariaDB</a:t>
            </a:r>
            <a:r>
              <a:rPr lang="fr-FR" dirty="0"/>
              <a:t> et phpMyAdmin.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~2m30 : </a:t>
            </a:r>
            <a:r>
              <a:rPr dirty="0" err="1"/>
              <a:t>Montrer</a:t>
            </a:r>
            <a:r>
              <a:rPr dirty="0"/>
              <a:t> le </a:t>
            </a:r>
            <a:r>
              <a:rPr dirty="0" err="1"/>
              <a:t>vrai</a:t>
            </a:r>
            <a:r>
              <a:rPr dirty="0"/>
              <a:t> UML et </a:t>
            </a:r>
            <a:r>
              <a:rPr dirty="0" err="1"/>
              <a:t>expliquer</a:t>
            </a:r>
            <a:r>
              <a:rPr dirty="0"/>
              <a:t> les relations.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cinq entités principales sont User, Product, </a:t>
            </a:r>
            <a:r>
              <a:rPr lang="fr-FR" dirty="0" err="1"/>
              <a:t>Category</a:t>
            </a:r>
            <a:r>
              <a:rPr lang="fr-FR" dirty="0"/>
              <a:t>, </a:t>
            </a:r>
            <a:r>
              <a:rPr lang="fr-FR" dirty="0" err="1"/>
              <a:t>Review</a:t>
            </a:r>
            <a:r>
              <a:rPr lang="fr-FR" dirty="0"/>
              <a:t> et </a:t>
            </a:r>
            <a:r>
              <a:rPr lang="fr-FR" dirty="0" err="1"/>
              <a:t>QuoteRequest</a:t>
            </a:r>
            <a:r>
              <a:rPr lang="fr-F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Un utilisateur peut par exemple créer plusieurs avis et plusieurs demandes de devis.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Un produit peut appartenir à plusieurs catégories, et une catégorie peut contenir plusieurs produits. Il s'agit donc d'une relation </a:t>
            </a:r>
            <a:r>
              <a:rPr lang="fr-FR" dirty="0" err="1"/>
              <a:t>ManyToMany</a:t>
            </a:r>
            <a:r>
              <a:rPr lang="fr-F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avis sont également liés à un utilisateur et à un produit.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Cette modélisation est ensuite représentée dans Symfony par des entités Doctrine.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Par exemple, l'entité Product contient les propriétés du produit et les relations avec </a:t>
            </a:r>
            <a:r>
              <a:rPr lang="fr-FR" dirty="0" err="1"/>
              <a:t>Category</a:t>
            </a:r>
            <a:r>
              <a:rPr lang="fr-FR" dirty="0"/>
              <a:t> et </a:t>
            </a:r>
            <a:r>
              <a:rPr lang="fr-FR" dirty="0" err="1"/>
              <a:t>Review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F3096-7536-B5B1-3F83-7B151DB9C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C9ABB6-E8EB-34D9-0E51-A1B3568E95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CD610-85EC-817B-B81E-0BC3E7F9D8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~2m30 : </a:t>
            </a:r>
            <a:r>
              <a:rPr dirty="0" err="1"/>
              <a:t>Montrer</a:t>
            </a:r>
            <a:r>
              <a:rPr dirty="0"/>
              <a:t> le </a:t>
            </a:r>
            <a:r>
              <a:rPr dirty="0" err="1"/>
              <a:t>vrai</a:t>
            </a:r>
            <a:r>
              <a:rPr dirty="0"/>
              <a:t> UML et </a:t>
            </a:r>
            <a:r>
              <a:rPr dirty="0" err="1"/>
              <a:t>expliquer</a:t>
            </a:r>
            <a:r>
              <a:rPr dirty="0"/>
              <a:t> les relations.</a:t>
            </a:r>
            <a:endParaRPr lang="pt-BR" dirty="0"/>
          </a:p>
          <a:p>
            <a:r>
              <a:rPr lang="fr-FR" dirty="0"/>
              <a:t>Doctrine utilise ensuite ces informations pour faire le lien entre les objets PHP et les tables de la base de données.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2B959D-F341-A086-E112-86DC7B0F51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490407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Comparer la maquette et le site.</a:t>
            </a:r>
            <a:endParaRPr lang="pt-BR" dirty="0"/>
          </a:p>
          <a:p>
            <a:r>
              <a:rPr lang="fr-FR" dirty="0"/>
              <a:t>La maquette m'a servi de référence pour construire l'interface.</a:t>
            </a:r>
          </a:p>
          <a:p>
            <a:r>
              <a:rPr lang="fr-FR" dirty="0"/>
              <a:t>J'ai d'abord repris la structure générale : la navigation, le </a:t>
            </a:r>
            <a:r>
              <a:rPr lang="fr-FR" dirty="0" err="1"/>
              <a:t>hero</a:t>
            </a:r>
            <a:r>
              <a:rPr lang="fr-FR" dirty="0"/>
              <a:t>, les services, les produits et les différentes sections.</a:t>
            </a:r>
          </a:p>
          <a:p>
            <a:r>
              <a:rPr lang="fr-FR" dirty="0"/>
              <a:t>Ensuite, j'ai intégré cette structure avec Twig et HTML.</a:t>
            </a:r>
          </a:p>
          <a:p>
            <a:r>
              <a:rPr lang="fr-FR" dirty="0"/>
              <a:t>Pour la mise en page responsive, j'ai utilisé principalement Bootstrap.</a:t>
            </a:r>
          </a:p>
          <a:p>
            <a:r>
              <a:rPr lang="fr-FR" dirty="0"/>
              <a:t>J'ai ensuite ajouté mon propre CSS pour adapter l'identité visuelle du site, notamment les couleurs, les cartes, le </a:t>
            </a:r>
            <a:r>
              <a:rPr lang="fr-FR" dirty="0" err="1"/>
              <a:t>hero</a:t>
            </a:r>
            <a:r>
              <a:rPr lang="fr-FR" dirty="0"/>
              <a:t> et les boutons.</a:t>
            </a:r>
          </a:p>
          <a:p>
            <a:r>
              <a:rPr lang="fr-FR" dirty="0"/>
              <a:t>Il y a cependant eu quelques adaptations entre la maquette et la réalisation finale, notamment pour obtenir un comportement correct sur les différentes tailles d'écran.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0E4A0-1160-12CB-E4F2-953041060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3BA787-D6BD-7159-9C9C-BB6325B16A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702FE-F111-C858-A01B-0E5DD6A046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lang="pt-BR" dirty="0" err="1"/>
              <a:t>Fixtures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085137-0C77-2D0C-C154-F7E27428D8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470207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Twig, Bootstrap, CSS et JS.</a:t>
            </a:r>
            <a:endParaRPr lang="pt-BR" dirty="0"/>
          </a:p>
          <a:p>
            <a:r>
              <a:rPr lang="fr-FR" dirty="0"/>
              <a:t>Pour le </a:t>
            </a:r>
            <a:r>
              <a:rPr lang="fr-FR" dirty="0" err="1"/>
              <a:t>front-end</a:t>
            </a:r>
            <a:r>
              <a:rPr lang="fr-FR" dirty="0"/>
              <a:t>, j'utilise principalement Twig, HTML, Bootstrap, CSS et JavaScript.</a:t>
            </a:r>
          </a:p>
          <a:p>
            <a:r>
              <a:rPr lang="fr-FR" dirty="0"/>
              <a:t>Twig est utilisé pour générer les pages dynamiquement.</a:t>
            </a:r>
          </a:p>
          <a:p>
            <a:r>
              <a:rPr lang="fr-FR" dirty="0"/>
              <a:t>Par exemple, lorsqu'un </a:t>
            </a:r>
            <a:r>
              <a:rPr lang="fr-FR" dirty="0" err="1"/>
              <a:t>controller</a:t>
            </a:r>
            <a:r>
              <a:rPr lang="fr-FR" dirty="0"/>
              <a:t> récupère une liste de produits, Twig peut parcourir cette liste et générer automatiquement les cartes produits.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14650-3623-84CC-CAD4-60560A776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443CD2-0F4C-D245-27BF-960F96E6D3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3E3190-DACF-AF3D-F44E-B9E3A8EC8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Twig, Bootstrap, CSS et JS.</a:t>
            </a:r>
            <a:endParaRPr lang="pt-BR" dirty="0"/>
          </a:p>
          <a:p>
            <a:r>
              <a:rPr lang="fr-FR" dirty="0"/>
              <a:t>Pour le CSS, j'utilise Bootstrap pour le système de grille, le responsive, les boutons, les formulaires et certains composants.</a:t>
            </a:r>
          </a:p>
          <a:p>
            <a:r>
              <a:rPr lang="fr-FR" dirty="0"/>
              <a:t>J'ai ensuite ajouté des classes personnalisées pour respecter le design du projet, par exemple « service-</a:t>
            </a:r>
            <a:r>
              <a:rPr lang="fr-FR" dirty="0" err="1"/>
              <a:t>card</a:t>
            </a:r>
            <a:r>
              <a:rPr lang="fr-FR" dirty="0"/>
              <a:t> », « </a:t>
            </a:r>
            <a:r>
              <a:rPr lang="fr-FR" dirty="0" err="1"/>
              <a:t>hero</a:t>
            </a:r>
            <a:r>
              <a:rPr lang="fr-FR" dirty="0"/>
              <a:t>-section » ou « </a:t>
            </a:r>
            <a:r>
              <a:rPr lang="fr-FR" dirty="0" err="1"/>
              <a:t>btn</a:t>
            </a:r>
            <a:r>
              <a:rPr lang="fr-FR" dirty="0"/>
              <a:t>-gold ».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B2D9A-4DAD-4B55-3C66-DC40F5C056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254309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E1159-95DD-E7EA-9203-51C0FFFA9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2DFDE-0E7A-7D7A-2129-6FCC732C2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F9DA19-03A8-92C7-68E6-27C40F8057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Twig, Bootstrap, CSS et JS.</a:t>
            </a:r>
            <a:endParaRPr lang="pt-BR" dirty="0"/>
          </a:p>
          <a:p>
            <a:r>
              <a:rPr lang="fr-FR" dirty="0"/>
              <a:t>Le JavaScript reste relativement léger dans cette version du projet. Une partie des interactions nécessaires est déjà fournie par Bootstrap.</a:t>
            </a:r>
          </a:p>
          <a:p>
            <a:r>
              <a:rPr lang="fr-FR" dirty="0"/>
              <a:t>Les fichiers CSS et JavaScript sont ensuite compilés et gérés avec </a:t>
            </a:r>
            <a:r>
              <a:rPr lang="fr-FR" dirty="0" err="1"/>
              <a:t>Webpack</a:t>
            </a:r>
            <a:r>
              <a:rPr lang="fr-FR" dirty="0"/>
              <a:t> Encore.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0F60C-60C5-B1C0-D491-2D8C61EDFF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67976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MVC avec les </a:t>
            </a:r>
            <a:r>
              <a:rPr dirty="0" err="1"/>
              <a:t>vrais</a:t>
            </a:r>
            <a:r>
              <a:rPr dirty="0"/>
              <a:t> controllers.</a:t>
            </a:r>
            <a:endParaRPr lang="pt-BR" dirty="0"/>
          </a:p>
          <a:p>
            <a:r>
              <a:rPr lang="fr-FR" dirty="0"/>
              <a:t>Le </a:t>
            </a:r>
            <a:r>
              <a:rPr lang="fr-FR" dirty="0" err="1"/>
              <a:t>back-end</a:t>
            </a:r>
            <a:r>
              <a:rPr lang="fr-FR" dirty="0"/>
              <a:t> est basé sur le principe MVC.</a:t>
            </a:r>
          </a:p>
          <a:p>
            <a:r>
              <a:rPr lang="fr-FR" dirty="0"/>
              <a:t>La partie Model est représentée principalement par les entités Doctrine et les repositories.</a:t>
            </a:r>
          </a:p>
          <a:p>
            <a:r>
              <a:rPr lang="fr-FR" dirty="0"/>
              <a:t>Les </a:t>
            </a:r>
            <a:r>
              <a:rPr lang="fr-FR" dirty="0" err="1"/>
              <a:t>controllers</a:t>
            </a:r>
            <a:r>
              <a:rPr lang="fr-FR" dirty="0"/>
              <a:t> reçoivent les requêtes et coordonnent le traitement.</a:t>
            </a:r>
          </a:p>
          <a:p>
            <a:r>
              <a:rPr lang="fr-FR" dirty="0"/>
              <a:t>Enfin, la </a:t>
            </a:r>
            <a:r>
              <a:rPr lang="fr-FR" dirty="0" err="1"/>
              <a:t>View</a:t>
            </a:r>
            <a:r>
              <a:rPr lang="fr-FR" dirty="0"/>
              <a:t> correspond aux </a:t>
            </a:r>
            <a:r>
              <a:rPr lang="fr-FR" dirty="0" err="1"/>
              <a:t>templates</a:t>
            </a:r>
            <a:r>
              <a:rPr lang="fr-FR" dirty="0"/>
              <a:t> Twig.</a:t>
            </a:r>
          </a:p>
          <a:p>
            <a:r>
              <a:rPr lang="fr-FR" dirty="0"/>
              <a:t>Par exemple, lorsqu'un utilisateur consulte la liste des produits, la requête arrive sur </a:t>
            </a:r>
            <a:r>
              <a:rPr lang="fr-FR" dirty="0" err="1"/>
              <a:t>ProductController</a:t>
            </a:r>
            <a:r>
              <a:rPr lang="fr-FR" dirty="0"/>
              <a:t>.</a:t>
            </a:r>
          </a:p>
          <a:p>
            <a:r>
              <a:rPr lang="fr-FR" dirty="0"/>
              <a:t>Le </a:t>
            </a:r>
            <a:r>
              <a:rPr lang="fr-FR" dirty="0" err="1"/>
              <a:t>controller</a:t>
            </a:r>
            <a:r>
              <a:rPr lang="fr-FR" dirty="0"/>
              <a:t> utilise </a:t>
            </a:r>
            <a:r>
              <a:rPr lang="fr-FR" dirty="0" err="1"/>
              <a:t>ProductRepository</a:t>
            </a:r>
            <a:r>
              <a:rPr lang="fr-FR" dirty="0"/>
              <a:t> pour récupérer les produits actifs.</a:t>
            </a:r>
          </a:p>
          <a:p>
            <a:r>
              <a:rPr lang="fr-FR" dirty="0"/>
              <a:t>Il transmet ensuite les données au </a:t>
            </a:r>
            <a:r>
              <a:rPr lang="fr-FR" dirty="0" err="1"/>
              <a:t>template</a:t>
            </a:r>
            <a:r>
              <a:rPr lang="fr-FR" dirty="0"/>
              <a:t> Twig.</a:t>
            </a:r>
          </a:p>
          <a:p>
            <a:r>
              <a:rPr lang="fr-FR" dirty="0"/>
              <a:t>Twig génère le HTML qui est finalement envoyé au navigateur.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dirty="0" err="1"/>
              <a:t>Montrer</a:t>
            </a:r>
            <a:r>
              <a:rPr dirty="0"/>
              <a:t> Repository → Doctrine → SQL.</a:t>
            </a:r>
            <a:endParaRPr lang="pt-BR" dirty="0"/>
          </a:p>
          <a:p>
            <a:r>
              <a:rPr lang="fr-FR" dirty="0"/>
              <a:t>Un point important dans mon projet est l'utilisation de Doctrine.</a:t>
            </a:r>
          </a:p>
          <a:p>
            <a:r>
              <a:rPr lang="fr-FR" dirty="0"/>
              <a:t>Le </a:t>
            </a:r>
            <a:r>
              <a:rPr lang="fr-FR" dirty="0" err="1"/>
              <a:t>controller</a:t>
            </a:r>
            <a:r>
              <a:rPr lang="fr-FR" dirty="0"/>
              <a:t> ne communique pas directement avec </a:t>
            </a:r>
            <a:r>
              <a:rPr lang="fr-FR" dirty="0" err="1"/>
              <a:t>MariaDB</a:t>
            </a:r>
            <a:r>
              <a:rPr lang="fr-FR" dirty="0"/>
              <a:t>.</a:t>
            </a:r>
          </a:p>
          <a:p>
            <a:r>
              <a:rPr lang="fr-FR" dirty="0"/>
              <a:t>Il utilise un repository.</a:t>
            </a:r>
          </a:p>
          <a:p>
            <a:r>
              <a:rPr lang="fr-FR" dirty="0"/>
              <a:t>Dans le repository, je peux utiliser les méthodes fournies par Doctrine ou construire des requêtes plus spécifiques avec </a:t>
            </a:r>
            <a:r>
              <a:rPr lang="fr-FR" dirty="0" err="1"/>
              <a:t>QueryBuilder</a:t>
            </a:r>
            <a:r>
              <a:rPr lang="fr-FR" dirty="0"/>
              <a:t> et DQL.</a:t>
            </a:r>
          </a:p>
          <a:p>
            <a:r>
              <a:rPr lang="fr-FR" dirty="0"/>
              <a:t>Doctrine traduit ensuite cette logique en SQL compatible avec la base de données.</a:t>
            </a:r>
          </a:p>
          <a:p>
            <a:r>
              <a:rPr lang="fr-FR" dirty="0"/>
              <a:t>Par exemple, j'ai une méthode personnalisée « </a:t>
            </a:r>
            <a:r>
              <a:rPr lang="fr-FR" dirty="0" err="1"/>
              <a:t>findLatestApproved</a:t>
            </a:r>
            <a:r>
              <a:rPr lang="fr-FR" dirty="0"/>
              <a:t> » dans </a:t>
            </a:r>
            <a:r>
              <a:rPr lang="fr-FR" dirty="0" err="1"/>
              <a:t>ReviewRepository</a:t>
            </a:r>
            <a:r>
              <a:rPr lang="fr-FR" dirty="0"/>
              <a:t> pour récupérer les 6 dernières avis.</a:t>
            </a:r>
          </a:p>
          <a:p>
            <a:r>
              <a:rPr lang="fr-FR" dirty="0"/>
              <a:t>Cela permet de garder la logique d'accès aux données dans le repository plutôt que de mettre directement les requêtes dans le </a:t>
            </a:r>
            <a:r>
              <a:rPr lang="fr-FR" dirty="0" err="1"/>
              <a:t>controller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7AC9E-FB79-2FFF-2E86-759977D00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51549-88C4-7ED2-3054-D924B96664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A8F46E-7713-CE09-35B8-ABA25BFFB9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dirty="0" err="1"/>
              <a:t>Montrer</a:t>
            </a:r>
            <a:r>
              <a:rPr dirty="0"/>
              <a:t> Repository → Doctrine → SQL.</a:t>
            </a:r>
            <a:endParaRPr lang="pt-BR" dirty="0"/>
          </a:p>
          <a:p>
            <a:r>
              <a:rPr lang="fr-FR" dirty="0"/>
              <a:t>Un point important dans mon projet est l'utilisation de Doctrine.</a:t>
            </a:r>
          </a:p>
          <a:p>
            <a:r>
              <a:rPr lang="fr-FR" dirty="0"/>
              <a:t>Le </a:t>
            </a:r>
            <a:r>
              <a:rPr lang="fr-FR" dirty="0" err="1"/>
              <a:t>controller</a:t>
            </a:r>
            <a:r>
              <a:rPr lang="fr-FR" dirty="0"/>
              <a:t> ne communique pas directement avec </a:t>
            </a:r>
            <a:r>
              <a:rPr lang="fr-FR" dirty="0" err="1"/>
              <a:t>MariaDB</a:t>
            </a:r>
            <a:r>
              <a:rPr lang="fr-FR" dirty="0"/>
              <a:t>.</a:t>
            </a:r>
          </a:p>
          <a:p>
            <a:r>
              <a:rPr lang="fr-FR" dirty="0"/>
              <a:t>Il utilise un repository.</a:t>
            </a:r>
          </a:p>
          <a:p>
            <a:r>
              <a:rPr lang="fr-FR" dirty="0"/>
              <a:t>Dans le repository, je peux utiliser les méthodes fournies par Doctrine ou construire des requêtes plus spécifiques avec </a:t>
            </a:r>
            <a:r>
              <a:rPr lang="fr-FR" dirty="0" err="1"/>
              <a:t>QueryBuilder</a:t>
            </a:r>
            <a:r>
              <a:rPr lang="fr-FR" dirty="0"/>
              <a:t> et DQL.</a:t>
            </a:r>
          </a:p>
          <a:p>
            <a:r>
              <a:rPr lang="fr-FR" dirty="0"/>
              <a:t>Doctrine traduit ensuite cette logique en SQL compatible avec la base de données.</a:t>
            </a:r>
          </a:p>
          <a:p>
            <a:r>
              <a:rPr lang="fr-FR" dirty="0"/>
              <a:t>Par exemple, j'ai une méthode personnalisée « </a:t>
            </a:r>
            <a:r>
              <a:rPr lang="fr-FR" dirty="0" err="1"/>
              <a:t>findLatestApproved</a:t>
            </a:r>
            <a:r>
              <a:rPr lang="fr-FR" dirty="0"/>
              <a:t> » dans </a:t>
            </a:r>
            <a:r>
              <a:rPr lang="fr-FR" dirty="0" err="1"/>
              <a:t>ReviewRepository</a:t>
            </a:r>
            <a:r>
              <a:rPr lang="fr-FR" dirty="0"/>
              <a:t> pour récupérer les 6 dernières avis.</a:t>
            </a:r>
          </a:p>
          <a:p>
            <a:r>
              <a:rPr lang="fr-FR" dirty="0"/>
              <a:t>Cela permet de garder la logique d'accès aux données dans le repository plutôt que de mettre directement les requêtes dans le </a:t>
            </a:r>
            <a:r>
              <a:rPr lang="fr-FR" dirty="0" err="1"/>
              <a:t>controller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03960-5D09-2897-E151-A70182FEDF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69217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34B4A-F2B5-C8E6-1957-638868770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9ABAA-5A3E-AEC9-2263-1828BF91C9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44640F-1C24-77E4-AB3D-54EE8922C5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</a:t>
            </a:r>
            <a:r>
              <a:rPr lang="pt-BR" dirty="0"/>
              <a:t>CRUD</a:t>
            </a:r>
            <a:r>
              <a:rPr dirty="0"/>
              <a:t>.</a:t>
            </a:r>
            <a:endParaRPr lang="pt-BR" dirty="0"/>
          </a:p>
          <a:p>
            <a:endParaRPr lang="pt-BR" dirty="0"/>
          </a:p>
          <a:p>
            <a:r>
              <a:rPr lang="pt-BR" dirty="0" err="1"/>
              <a:t>HandleRequest</a:t>
            </a:r>
            <a:r>
              <a:rPr lang="pt-BR" dirty="0"/>
              <a:t> : </a:t>
            </a:r>
            <a:r>
              <a:rPr lang="fr-FR" dirty="0" err="1"/>
              <a:t>Lê</a:t>
            </a:r>
            <a:r>
              <a:rPr lang="fr-FR" dirty="0"/>
              <a:t> os </a:t>
            </a:r>
            <a:r>
              <a:rPr lang="fr-FR" dirty="0" err="1"/>
              <a:t>dados</a:t>
            </a:r>
            <a:r>
              <a:rPr lang="fr-FR" dirty="0"/>
              <a:t> </a:t>
            </a:r>
            <a:r>
              <a:rPr lang="fr-FR" dirty="0" err="1"/>
              <a:t>enviados</a:t>
            </a:r>
            <a:r>
              <a:rPr lang="fr-FR" dirty="0"/>
              <a:t> pelo </a:t>
            </a:r>
            <a:r>
              <a:rPr lang="fr-FR" dirty="0" err="1"/>
              <a:t>usuário</a:t>
            </a:r>
            <a:r>
              <a:rPr lang="fr-FR" dirty="0"/>
              <a:t> na </a:t>
            </a:r>
            <a:r>
              <a:rPr lang="fr-FR" dirty="0" err="1"/>
              <a:t>requisição</a:t>
            </a:r>
            <a:r>
              <a:rPr lang="fr-FR" dirty="0"/>
              <a:t> HTTP e os </a:t>
            </a:r>
            <a:r>
              <a:rPr lang="fr-FR" dirty="0" err="1"/>
              <a:t>injeta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formulário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código</a:t>
            </a:r>
            <a:r>
              <a:rPr lang="fr-FR" dirty="0"/>
              <a:t> HTTP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Response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::HTTP_SEE_OTHER</a:t>
            </a:r>
            <a:r>
              <a:rPr lang="fr-FR" dirty="0"/>
              <a:t> (</a:t>
            </a:r>
            <a:r>
              <a:rPr lang="fr-FR" dirty="0" err="1"/>
              <a:t>código</a:t>
            </a:r>
            <a:r>
              <a:rPr lang="fr-FR" dirty="0"/>
              <a:t> 303) garante que a </a:t>
            </a:r>
            <a:r>
              <a:rPr lang="fr-FR" dirty="0" err="1"/>
              <a:t>requisição</a:t>
            </a:r>
            <a:r>
              <a:rPr lang="fr-FR" dirty="0"/>
              <a:t> de </a:t>
            </a:r>
            <a:r>
              <a:rPr lang="fr-FR" dirty="0" err="1"/>
              <a:t>redirecionamento</a:t>
            </a:r>
            <a:r>
              <a:rPr lang="fr-FR" dirty="0"/>
              <a:t> mude </a:t>
            </a:r>
            <a:r>
              <a:rPr lang="fr-FR" dirty="0" err="1"/>
              <a:t>corretamente</a:t>
            </a:r>
            <a:r>
              <a:rPr lang="fr-FR" dirty="0"/>
              <a:t> para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fr-FR" dirty="0"/>
              <a:t>.</a:t>
            </a:r>
          </a:p>
          <a:p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isCsrfTokenValid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  <a:r>
              <a:rPr lang="fr-FR" dirty="0"/>
              <a:t>: Compara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com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gerado</a:t>
            </a:r>
            <a:r>
              <a:rPr lang="fr-FR" dirty="0"/>
              <a:t> pelo </a:t>
            </a:r>
            <a:r>
              <a:rPr lang="fr-FR" dirty="0" err="1"/>
              <a:t>servidor</a:t>
            </a:r>
            <a:r>
              <a:rPr lang="fr-FR" dirty="0"/>
              <a:t> para </a:t>
            </a:r>
            <a:r>
              <a:rPr lang="fr-FR" dirty="0" err="1"/>
              <a:t>aquela</a:t>
            </a:r>
            <a:r>
              <a:rPr lang="fr-FR" dirty="0"/>
              <a:t> </a:t>
            </a:r>
            <a:r>
              <a:rPr lang="fr-FR" dirty="0" err="1"/>
              <a:t>ação</a:t>
            </a:r>
            <a:r>
              <a:rPr lang="fr-FR" dirty="0"/>
              <a:t> </a:t>
            </a:r>
            <a:r>
              <a:rPr lang="fr-FR" dirty="0" err="1"/>
              <a:t>específica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identificador</a:t>
            </a:r>
            <a:r>
              <a:rPr lang="fr-FR" dirty="0"/>
              <a:t> </a:t>
            </a:r>
            <a:r>
              <a:rPr lang="fr-FR" dirty="0" err="1"/>
              <a:t>único</a:t>
            </a:r>
            <a:r>
              <a:rPr lang="fr-FR" dirty="0"/>
              <a:t> do </a:t>
            </a:r>
            <a:r>
              <a:rPr lang="fr-FR" dirty="0" err="1"/>
              <a:t>token</a:t>
            </a:r>
            <a:r>
              <a:rPr lang="fr-FR" dirty="0"/>
              <a:t> é composto pela string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dirty="0"/>
              <a:t> </a:t>
            </a:r>
            <a:r>
              <a:rPr lang="fr-FR" dirty="0" err="1"/>
              <a:t>concatenada</a:t>
            </a:r>
            <a:r>
              <a:rPr lang="fr-FR" dirty="0"/>
              <a:t> com o ID da </a:t>
            </a:r>
            <a:r>
              <a:rPr lang="fr-FR" dirty="0" err="1"/>
              <a:t>avaliação</a:t>
            </a:r>
            <a:r>
              <a:rPr lang="fr-FR" dirty="0"/>
              <a:t> (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review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fr-FR" dirty="0"/>
              <a:t>).</a:t>
            </a:r>
          </a:p>
          <a:p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getPayload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getString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('_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')</a:t>
            </a:r>
            <a:r>
              <a:rPr lang="fr-FR" dirty="0"/>
              <a:t>: Busca de forma </a:t>
            </a:r>
            <a:r>
              <a:rPr lang="fr-FR" dirty="0" err="1"/>
              <a:t>segura</a:t>
            </a:r>
            <a:r>
              <a:rPr lang="fr-FR" dirty="0"/>
              <a:t> o </a:t>
            </a:r>
            <a:r>
              <a:rPr lang="fr-FR" dirty="0" err="1"/>
              <a:t>valor</a:t>
            </a:r>
            <a:r>
              <a:rPr lang="fr-FR" dirty="0"/>
              <a:t> do campo </a:t>
            </a:r>
            <a:r>
              <a:rPr lang="fr-FR" dirty="0" err="1"/>
              <a:t>oculto</a:t>
            </a:r>
            <a:r>
              <a:rPr lang="fr-FR" dirty="0"/>
              <a:t>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payload</a:t>
            </a:r>
            <a:r>
              <a:rPr lang="fr-FR" dirty="0"/>
              <a:t> da </a:t>
            </a:r>
            <a:r>
              <a:rPr lang="fr-FR" dirty="0" err="1"/>
              <a:t>requisição</a:t>
            </a:r>
            <a:r>
              <a:rPr lang="fr-FR" dirty="0"/>
              <a:t> POST.</a:t>
            </a:r>
          </a:p>
          <a:p>
            <a:pPr lvl="0"/>
            <a:r>
              <a:rPr lang="fr-FR" dirty="0" err="1"/>
              <a:t>evitar</a:t>
            </a:r>
            <a:r>
              <a:rPr lang="fr-FR" dirty="0"/>
              <a:t> </a:t>
            </a:r>
            <a:r>
              <a:rPr lang="fr-FR" dirty="0" err="1"/>
              <a:t>ataques</a:t>
            </a:r>
            <a:r>
              <a:rPr lang="fr-FR" dirty="0"/>
              <a:t> de </a:t>
            </a:r>
            <a:r>
              <a:rPr lang="fr-FR" i="1" dirty="0"/>
              <a:t>Cross-Site </a:t>
            </a:r>
            <a:r>
              <a:rPr lang="fr-FR" i="1" dirty="0" err="1"/>
              <a:t>Request</a:t>
            </a:r>
            <a:r>
              <a:rPr lang="fr-FR" i="1" dirty="0"/>
              <a:t> </a:t>
            </a:r>
            <a:r>
              <a:rPr lang="fr-FR" i="1" dirty="0" err="1"/>
              <a:t>Forgery</a:t>
            </a:r>
            <a:r>
              <a:rPr lang="fr-FR" i="1" dirty="0"/>
              <a:t> (CSRF)</a:t>
            </a:r>
            <a:r>
              <a:rPr lang="fr-FR" dirty="0"/>
              <a:t>, </a:t>
            </a:r>
            <a:r>
              <a:rPr lang="fr-FR" dirty="0" err="1"/>
              <a:t>garantindo</a:t>
            </a:r>
            <a:r>
              <a:rPr lang="fr-FR" dirty="0"/>
              <a:t> que a </a:t>
            </a:r>
            <a:r>
              <a:rPr lang="fr-FR" dirty="0" err="1"/>
              <a:t>solicitação</a:t>
            </a:r>
            <a:r>
              <a:rPr lang="fr-FR" dirty="0"/>
              <a:t> de </a:t>
            </a:r>
            <a:r>
              <a:rPr lang="fr-FR" dirty="0" err="1"/>
              <a:t>exclusão</a:t>
            </a:r>
            <a:r>
              <a:rPr lang="fr-FR" dirty="0"/>
              <a:t> </a:t>
            </a:r>
            <a:r>
              <a:rPr lang="fr-FR" dirty="0" err="1"/>
              <a:t>realmente</a:t>
            </a:r>
            <a:r>
              <a:rPr lang="fr-FR" dirty="0"/>
              <a:t> </a:t>
            </a:r>
            <a:r>
              <a:rPr lang="fr-FR" dirty="0" err="1"/>
              <a:t>veio</a:t>
            </a:r>
            <a:r>
              <a:rPr lang="fr-FR" dirty="0"/>
              <a:t> do </a:t>
            </a:r>
            <a:r>
              <a:rPr lang="fr-FR" dirty="0" err="1"/>
              <a:t>nosso</a:t>
            </a:r>
            <a:r>
              <a:rPr lang="fr-FR" dirty="0"/>
              <a:t> site/</a:t>
            </a:r>
            <a:r>
              <a:rPr lang="fr-FR" dirty="0" err="1"/>
              <a:t>sistema</a:t>
            </a:r>
            <a:r>
              <a:rPr lang="fr-FR" dirty="0"/>
              <a:t> e </a:t>
            </a:r>
            <a:r>
              <a:rPr lang="fr-FR" dirty="0" err="1"/>
              <a:t>não</a:t>
            </a:r>
            <a:r>
              <a:rPr lang="fr-FR" dirty="0"/>
              <a:t> de um site </a:t>
            </a:r>
            <a:r>
              <a:rPr lang="fr-FR" dirty="0" err="1"/>
              <a:t>malicioso</a:t>
            </a:r>
            <a:r>
              <a:rPr lang="fr-FR" dirty="0"/>
              <a:t> </a:t>
            </a:r>
            <a:r>
              <a:rPr lang="fr-FR" dirty="0" err="1"/>
              <a:t>externo</a:t>
            </a:r>
            <a:r>
              <a:rPr lang="fr-FR" dirty="0"/>
              <a:t> </a:t>
            </a:r>
            <a:r>
              <a:rPr lang="fr-FR" dirty="0" err="1"/>
              <a:t>tentando</a:t>
            </a:r>
            <a:r>
              <a:rPr lang="fr-FR" dirty="0"/>
              <a:t> </a:t>
            </a:r>
            <a:r>
              <a:rPr lang="fr-FR" dirty="0" err="1"/>
              <a:t>forçar</a:t>
            </a:r>
            <a:r>
              <a:rPr lang="fr-FR" dirty="0"/>
              <a:t> a </a:t>
            </a:r>
            <a:r>
              <a:rPr lang="fr-FR" dirty="0" err="1"/>
              <a:t>ação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050EE-074D-3038-EB6D-ADB8CB9831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460717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E95BA-2664-B704-434A-81C247A4D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AB29D-25D9-AB3A-3450-01B99CF032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41B860-6C54-5A5B-DD4A-3085473235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</a:t>
            </a:r>
            <a:r>
              <a:rPr lang="pt-BR" dirty="0"/>
              <a:t>CRUD</a:t>
            </a:r>
            <a:r>
              <a:rPr dirty="0"/>
              <a:t>.</a:t>
            </a:r>
            <a:endParaRPr lang="pt-BR" dirty="0"/>
          </a:p>
          <a:p>
            <a:endParaRPr lang="pt-BR" dirty="0"/>
          </a:p>
          <a:p>
            <a:r>
              <a:rPr lang="pt-BR" dirty="0" err="1"/>
              <a:t>HandleRequest</a:t>
            </a:r>
            <a:r>
              <a:rPr lang="pt-BR" dirty="0"/>
              <a:t> : </a:t>
            </a:r>
            <a:r>
              <a:rPr lang="fr-FR" dirty="0" err="1"/>
              <a:t>Lê</a:t>
            </a:r>
            <a:r>
              <a:rPr lang="fr-FR" dirty="0"/>
              <a:t> os </a:t>
            </a:r>
            <a:r>
              <a:rPr lang="fr-FR" dirty="0" err="1"/>
              <a:t>dados</a:t>
            </a:r>
            <a:r>
              <a:rPr lang="fr-FR" dirty="0"/>
              <a:t> </a:t>
            </a:r>
            <a:r>
              <a:rPr lang="fr-FR" dirty="0" err="1"/>
              <a:t>enviados</a:t>
            </a:r>
            <a:r>
              <a:rPr lang="fr-FR" dirty="0"/>
              <a:t> pelo </a:t>
            </a:r>
            <a:r>
              <a:rPr lang="fr-FR" dirty="0" err="1"/>
              <a:t>usuário</a:t>
            </a:r>
            <a:r>
              <a:rPr lang="fr-FR" dirty="0"/>
              <a:t> na </a:t>
            </a:r>
            <a:r>
              <a:rPr lang="fr-FR" dirty="0" err="1"/>
              <a:t>requisição</a:t>
            </a:r>
            <a:r>
              <a:rPr lang="fr-FR" dirty="0"/>
              <a:t> HTTP e os </a:t>
            </a:r>
            <a:r>
              <a:rPr lang="fr-FR" dirty="0" err="1"/>
              <a:t>injeta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formulário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código</a:t>
            </a:r>
            <a:r>
              <a:rPr lang="fr-FR" dirty="0"/>
              <a:t> HTTP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Response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::HTTP_SEE_OTHER</a:t>
            </a:r>
            <a:r>
              <a:rPr lang="fr-FR" dirty="0"/>
              <a:t> (</a:t>
            </a:r>
            <a:r>
              <a:rPr lang="fr-FR" dirty="0" err="1"/>
              <a:t>código</a:t>
            </a:r>
            <a:r>
              <a:rPr lang="fr-FR" dirty="0"/>
              <a:t> 303) garante que a </a:t>
            </a:r>
            <a:r>
              <a:rPr lang="fr-FR" dirty="0" err="1"/>
              <a:t>requisição</a:t>
            </a:r>
            <a:r>
              <a:rPr lang="fr-FR" dirty="0"/>
              <a:t> de </a:t>
            </a:r>
            <a:r>
              <a:rPr lang="fr-FR" dirty="0" err="1"/>
              <a:t>redirecionamento</a:t>
            </a:r>
            <a:r>
              <a:rPr lang="fr-FR" dirty="0"/>
              <a:t> mude </a:t>
            </a:r>
            <a:r>
              <a:rPr lang="fr-FR" dirty="0" err="1"/>
              <a:t>corretamente</a:t>
            </a:r>
            <a:r>
              <a:rPr lang="fr-FR" dirty="0"/>
              <a:t> para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fr-FR" dirty="0"/>
              <a:t>.</a:t>
            </a:r>
          </a:p>
          <a:p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isCsrfTokenValid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  <a:r>
              <a:rPr lang="fr-FR" dirty="0"/>
              <a:t>: Compara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com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gerado</a:t>
            </a:r>
            <a:r>
              <a:rPr lang="fr-FR" dirty="0"/>
              <a:t> pelo </a:t>
            </a:r>
            <a:r>
              <a:rPr lang="fr-FR" dirty="0" err="1"/>
              <a:t>servidor</a:t>
            </a:r>
            <a:r>
              <a:rPr lang="fr-FR" dirty="0"/>
              <a:t> para </a:t>
            </a:r>
            <a:r>
              <a:rPr lang="fr-FR" dirty="0" err="1"/>
              <a:t>aquela</a:t>
            </a:r>
            <a:r>
              <a:rPr lang="fr-FR" dirty="0"/>
              <a:t> </a:t>
            </a:r>
            <a:r>
              <a:rPr lang="fr-FR" dirty="0" err="1"/>
              <a:t>ação</a:t>
            </a:r>
            <a:r>
              <a:rPr lang="fr-FR" dirty="0"/>
              <a:t> </a:t>
            </a:r>
            <a:r>
              <a:rPr lang="fr-FR" dirty="0" err="1"/>
              <a:t>específica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identificador</a:t>
            </a:r>
            <a:r>
              <a:rPr lang="fr-FR" dirty="0"/>
              <a:t> </a:t>
            </a:r>
            <a:r>
              <a:rPr lang="fr-FR" dirty="0" err="1"/>
              <a:t>único</a:t>
            </a:r>
            <a:r>
              <a:rPr lang="fr-FR" dirty="0"/>
              <a:t> do </a:t>
            </a:r>
            <a:r>
              <a:rPr lang="fr-FR" dirty="0" err="1"/>
              <a:t>token</a:t>
            </a:r>
            <a:r>
              <a:rPr lang="fr-FR" dirty="0"/>
              <a:t> é composto pela string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dirty="0"/>
              <a:t> </a:t>
            </a:r>
            <a:r>
              <a:rPr lang="fr-FR" dirty="0" err="1"/>
              <a:t>concatenada</a:t>
            </a:r>
            <a:r>
              <a:rPr lang="fr-FR" dirty="0"/>
              <a:t> com o ID da </a:t>
            </a:r>
            <a:r>
              <a:rPr lang="fr-FR" dirty="0" err="1"/>
              <a:t>avaliação</a:t>
            </a:r>
            <a:r>
              <a:rPr lang="fr-FR" dirty="0"/>
              <a:t> (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review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fr-FR" dirty="0"/>
              <a:t>).</a:t>
            </a:r>
          </a:p>
          <a:p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getPayload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getString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('_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')</a:t>
            </a:r>
            <a:r>
              <a:rPr lang="fr-FR" dirty="0"/>
              <a:t>: Busca de forma </a:t>
            </a:r>
            <a:r>
              <a:rPr lang="fr-FR" dirty="0" err="1"/>
              <a:t>segura</a:t>
            </a:r>
            <a:r>
              <a:rPr lang="fr-FR" dirty="0"/>
              <a:t> o </a:t>
            </a:r>
            <a:r>
              <a:rPr lang="fr-FR" dirty="0" err="1"/>
              <a:t>valor</a:t>
            </a:r>
            <a:r>
              <a:rPr lang="fr-FR" dirty="0"/>
              <a:t> do campo </a:t>
            </a:r>
            <a:r>
              <a:rPr lang="fr-FR" dirty="0" err="1"/>
              <a:t>oculto</a:t>
            </a:r>
            <a:r>
              <a:rPr lang="fr-FR" dirty="0"/>
              <a:t>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payload</a:t>
            </a:r>
            <a:r>
              <a:rPr lang="fr-FR" dirty="0"/>
              <a:t> da </a:t>
            </a:r>
            <a:r>
              <a:rPr lang="fr-FR" dirty="0" err="1"/>
              <a:t>requisição</a:t>
            </a:r>
            <a:r>
              <a:rPr lang="fr-FR" dirty="0"/>
              <a:t> POST.</a:t>
            </a:r>
          </a:p>
          <a:p>
            <a:pPr lvl="0"/>
            <a:r>
              <a:rPr lang="fr-FR" dirty="0" err="1"/>
              <a:t>evitar</a:t>
            </a:r>
            <a:r>
              <a:rPr lang="fr-FR" dirty="0"/>
              <a:t> </a:t>
            </a:r>
            <a:r>
              <a:rPr lang="fr-FR" dirty="0" err="1"/>
              <a:t>ataques</a:t>
            </a:r>
            <a:r>
              <a:rPr lang="fr-FR" dirty="0"/>
              <a:t> de </a:t>
            </a:r>
            <a:r>
              <a:rPr lang="fr-FR" i="1" dirty="0"/>
              <a:t>Cross-Site </a:t>
            </a:r>
            <a:r>
              <a:rPr lang="fr-FR" i="1" dirty="0" err="1"/>
              <a:t>Request</a:t>
            </a:r>
            <a:r>
              <a:rPr lang="fr-FR" i="1" dirty="0"/>
              <a:t> </a:t>
            </a:r>
            <a:r>
              <a:rPr lang="fr-FR" i="1" dirty="0" err="1"/>
              <a:t>Forgery</a:t>
            </a:r>
            <a:r>
              <a:rPr lang="fr-FR" i="1" dirty="0"/>
              <a:t> (CSRF)</a:t>
            </a:r>
            <a:r>
              <a:rPr lang="fr-FR" dirty="0"/>
              <a:t>, </a:t>
            </a:r>
            <a:r>
              <a:rPr lang="fr-FR" dirty="0" err="1"/>
              <a:t>garantindo</a:t>
            </a:r>
            <a:r>
              <a:rPr lang="fr-FR" dirty="0"/>
              <a:t> que a </a:t>
            </a:r>
            <a:r>
              <a:rPr lang="fr-FR" dirty="0" err="1"/>
              <a:t>solicitação</a:t>
            </a:r>
            <a:r>
              <a:rPr lang="fr-FR" dirty="0"/>
              <a:t> de </a:t>
            </a:r>
            <a:r>
              <a:rPr lang="fr-FR" dirty="0" err="1"/>
              <a:t>exclusão</a:t>
            </a:r>
            <a:r>
              <a:rPr lang="fr-FR" dirty="0"/>
              <a:t> </a:t>
            </a:r>
            <a:r>
              <a:rPr lang="fr-FR" dirty="0" err="1"/>
              <a:t>realmente</a:t>
            </a:r>
            <a:r>
              <a:rPr lang="fr-FR" dirty="0"/>
              <a:t> </a:t>
            </a:r>
            <a:r>
              <a:rPr lang="fr-FR" dirty="0" err="1"/>
              <a:t>veio</a:t>
            </a:r>
            <a:r>
              <a:rPr lang="fr-FR" dirty="0"/>
              <a:t> do </a:t>
            </a:r>
            <a:r>
              <a:rPr lang="fr-FR" dirty="0" err="1"/>
              <a:t>nosso</a:t>
            </a:r>
            <a:r>
              <a:rPr lang="fr-FR" dirty="0"/>
              <a:t> site/</a:t>
            </a:r>
            <a:r>
              <a:rPr lang="fr-FR" dirty="0" err="1"/>
              <a:t>sistema</a:t>
            </a:r>
            <a:r>
              <a:rPr lang="fr-FR" dirty="0"/>
              <a:t> e </a:t>
            </a:r>
            <a:r>
              <a:rPr lang="fr-FR" dirty="0" err="1"/>
              <a:t>não</a:t>
            </a:r>
            <a:r>
              <a:rPr lang="fr-FR" dirty="0"/>
              <a:t> de um site </a:t>
            </a:r>
            <a:r>
              <a:rPr lang="fr-FR" dirty="0" err="1"/>
              <a:t>malicioso</a:t>
            </a:r>
            <a:r>
              <a:rPr lang="fr-FR" dirty="0"/>
              <a:t> </a:t>
            </a:r>
            <a:r>
              <a:rPr lang="fr-FR" dirty="0" err="1"/>
              <a:t>externo</a:t>
            </a:r>
            <a:r>
              <a:rPr lang="fr-FR" dirty="0"/>
              <a:t> </a:t>
            </a:r>
            <a:r>
              <a:rPr lang="fr-FR" dirty="0" err="1"/>
              <a:t>tentando</a:t>
            </a:r>
            <a:r>
              <a:rPr lang="fr-FR" dirty="0"/>
              <a:t> </a:t>
            </a:r>
            <a:r>
              <a:rPr lang="fr-FR" dirty="0" err="1"/>
              <a:t>forçar</a:t>
            </a:r>
            <a:r>
              <a:rPr lang="fr-FR" dirty="0"/>
              <a:t> a </a:t>
            </a:r>
            <a:r>
              <a:rPr lang="fr-FR" dirty="0" err="1"/>
              <a:t>ação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14190-D623-97D1-4157-043DF78781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60285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Forms, Security et Mailer.</a:t>
            </a:r>
            <a:endParaRPr lang="pt-BR" dirty="0"/>
          </a:p>
          <a:p>
            <a:r>
              <a:rPr lang="fr-FR" dirty="0"/>
              <a:t>Symfony me permet également de gérer les formulaires.</a:t>
            </a:r>
          </a:p>
          <a:p>
            <a:r>
              <a:rPr lang="fr-FR" dirty="0"/>
              <a:t>J'utilise des classes </a:t>
            </a:r>
            <a:r>
              <a:rPr lang="fr-FR" dirty="0" err="1"/>
              <a:t>FormType</a:t>
            </a:r>
            <a:r>
              <a:rPr lang="fr-FR" dirty="0"/>
              <a:t> pour la création d'utilisateurs, les demandes de devis, les avis et les formulaires d'administration.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61664-256E-100F-1E97-40212D33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CFDC0A-4B0D-09F9-86D9-ECEA885D33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BE0F3-864D-5B80-DD18-11119F175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Forms, Security et Mailer.</a:t>
            </a:r>
            <a:endParaRPr lang="pt-BR" dirty="0"/>
          </a:p>
          <a:p>
            <a:r>
              <a:rPr lang="fr-FR" dirty="0"/>
              <a:t>La sécurité est gérée avec le composant Security de Symfony.</a:t>
            </a:r>
          </a:p>
          <a:p>
            <a:r>
              <a:rPr lang="fr-FR" dirty="0"/>
              <a:t>Les mots de passe ne sont pas stockés en clair : ils sont </a:t>
            </a:r>
            <a:r>
              <a:rPr lang="fr-FR" dirty="0" err="1"/>
              <a:t>hashés</a:t>
            </a:r>
            <a:r>
              <a:rPr lang="fr-FR" dirty="0"/>
              <a:t> avant d'être enregistrés.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13D0E-062F-9342-9C9F-EA0DFE33B7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996173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0D553-F6D1-9EC8-0D97-EAE97A433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3A099F-78D6-2FDD-A36F-F00D24647C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63753F-90EF-0B5C-62C3-91DC7E92A1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Forms, Security et Mailer.</a:t>
            </a:r>
            <a:endParaRPr lang="pt-BR" dirty="0"/>
          </a:p>
          <a:p>
            <a:r>
              <a:rPr lang="fr-FR" dirty="0"/>
              <a:t>La sécurité est gérée avec le composant Security de Symfony.</a:t>
            </a:r>
          </a:p>
          <a:p>
            <a:r>
              <a:rPr lang="fr-FR" dirty="0"/>
              <a:t>Les mots de passe ne sont pas stockés en clair : ils sont </a:t>
            </a:r>
            <a:r>
              <a:rPr lang="fr-FR" dirty="0" err="1"/>
              <a:t>hashés</a:t>
            </a:r>
            <a:r>
              <a:rPr lang="fr-FR" dirty="0"/>
              <a:t> avant d'être enregistrés.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DFBFA-1AF3-0C4A-394C-AB020D185E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245593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~5m : </a:t>
            </a:r>
            <a:r>
              <a:rPr dirty="0" err="1"/>
              <a:t>Démonstration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Donner 2-3 </a:t>
            </a:r>
            <a:r>
              <a:rPr dirty="0" err="1"/>
              <a:t>difficultés</a:t>
            </a:r>
            <a:r>
              <a:rPr dirty="0"/>
              <a:t> et solutions.</a:t>
            </a:r>
            <a:endParaRPr lang="pt-BR" dirty="0"/>
          </a:p>
          <a:p>
            <a:r>
              <a:rPr lang="fr-FR" dirty="0"/>
              <a:t>Une des premières difficultés a été de bien comprendre la manière dont les différentes parties de Symfony communiquent entre elles.</a:t>
            </a:r>
          </a:p>
          <a:p>
            <a:endParaRPr lang="fr-FR" dirty="0"/>
          </a:p>
          <a:p>
            <a:r>
              <a:rPr lang="fr-FR" dirty="0"/>
              <a:t>Par exemple, il faut comprendre la différence entre une entité, un repository et un </a:t>
            </a:r>
            <a:r>
              <a:rPr lang="fr-FR" dirty="0" err="1"/>
              <a:t>controller</a:t>
            </a:r>
            <a:r>
              <a:rPr lang="fr-FR" dirty="0"/>
              <a:t>, et surtout savoir où placer chaque responsabilité.</a:t>
            </a:r>
          </a:p>
          <a:p>
            <a:endParaRPr lang="fr-FR" dirty="0"/>
          </a:p>
          <a:p>
            <a:r>
              <a:rPr lang="fr-FR" dirty="0"/>
              <a:t>J'ai également rencontré des difficultés avec les relations entre les entités Doctrine, notamment les relations entre produits et catégories.</a:t>
            </a:r>
          </a:p>
          <a:p>
            <a:endParaRPr lang="fr-FR" dirty="0"/>
          </a:p>
          <a:p>
            <a:r>
              <a:rPr lang="fr-FR" dirty="0"/>
              <a:t>Côté </a:t>
            </a:r>
            <a:r>
              <a:rPr lang="fr-FR" dirty="0" err="1"/>
              <a:t>front-end</a:t>
            </a:r>
            <a:r>
              <a:rPr lang="fr-FR" dirty="0"/>
              <a:t>, l'intégration de la maquette a demandé plusieurs adaptations pour obtenir un résultat responsif.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</a:t>
            </a:r>
            <a:r>
              <a:rPr dirty="0" err="1"/>
              <a:t>Présenter</a:t>
            </a:r>
            <a:r>
              <a:rPr dirty="0"/>
              <a:t> les </a:t>
            </a:r>
            <a:r>
              <a:rPr dirty="0" err="1"/>
              <a:t>évolutions</a:t>
            </a:r>
            <a:r>
              <a:rPr dirty="0"/>
              <a:t> </a:t>
            </a:r>
            <a:r>
              <a:rPr dirty="0" err="1"/>
              <a:t>prévues</a:t>
            </a:r>
            <a:r>
              <a:rPr dirty="0"/>
              <a:t>.</a:t>
            </a:r>
            <a:endParaRPr lang="pt-BR" dirty="0"/>
          </a:p>
          <a:p>
            <a:r>
              <a:rPr lang="fr-FR" dirty="0"/>
              <a:t>Le projet est encore en cours de développement, donc plusieurs évolutions sont prévues.</a:t>
            </a:r>
          </a:p>
          <a:p>
            <a:r>
              <a:rPr lang="fr-FR" dirty="0"/>
              <a:t>À court terme, je souhaite principalement finaliser certaines fonctionnalités existantes et améliorer les tests et les validations.</a:t>
            </a:r>
          </a:p>
          <a:p>
            <a:r>
              <a:rPr lang="fr-FR" dirty="0"/>
              <a:t>Ensuite, je pourrais ajouter la gestion des images, une recherche plus avancée, des filtres et une pagination.</a:t>
            </a:r>
          </a:p>
          <a:p>
            <a:r>
              <a:rPr lang="fr-FR" dirty="0"/>
              <a:t>À plus long terme, une évolution intéressante serait de permettre à un utilisateur de personnaliser directement un produit avant de faire une demande de devis.</a:t>
            </a:r>
          </a:p>
          <a:p>
            <a:r>
              <a:rPr lang="fr-FR" dirty="0"/>
              <a:t>Enfin, l'objectif final serait de pouvoir mettre l'application en production.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~45s : Conclusion et questions.</a:t>
            </a:r>
            <a:endParaRPr lang="pt-BR" dirty="0"/>
          </a:p>
          <a:p>
            <a:r>
              <a:rPr lang="fr-FR" dirty="0"/>
              <a:t>Pour conclure, ce projet m'a permis de mettre en pratique plusieurs notions importantes du développement d'applications web.</a:t>
            </a:r>
          </a:p>
          <a:p>
            <a:r>
              <a:rPr lang="fr-FR" dirty="0"/>
              <a:t>J'ai travaillé sur la conception de la base de données, les relations entre les entités, les </a:t>
            </a:r>
            <a:r>
              <a:rPr lang="fr-FR" dirty="0" err="1"/>
              <a:t>controllers</a:t>
            </a:r>
            <a:r>
              <a:rPr lang="fr-FR" dirty="0"/>
              <a:t>, les repositories, Doctrine, les formulaires, la sécurité et le rendu avec Twig.</a:t>
            </a:r>
          </a:p>
          <a:p>
            <a:r>
              <a:rPr lang="fr-FR" dirty="0"/>
              <a:t>J'ai également travaillé sur l'intégration </a:t>
            </a:r>
            <a:r>
              <a:rPr lang="fr-FR" dirty="0" err="1"/>
              <a:t>front-end</a:t>
            </a:r>
            <a:r>
              <a:rPr lang="fr-FR" dirty="0"/>
              <a:t> avec Bootstrap, CSS et JavaScript.</a:t>
            </a:r>
          </a:p>
          <a:p>
            <a:r>
              <a:rPr lang="fr-FR" dirty="0"/>
              <a:t>Le projet n'est pas encore complètement terminé, mais les principales bases techniques sont en place et l'application possède déjà un fonctionnement complet sur plusieurs parties.</a:t>
            </a:r>
          </a:p>
          <a:p>
            <a:r>
              <a:rPr lang="fr-FR" dirty="0"/>
              <a:t>Ce projet m'a surtout permis de mieux comprendre comment les différentes couches d'une application Symfony communiquent entre elles.</a:t>
            </a:r>
          </a:p>
          <a:p>
            <a:endParaRPr lang="fr-FR" dirty="0"/>
          </a:p>
          <a:p>
            <a:r>
              <a:rPr lang="fr-FR" dirty="0"/>
              <a:t>Merci pour votre attention.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0BBF9-FDDA-4B23-B401-580D566EDE34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F0B54-4CA1-462C-A3CA-145342ABB252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C4D4C-880A-4F8B-B5C2-53B3C9C28657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23AE9-28DD-4232-84BB-EC01B1CFADA4}" type="datetime1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D6F03-AB67-4719-A2A7-2BBD689EEC74}" type="datetime1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7D015-B9A4-41F9-B951-2C0BCF7D78D1}" type="datetime1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0009B-7227-4240-9450-4F66351B3DBE}" type="datetime1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09018" y="6311900"/>
            <a:ext cx="2133600" cy="365125"/>
          </a:xfr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‹N°›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A1ACD-57D8-4D0A-A94D-EA57B0159C4D}" type="datetime1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BC11E-83E0-47F6-B517-684087A81E6E}" type="datetime1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9FFBD-AE49-41AD-83FB-FE94F5340E39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E8715-E3F0-4689-8D1F-767FDF19E4B2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50000"/>
            <a:lum/>
          </a:blip>
          <a:srcRect/>
          <a:stretch>
            <a:fillRect r="-4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E1938-7668-4051-B501-987B32E23C0F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r="-4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300619" y="451794"/>
            <a:ext cx="5590761" cy="18158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4800" b="1" noProof="0" dirty="0">
                <a:solidFill>
                  <a:srgbClr val="2C2522"/>
                </a:solidFill>
              </a:rPr>
              <a:t>Site web de broderie</a:t>
            </a:r>
          </a:p>
          <a:p>
            <a:pPr algn="ctr"/>
            <a:r>
              <a:rPr lang="fr-FR" sz="4000" noProof="0" dirty="0">
                <a:solidFill>
                  <a:schemeClr val="accent6">
                    <a:lumMod val="50000"/>
                  </a:schemeClr>
                </a:solidFill>
              </a:rPr>
              <a:t>et personnalisation textile</a:t>
            </a:r>
          </a:p>
          <a:p>
            <a:pPr algn="ctr"/>
            <a:r>
              <a:rPr lang="fr-FR" sz="2400" dirty="0"/>
              <a:t>Application web développée avec Symfony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5497845"/>
            <a:ext cx="3047501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000" noProof="0" dirty="0"/>
              <a:t>Aureo Ruffier</a:t>
            </a:r>
          </a:p>
          <a:p>
            <a:r>
              <a:rPr lang="fr-FR" sz="2000" noProof="0" dirty="0"/>
              <a:t>POEI – DWWM / Aout 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701434F-79A2-DB61-127D-E1C7527F13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240" y="2651760"/>
            <a:ext cx="3539517" cy="231953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75920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Sommaire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19680" y="934700"/>
            <a:ext cx="5212080" cy="537466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Contexte et objectifs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Technologies et environnement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Schéma UML / BDD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Maquette → réalisation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Fixtures → Faker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Front-end</a:t>
            </a:r>
            <a:endParaRPr kumimoji="0" lang="fr-FR" sz="22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Back-end</a:t>
            </a: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— MVC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Repository → Doctrine → SQL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CRUD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Forms et sécurité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Démonstration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Difficultés rencontrées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Évolutions prévues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Conclusion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BC80B67-F870-D986-9C57-372F98C16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8AA3-96AC-5444-2510-7A6F1F360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D45151-A5B0-6B8F-71F3-DEEA0B5ACAAF}"/>
              </a:ext>
            </a:extLst>
          </p:cNvPr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Contexte et objectifs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32800F5-2CEC-FE20-0280-6FFC5A1F13DF}"/>
              </a:ext>
            </a:extLst>
          </p:cNvPr>
          <p:cNvSpPr/>
          <p:nvPr/>
        </p:nvSpPr>
        <p:spPr>
          <a:xfrm>
            <a:off x="685800" y="1799776"/>
            <a:ext cx="5212080" cy="3303146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CONTEXTE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Création d'un site web pour une activité de broderie et de personnalisation textile.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Mettre en avant l'atelier « L’aiguille des volcans », spécialisé dans les créations artisanales sur mesure.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Présenter l'activité, les services et les produits, tout en proposant des fonctionnalités dynamiques.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DDA0986-1F04-62CA-9F73-0D55AD80E395}"/>
              </a:ext>
            </a:extLst>
          </p:cNvPr>
          <p:cNvSpPr/>
          <p:nvPr/>
        </p:nvSpPr>
        <p:spPr>
          <a:xfrm>
            <a:off x="6217920" y="1799776"/>
            <a:ext cx="5212080" cy="3303146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OBJECTIFS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Présenter l'entreprise et ses services</a:t>
            </a:r>
            <a:endParaRPr lang="fr-FR" sz="1600" dirty="0">
              <a:solidFill>
                <a:srgbClr val="2C2522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Présenter les produits et catégories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Faciliter la prise de contact</a:t>
            </a:r>
            <a:endParaRPr lang="fr-FR" sz="1600" dirty="0">
              <a:solidFill>
                <a:srgbClr val="2C2522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Permettre une demande de devis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Gérer les contenus via un espace d'administration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0DC280F-F4AC-9DEF-3F5F-5B1E831B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998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Technologies et environnement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04671" y="155448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PHP ≥ 8.2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Langage serveur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1732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4599432" y="155448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Symfony 7.4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Framework web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41732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394192" y="155448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Doctrine ORM 3.6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ORM / BDD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804671" y="274320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 err="1">
                <a:solidFill>
                  <a:schemeClr val="accent6">
                    <a:lumMod val="50000"/>
                  </a:schemeClr>
                </a:solidFill>
              </a:rPr>
              <a:t>MariaDB</a:t>
            </a:r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 10.11.11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Base de données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60604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4599432" y="274320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Twig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 err="1"/>
              <a:t>Templates</a:t>
            </a:r>
            <a:r>
              <a:rPr lang="fr-FR" sz="1400" noProof="0" dirty="0"/>
              <a:t> HTML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60604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8394192" y="274320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Bootstrap 5.3.8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UI / responsive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94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804671" y="393192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Font Awesome 7.3.1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Icônes</a:t>
            </a:r>
            <a:endParaRPr lang="fr-FR" noProof="0" dirty="0"/>
          </a:p>
        </p:txBody>
      </p:sp>
      <p:sp>
        <p:nvSpPr>
          <p:cNvPr id="18" name="Rounded Rectangle 17"/>
          <p:cNvSpPr/>
          <p:nvPr/>
        </p:nvSpPr>
        <p:spPr>
          <a:xfrm>
            <a:off x="4434840" y="3794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4599432" y="393192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 err="1">
                <a:solidFill>
                  <a:schemeClr val="accent6">
                    <a:lumMod val="50000"/>
                  </a:schemeClr>
                </a:solidFill>
              </a:rPr>
              <a:t>Webpack</a:t>
            </a:r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 Encore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Gestion des assets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794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8394192" y="393192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Node.js 22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 err="1"/>
              <a:t>Build</a:t>
            </a:r>
            <a:r>
              <a:rPr lang="fr-FR" sz="1400" noProof="0" dirty="0"/>
              <a:t> frontend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98348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804671" y="512064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Docker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Environnement</a:t>
            </a:r>
            <a:endParaRPr lang="fr-FR" noProof="0" dirty="0"/>
          </a:p>
        </p:txBody>
      </p:sp>
      <p:sp>
        <p:nvSpPr>
          <p:cNvPr id="24" name="Rounded Rectangle 23"/>
          <p:cNvSpPr/>
          <p:nvPr/>
        </p:nvSpPr>
        <p:spPr>
          <a:xfrm>
            <a:off x="4434840" y="498348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4599432" y="512064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Git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 err="1"/>
              <a:t>Versionnement</a:t>
            </a:r>
            <a:endParaRPr lang="fr-FR" sz="1400" noProof="0" dirty="0"/>
          </a:p>
        </p:txBody>
      </p:sp>
      <p:sp>
        <p:nvSpPr>
          <p:cNvPr id="26" name="Rounded Rectangle 25"/>
          <p:cNvSpPr/>
          <p:nvPr/>
        </p:nvSpPr>
        <p:spPr>
          <a:xfrm>
            <a:off x="8229600" y="498348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7" name="TextBox 26"/>
          <p:cNvSpPr txBox="1"/>
          <p:nvPr/>
        </p:nvSpPr>
        <p:spPr>
          <a:xfrm>
            <a:off x="8394192" y="512064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Windows 11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OS</a:t>
            </a:r>
            <a:endParaRPr lang="fr-FR" noProof="0" dirty="0"/>
          </a:p>
        </p:txBody>
      </p:sp>
      <p:sp>
        <p:nvSpPr>
          <p:cNvPr id="30" name="Espace réservé du numéro de diapositive 29">
            <a:extLst>
              <a:ext uri="{FF2B5EF4-FFF2-40B4-BE49-F238E27FC236}">
                <a16:creationId xmlns:a16="http://schemas.microsoft.com/office/drawing/2014/main" id="{E4A9B039-B4C4-AC3D-5114-3E3B44813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22044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Schéma UML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EE897103-6FAF-30F6-C5CC-3A21A4D83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366" y="973471"/>
            <a:ext cx="10309257" cy="54090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151C1EC-F12C-3A93-9563-224CCEDBE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D1D17-6C2F-079F-E407-DEDF6C430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7FED58-6963-B66A-6D98-AB1760E3B868}"/>
              </a:ext>
            </a:extLst>
          </p:cNvPr>
          <p:cNvSpPr txBox="1"/>
          <p:nvPr/>
        </p:nvSpPr>
        <p:spPr>
          <a:xfrm>
            <a:off x="640080" y="411480"/>
            <a:ext cx="22044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Schéma BDD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69C126F-3169-B7BF-3906-BBF6916BF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774" y="991326"/>
            <a:ext cx="8455794" cy="544850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30A4946-4809-ECDF-0BE1-705053B3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147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Maquette → réalisation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A65C1A3-0886-8B2F-D347-37F0E72CD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07" y="1466088"/>
            <a:ext cx="5634941" cy="378466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1D592A63-C278-B9B0-478E-1F9671168C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53" y="1683694"/>
            <a:ext cx="5809043" cy="335972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5D68271-D6CF-BF7B-10F6-31E62F8B7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BFCF9-B985-1C26-B056-3207E2004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14054A-4D0B-F304-2108-80FFB6D1E9D4}"/>
              </a:ext>
            </a:extLst>
          </p:cNvPr>
          <p:cNvSpPr txBox="1"/>
          <p:nvPr/>
        </p:nvSpPr>
        <p:spPr>
          <a:xfrm>
            <a:off x="640080" y="411480"/>
            <a:ext cx="261546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Fixtures → Faker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51A0E7C-16BC-CD88-44D2-F43E92386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822" y="1151553"/>
            <a:ext cx="5229955" cy="260068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23145A1-5959-2449-95E7-FE70F46DAC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410" y="2785726"/>
            <a:ext cx="7549768" cy="34110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846BE13-7690-3450-B75B-C8DB9D83C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94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Front-end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960116"/>
            <a:ext cx="3072985" cy="1786529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HTML / TWIG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Templates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dynamiques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Boucles, conditions et 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layouts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réutilisables.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E8214C3-4717-CB88-E885-52D0426FBF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5084" y="323041"/>
            <a:ext cx="6774836" cy="6041182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C3656C5-1B8E-3CCA-3ECE-832D6D50F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48E48-FC17-F909-87AB-1BA6E127C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45181B-3A1E-4552-3BB9-8A1DE9E22C07}"/>
              </a:ext>
            </a:extLst>
          </p:cNvPr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Front-end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09F4DBC-FAC0-9652-E248-70AAABA23F4C}"/>
              </a:ext>
            </a:extLst>
          </p:cNvPr>
          <p:cNvSpPr/>
          <p:nvPr/>
        </p:nvSpPr>
        <p:spPr>
          <a:xfrm>
            <a:off x="332841" y="1460864"/>
            <a:ext cx="3407954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CSS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Bootstrap 5.3.8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+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CSS personnalisé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Exemples de classes personnalisées 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hero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-section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hero-title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hero-subtitle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.service-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card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feature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-bar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btn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-gold</a:t>
            </a:r>
          </a:p>
          <a:p>
            <a:pPr algn="ctr"/>
            <a:endParaRPr lang="fr-FR" noProof="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6FF85FC3-DB46-5BDA-8A06-685BC29B9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156" y="209451"/>
            <a:ext cx="6430272" cy="6173061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5292FA9-54CC-626A-FE78-ACA70C48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050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0EADE-BC71-F356-3419-501EFDB9E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5E551A-8839-452F-1D54-747D4D010CD6}"/>
              </a:ext>
            </a:extLst>
          </p:cNvPr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Front-end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571771E-2E0E-B42B-1EFE-36DE8221317B}"/>
              </a:ext>
            </a:extLst>
          </p:cNvPr>
          <p:cNvSpPr/>
          <p:nvPr/>
        </p:nvSpPr>
        <p:spPr>
          <a:xfrm>
            <a:off x="378563" y="1460864"/>
            <a:ext cx="2469569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JAVASCRIPT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Bootstrap JS pour les interactions courantes.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Webpack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Encore pour compiler et gérer les assets.</a:t>
            </a:r>
          </a:p>
          <a:p>
            <a:pPr algn="ctr"/>
            <a:endParaRPr lang="fr-FR" noProof="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918BCD3-0479-D9AF-1E96-A3DAC57FC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738" y="621792"/>
            <a:ext cx="8705759" cy="5726455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F78665C-D4E7-0DEA-E6D7-D6E923C9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1155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Back-end</a:t>
            </a:r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 — MVC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862526"/>
            <a:ext cx="1666906" cy="313924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MODEL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Entity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Doctrine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Repository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Product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Category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QuoteRequest</a:t>
            </a: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algn="ctr"/>
            <a:endParaRPr lang="fr-FR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4014292" y="692469"/>
            <a:ext cx="3383280" cy="250081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VIEW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Twig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Templates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HTML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Données transmises par le 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Rendu côté navigateur</a:t>
            </a:r>
          </a:p>
          <a:p>
            <a:pPr algn="ctr"/>
            <a:endParaRPr lang="fr-FR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9136505" y="1856679"/>
            <a:ext cx="2476375" cy="313924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CONTROLLER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Routes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Traitement des requêtes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Coordination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HomeController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ProductController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CategoryController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QuoteRequestController</a:t>
            </a: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algn="ctr"/>
            <a:endParaRPr lang="fr-FR" noProof="0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F360745-8C06-27A5-CBAF-CE3419DCF5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4280" y="3405813"/>
            <a:ext cx="6096851" cy="28007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82F9729-FCFB-66FE-97D3-6FA9CEF0C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274466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dirty="0">
                <a:solidFill>
                  <a:srgbClr val="2C2522"/>
                </a:solidFill>
                <a:latin typeface="Aptos Display"/>
              </a:rPr>
              <a:t>Doctrine → </a:t>
            </a:r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Entity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409661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2C2522"/>
                </a:solidFill>
              </a:rPr>
              <a:t>Doctrine 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1613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2C2522"/>
                </a:solidFill>
              </a:rPr>
              <a:t>Repository</a:t>
            </a:r>
            <a:endParaRPr lang="fr-FR" sz="1200" b="1" dirty="0">
              <a:solidFill>
                <a:srgbClr val="2C2522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213565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SQL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115517" y="1436398"/>
            <a:ext cx="1686827" cy="914400"/>
          </a:xfrm>
          <a:prstGeom prst="roundRect">
            <a:avLst/>
          </a:prstGeom>
          <a:solidFill>
            <a:schemeClr val="bg1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 err="1">
                <a:solidFill>
                  <a:srgbClr val="2C2522"/>
                </a:solidFill>
              </a:rPr>
              <a:t>MariaDB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F64A98DF-79FD-5578-3BF9-75C0EBA95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85" y="2881803"/>
            <a:ext cx="4838278" cy="320978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B6D126B-D13D-5BA4-2C1C-42A70EC9B9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265" y="3142971"/>
            <a:ext cx="5067735" cy="217188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688A63D7-E5AC-2D3C-3588-857C55B10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2FAA98-A1BF-24BA-365B-2B6C66F09B6E}"/>
              </a:ext>
            </a:extLst>
          </p:cNvPr>
          <p:cNvSpPr/>
          <p:nvPr/>
        </p:nvSpPr>
        <p:spPr>
          <a:xfrm>
            <a:off x="640080" y="1234439"/>
            <a:ext cx="6614160" cy="327276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Parler</a:t>
            </a:r>
            <a:r>
              <a:rPr lang="pt-BR" dirty="0"/>
              <a:t> de </a:t>
            </a:r>
            <a:r>
              <a:rPr lang="pt-BR" dirty="0" err="1"/>
              <a:t>Doctrine</a:t>
            </a:r>
            <a:r>
              <a:rPr lang="pt-BR" dirty="0"/>
              <a:t>, ORM, </a:t>
            </a:r>
            <a:r>
              <a:rPr lang="pt-BR" dirty="0" err="1"/>
              <a:t>pq</a:t>
            </a:r>
            <a:r>
              <a:rPr lang="pt-BR" dirty="0"/>
              <a:t> </a:t>
            </a:r>
            <a:r>
              <a:rPr lang="pt-BR" dirty="0" err="1"/>
              <a:t>ont</a:t>
            </a:r>
            <a:r>
              <a:rPr lang="pt-BR" dirty="0"/>
              <a:t> utilize etc... </a:t>
            </a:r>
            <a:r>
              <a:rPr lang="pt-BR" dirty="0" err="1"/>
              <a:t>l’Entity</a:t>
            </a:r>
            <a:endParaRPr lang="fr-FR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7111A-29E2-6828-900B-FEE51A937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8EA6D7-28AB-1B36-D852-99F40BA338C8}"/>
              </a:ext>
            </a:extLst>
          </p:cNvPr>
          <p:cNvSpPr txBox="1"/>
          <p:nvPr/>
        </p:nvSpPr>
        <p:spPr>
          <a:xfrm>
            <a:off x="640080" y="411480"/>
            <a:ext cx="450527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dirty="0">
                <a:solidFill>
                  <a:srgbClr val="2C2522"/>
                </a:solidFill>
                <a:latin typeface="Aptos Display"/>
              </a:rPr>
              <a:t>Doctrine → </a:t>
            </a:r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Repository → SQL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5378065-D266-E1A0-2E43-3C22DC445B63}"/>
              </a:ext>
            </a:extLst>
          </p:cNvPr>
          <p:cNvSpPr/>
          <p:nvPr/>
        </p:nvSpPr>
        <p:spPr>
          <a:xfrm>
            <a:off x="2409661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2C2522"/>
                </a:solidFill>
              </a:rPr>
              <a:t>Doctrine ORM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4117A9-E469-EEEF-1281-37010E993A28}"/>
              </a:ext>
            </a:extLst>
          </p:cNvPr>
          <p:cNvSpPr/>
          <p:nvPr/>
        </p:nvSpPr>
        <p:spPr>
          <a:xfrm>
            <a:off x="4311613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2C2522"/>
                </a:solidFill>
              </a:rPr>
              <a:t>Repository</a:t>
            </a:r>
            <a:endParaRPr lang="fr-FR" sz="1200" b="1" dirty="0">
              <a:solidFill>
                <a:srgbClr val="2C2522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3DAE911-44BE-3B16-E99C-3CD1A76D91C5}"/>
              </a:ext>
            </a:extLst>
          </p:cNvPr>
          <p:cNvSpPr/>
          <p:nvPr/>
        </p:nvSpPr>
        <p:spPr>
          <a:xfrm>
            <a:off x="6213565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SQL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83A899D-134E-7012-4116-A661A01AD121}"/>
              </a:ext>
            </a:extLst>
          </p:cNvPr>
          <p:cNvSpPr/>
          <p:nvPr/>
        </p:nvSpPr>
        <p:spPr>
          <a:xfrm>
            <a:off x="8115517" y="1436398"/>
            <a:ext cx="1686827" cy="914400"/>
          </a:xfrm>
          <a:prstGeom prst="roundRect">
            <a:avLst/>
          </a:prstGeom>
          <a:solidFill>
            <a:schemeClr val="bg1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 err="1">
                <a:solidFill>
                  <a:srgbClr val="2C2522"/>
                </a:solidFill>
              </a:rPr>
              <a:t>MariaDB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F7C5124A-A0A8-3D91-C836-EC6EE32D8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85" y="2881803"/>
            <a:ext cx="4838278" cy="320978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6F52923A-FB1F-C51D-29CD-2BCE89B20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265" y="3142971"/>
            <a:ext cx="5067735" cy="217188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4400DDCF-081D-3AC0-5FA1-9325B8110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1447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1C5A4-E5BE-C837-A6FB-D5FDA906F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AA615F-956B-5AA0-7A12-FC2265D741A2}"/>
              </a:ext>
            </a:extLst>
          </p:cNvPr>
          <p:cNvSpPr txBox="1"/>
          <p:nvPr/>
        </p:nvSpPr>
        <p:spPr>
          <a:xfrm>
            <a:off x="640080" y="411480"/>
            <a:ext cx="240816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CONTROLEUR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A0A929F-EE3B-550D-0FFE-E9A12CAB3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264AB1-15D3-FDD8-66B2-15D350B81F1E}"/>
              </a:ext>
            </a:extLst>
          </p:cNvPr>
          <p:cNvSpPr/>
          <p:nvPr/>
        </p:nvSpPr>
        <p:spPr>
          <a:xfrm>
            <a:off x="1889760" y="1767840"/>
            <a:ext cx="4709160" cy="23317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Symfony</a:t>
            </a:r>
            <a:r>
              <a:rPr lang="pt-BR" dirty="0"/>
              <a:t>, </a:t>
            </a:r>
            <a:r>
              <a:rPr lang="pt-BR" dirty="0" err="1"/>
              <a:t>requete</a:t>
            </a:r>
            <a:r>
              <a:rPr lang="pt-BR" dirty="0"/>
              <a:t>, </a:t>
            </a:r>
            <a:r>
              <a:rPr lang="pt-BR" dirty="0" err="1"/>
              <a:t>atribut</a:t>
            </a:r>
            <a:r>
              <a:rPr lang="pt-BR" dirty="0"/>
              <a:t>, Route, </a:t>
            </a:r>
          </a:p>
          <a:p>
            <a:pPr algn="ctr"/>
            <a:endParaRPr lang="pt-BR" dirty="0"/>
          </a:p>
          <a:p>
            <a:pPr algn="ctr"/>
            <a:r>
              <a:rPr lang="pt-BR" dirty="0"/>
              <a:t>Route -&gt; index (</a:t>
            </a:r>
            <a:r>
              <a:rPr lang="pt-BR" dirty="0" err="1"/>
              <a:t>ex</a:t>
            </a:r>
            <a:r>
              <a:rPr lang="pt-BR" dirty="0"/>
              <a:t>: </a:t>
            </a:r>
            <a:r>
              <a:rPr lang="pt-BR" dirty="0" err="1"/>
              <a:t>galerie</a:t>
            </a:r>
            <a:r>
              <a:rPr lang="pt-BR" dirty="0"/>
              <a:t>)</a:t>
            </a:r>
          </a:p>
          <a:p>
            <a:pPr algn="ctr"/>
            <a:r>
              <a:rPr lang="pt-BR" dirty="0" err="1"/>
              <a:t>Injection</a:t>
            </a:r>
            <a:r>
              <a:rPr lang="pt-BR" dirty="0"/>
              <a:t> de </a:t>
            </a:r>
            <a:r>
              <a:rPr lang="pt-BR" dirty="0" err="1"/>
              <a:t>dependence</a:t>
            </a:r>
            <a:r>
              <a:rPr lang="pt-BR" dirty="0"/>
              <a:t>;</a:t>
            </a:r>
          </a:p>
          <a:p>
            <a:pPr algn="ctr"/>
            <a:r>
              <a:rPr lang="pt-BR" dirty="0" err="1"/>
              <a:t>Laisser</a:t>
            </a:r>
            <a:r>
              <a:rPr lang="pt-BR" dirty="0"/>
              <a:t> </a:t>
            </a:r>
            <a:r>
              <a:rPr lang="pt-BR" dirty="0" err="1"/>
              <a:t>le</a:t>
            </a:r>
            <a:r>
              <a:rPr lang="pt-BR" dirty="0"/>
              <a:t> framework </a:t>
            </a:r>
            <a:r>
              <a:rPr lang="pt-BR" dirty="0" err="1"/>
              <a:t>gerer</a:t>
            </a:r>
            <a:r>
              <a:rPr lang="pt-BR" dirty="0"/>
              <a:t> </a:t>
            </a:r>
            <a:r>
              <a:rPr lang="pt-BR" dirty="0" err="1"/>
              <a:t>le</a:t>
            </a:r>
            <a:r>
              <a:rPr lang="pt-BR" dirty="0"/>
              <a:t> </a:t>
            </a:r>
            <a:r>
              <a:rPr lang="pt-BR" dirty="0" err="1"/>
              <a:t>cycle</a:t>
            </a:r>
            <a:r>
              <a:rPr lang="pt-BR" dirty="0"/>
              <a:t> de </a:t>
            </a:r>
            <a:r>
              <a:rPr lang="pt-BR" dirty="0" err="1"/>
              <a:t>vie</a:t>
            </a:r>
            <a:r>
              <a:rPr lang="pt-BR" dirty="0"/>
              <a:t> 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99540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B99F0-42D7-C485-56FD-F0C301916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B90DE24-7C4B-9E34-6507-2E88C4A15B51}"/>
              </a:ext>
            </a:extLst>
          </p:cNvPr>
          <p:cNvSpPr txBox="1"/>
          <p:nvPr/>
        </p:nvSpPr>
        <p:spPr>
          <a:xfrm>
            <a:off x="640080" y="411480"/>
            <a:ext cx="113043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CRUD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91C96B4-5272-F4BC-245C-0F6515E94723}"/>
              </a:ext>
            </a:extLst>
          </p:cNvPr>
          <p:cNvSpPr/>
          <p:nvPr/>
        </p:nvSpPr>
        <p:spPr>
          <a:xfrm>
            <a:off x="8026399" y="1710779"/>
            <a:ext cx="1596572" cy="96128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MODIFIER UN PRODUIT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0C48C7B-F090-25F6-62AB-EBE9E383B8AE}"/>
              </a:ext>
            </a:extLst>
          </p:cNvPr>
          <p:cNvSpPr/>
          <p:nvPr/>
        </p:nvSpPr>
        <p:spPr>
          <a:xfrm>
            <a:off x="1004296" y="4994375"/>
            <a:ext cx="1985647" cy="9248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2000" b="1" dirty="0">
                <a:solidFill>
                  <a:srgbClr val="F79646">
                    <a:lumMod val="50000"/>
                  </a:srgbClr>
                </a:solidFill>
                <a:latin typeface="Calibri"/>
              </a:rPr>
              <a:t>SUPPRIMER UN PRODUIT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31657EDA-6B7C-5DFD-5EA8-581767BB0A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903" y="1065330"/>
            <a:ext cx="7249486" cy="347472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42EA8DC-E160-83CF-B65D-079D7526A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3143" y="4105438"/>
            <a:ext cx="8639785" cy="22387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DA8967-4427-B081-4361-51CF30C4A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5595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284430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dirty="0">
                <a:solidFill>
                  <a:srgbClr val="2C2522"/>
                </a:solidFill>
                <a:latin typeface="Aptos Display"/>
              </a:rPr>
              <a:t>Forms et sécurité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79" y="981889"/>
            <a:ext cx="2741749" cy="214942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FORMS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RegistrationFormType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QuoteRequestType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AdminProductType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AdminCategoryType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...</a:t>
            </a:r>
          </a:p>
          <a:p>
            <a:pPr algn="ctr"/>
            <a:endParaRPr lang="fr-FR" noProof="0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5B70BDA-03A1-83F4-CC5E-C77A15C98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872" y="237764"/>
            <a:ext cx="7255791" cy="61447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519722-9888-B6E8-C6C7-DBF6F9816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56DE7-2C2A-7B14-4C38-48BDFAE09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145087-FD0C-1A13-C456-210C0B99BD04}"/>
              </a:ext>
            </a:extLst>
          </p:cNvPr>
          <p:cNvSpPr txBox="1"/>
          <p:nvPr/>
        </p:nvSpPr>
        <p:spPr>
          <a:xfrm>
            <a:off x="640080" y="411480"/>
            <a:ext cx="29132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Forms et sécurité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544FB3A-F7C8-5D59-1E47-8DC62598B015}"/>
              </a:ext>
            </a:extLst>
          </p:cNvPr>
          <p:cNvSpPr/>
          <p:nvPr/>
        </p:nvSpPr>
        <p:spPr>
          <a:xfrm>
            <a:off x="624841" y="995681"/>
            <a:ext cx="2698930" cy="214942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SECURITY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Authentification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Gestion des utilisateurs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Hashage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des mots de passe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Accès à l'administration</a:t>
            </a:r>
          </a:p>
          <a:p>
            <a:pPr algn="ctr"/>
            <a:endParaRPr lang="fr-FR" noProof="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2391ED45-FFD8-171D-097D-61A3EBEF8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0" y="219457"/>
            <a:ext cx="7768081" cy="61580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9C11573-D8FD-92B7-B406-C4C6D7CE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0929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09B69-F2A0-64E1-0C87-1B1422D68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5F1CEA-3D1E-9041-F431-C8E5DCACD514}"/>
              </a:ext>
            </a:extLst>
          </p:cNvPr>
          <p:cNvSpPr txBox="1"/>
          <p:nvPr/>
        </p:nvSpPr>
        <p:spPr>
          <a:xfrm>
            <a:off x="640080" y="411480"/>
            <a:ext cx="29132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Forms et sécurité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2B9EF83-8359-061F-6D0E-558D232766AC}"/>
              </a:ext>
            </a:extLst>
          </p:cNvPr>
          <p:cNvSpPr/>
          <p:nvPr/>
        </p:nvSpPr>
        <p:spPr>
          <a:xfrm>
            <a:off x="624841" y="995681"/>
            <a:ext cx="2698930" cy="214942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SECURITY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Authentification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Gestion des utilisateurs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Hashage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des mots de passe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Accès à l'administration</a:t>
            </a:r>
          </a:p>
          <a:p>
            <a:pPr algn="ctr"/>
            <a:endParaRPr lang="fr-FR" noProof="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A5101F6E-F155-3C61-1DBF-A3FC6AD88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0" y="219457"/>
            <a:ext cx="7768081" cy="61580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B89BC96-140C-92BB-78AB-82A39DA62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ABD650-A063-6AD4-C81F-990130922EB6}"/>
              </a:ext>
            </a:extLst>
          </p:cNvPr>
          <p:cNvSpPr/>
          <p:nvPr/>
        </p:nvSpPr>
        <p:spPr>
          <a:xfrm>
            <a:off x="807720" y="411480"/>
            <a:ext cx="8519160" cy="518160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Security.yaml</a:t>
            </a:r>
            <a:endParaRPr lang="pt-BR" dirty="0"/>
          </a:p>
          <a:p>
            <a:pPr algn="ctr"/>
            <a:endParaRPr lang="pt-BR" dirty="0"/>
          </a:p>
          <a:p>
            <a:pPr algn="ctr"/>
            <a:r>
              <a:rPr lang="pt-BR" dirty="0" err="1"/>
              <a:t>Mot</a:t>
            </a:r>
            <a:r>
              <a:rPr lang="pt-BR" dirty="0"/>
              <a:t> de </a:t>
            </a:r>
            <a:r>
              <a:rPr lang="pt-BR" dirty="0" err="1"/>
              <a:t>pass</a:t>
            </a:r>
            <a:endParaRPr lang="pt-BR" dirty="0"/>
          </a:p>
          <a:p>
            <a:pPr algn="ctr"/>
            <a:r>
              <a:rPr lang="pt-BR" dirty="0" err="1"/>
              <a:t>Provider</a:t>
            </a:r>
            <a:r>
              <a:rPr lang="pt-BR" dirty="0"/>
              <a:t> </a:t>
            </a:r>
            <a:r>
              <a:rPr lang="pt-BR" dirty="0" err="1"/>
              <a:t>manierer</a:t>
            </a:r>
            <a:r>
              <a:rPr lang="pt-BR" dirty="0"/>
              <a:t> </a:t>
            </a:r>
            <a:r>
              <a:rPr lang="pt-BR" dirty="0" err="1"/>
              <a:t>conecter</a:t>
            </a:r>
            <a:endParaRPr lang="pt-BR" dirty="0"/>
          </a:p>
          <a:p>
            <a:pPr algn="ctr"/>
            <a:r>
              <a:rPr lang="fr-FR" dirty="0"/>
              <a:t>Firewall ??</a:t>
            </a:r>
          </a:p>
          <a:p>
            <a:pPr algn="ctr"/>
            <a:endParaRPr lang="fr-FR" dirty="0"/>
          </a:p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273549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Démonstration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1. Accueil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2. Produits / catégories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3. Détail produit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59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4. Demande de devis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5. Avis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6. Connexion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7. Administration</a:t>
            </a:r>
          </a:p>
        </p:txBody>
      </p:sp>
      <p:sp>
        <p:nvSpPr>
          <p:cNvPr id="22" name="Rounded Rectangle 16">
            <a:extLst>
              <a:ext uri="{FF2B5EF4-FFF2-40B4-BE49-F238E27FC236}">
                <a16:creationId xmlns:a16="http://schemas.microsoft.com/office/drawing/2014/main" id="{71DC1511-7701-FA73-F28E-10BB6028FB6E}"/>
              </a:ext>
            </a:extLst>
          </p:cNvPr>
          <p:cNvSpPr/>
          <p:nvPr/>
        </p:nvSpPr>
        <p:spPr>
          <a:xfrm>
            <a:off x="9052559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8. Responsive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BFD72F4-8BB5-6E6D-C4B4-4E968818F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369267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Difficultés rencontrées</a:t>
            </a:r>
          </a:p>
        </p:txBody>
      </p:sp>
      <p:sp>
        <p:nvSpPr>
          <p:cNvPr id="8" name="Rounded Rectangle 3">
            <a:extLst>
              <a:ext uri="{FF2B5EF4-FFF2-40B4-BE49-F238E27FC236}">
                <a16:creationId xmlns:a16="http://schemas.microsoft.com/office/drawing/2014/main" id="{213D243F-129E-C8D4-B29B-6BF00D7E6861}"/>
              </a:ext>
            </a:extLst>
          </p:cNvPr>
          <p:cNvSpPr/>
          <p:nvPr/>
        </p:nvSpPr>
        <p:spPr>
          <a:xfrm>
            <a:off x="1349829" y="1578854"/>
            <a:ext cx="70104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Aft>
                <a:spcPts val="1300"/>
              </a:spcAft>
              <a:defRPr sz="2000">
                <a:solidFill>
                  <a:srgbClr val="2C2522"/>
                </a:solidFill>
              </a:defRPr>
            </a:pPr>
            <a:endParaRPr lang="fr-FR" dirty="0"/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sz="2000" dirty="0"/>
              <a:t>Répondre aux besoins spécifiques d'une autre personne.</a:t>
            </a:r>
            <a:endParaRPr lang="fr-FR" dirty="0"/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Compréhension de l'architecture Symfony avec Docker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Relations entre les entités Doctrine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Communication Controller ↔ Repository ↔ Twig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Responsive et intégration de la maquette</a:t>
            </a:r>
          </a:p>
          <a:p>
            <a:pPr>
              <a:spcAft>
                <a:spcPts val="1300"/>
              </a:spcAft>
              <a:defRPr sz="2000">
                <a:solidFill>
                  <a:srgbClr val="2C2522"/>
                </a:solidFill>
              </a:defRPr>
            </a:pP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671A0EF-9FA1-BA87-6EA9-26946CDA6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Évolutions prévues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86578"/>
            <a:ext cx="3520440" cy="26176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COURT TERME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Finaliser le back-office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Améliorer les validations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Ajouter de tests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Finaliser le responsive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186578"/>
            <a:ext cx="3520440" cy="26176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MOYEN TERME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Upload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d'images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Recherche et filtres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Pagination</a:t>
            </a:r>
            <a:endParaRPr lang="fr-FR" sz="1600" dirty="0">
              <a:solidFill>
                <a:srgbClr val="2C2522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Notifications email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186578"/>
            <a:ext cx="3520440" cy="26176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LONG TERME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Demande de devis avancée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Personnalisation des produits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lang="fr-FR" sz="1600" dirty="0">
                <a:solidFill>
                  <a:srgbClr val="2C2522"/>
                </a:solidFill>
                <a:latin typeface="Calibri"/>
              </a:rPr>
              <a:t>Traduction du site</a:t>
            </a: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Mise en production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687AFE9-CEBB-9E56-167B-83D86C560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3600" b="1" noProof="0" dirty="0">
                <a:solidFill>
                  <a:srgbClr val="2C2522"/>
                </a:solidFill>
              </a:rP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Conception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5468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Base de données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Symfony / </a:t>
            </a:r>
            <a:r>
              <a:rPr lang="fr-FR" sz="1400" b="1" noProof="0" dirty="0" err="1">
                <a:solidFill>
                  <a:srgbClr val="2C2522"/>
                </a:solidFill>
              </a:rPr>
              <a:t>Back-end</a:t>
            </a:r>
            <a:endParaRPr lang="fr-FR" sz="1400" b="1" noProof="0" dirty="0">
              <a:solidFill>
                <a:srgbClr val="2C2522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63524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Twig / </a:t>
            </a:r>
            <a:r>
              <a:rPr lang="fr-FR" sz="1400" b="1" noProof="0" dirty="0" err="1">
                <a:solidFill>
                  <a:srgbClr val="2C2522"/>
                </a:solidFill>
              </a:rPr>
              <a:t>Front-end</a:t>
            </a:r>
            <a:endParaRPr lang="fr-FR" sz="1400" b="1" noProof="0" dirty="0">
              <a:solidFill>
                <a:srgbClr val="2C2522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875520" y="2651760"/>
            <a:ext cx="1920240" cy="914400"/>
          </a:xfrm>
          <a:prstGeom prst="roundRect">
            <a:avLst/>
          </a:prstGeom>
          <a:solidFill>
            <a:srgbClr val="EFEAE0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Application fonctionnelle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2133" y="4572000"/>
            <a:ext cx="495725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3200" b="1" noProof="0" dirty="0">
                <a:solidFill>
                  <a:schemeClr val="accent6">
                    <a:lumMod val="50000"/>
                  </a:schemeClr>
                </a:solidFill>
              </a:rPr>
              <a:t>Merci pour votre attention !</a:t>
            </a:r>
            <a:endParaRPr lang="fr-FR" sz="2400" b="1" noProof="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30F055C5-3205-65CE-8FCF-24FF77C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2040</TotalTime>
  <Words>2488</Words>
  <Application>Microsoft Office PowerPoint</Application>
  <PresentationFormat>Grand écran</PresentationFormat>
  <Paragraphs>299</Paragraphs>
  <Slides>23</Slides>
  <Notes>23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Aureo Ruffier</dc:creator>
  <cp:keywords/>
  <dc:description>generated using python-pptx</dc:description>
  <cp:lastModifiedBy>Aureo Ruffier</cp:lastModifiedBy>
  <cp:revision>17</cp:revision>
  <dcterms:created xsi:type="dcterms:W3CDTF">2013-01-27T09:14:16Z</dcterms:created>
  <dcterms:modified xsi:type="dcterms:W3CDTF">2026-10-02T11:15:58Z</dcterms:modified>
  <cp:category/>
</cp:coreProperties>
</file>