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75" r:id="rId4"/>
    <p:sldId id="258" r:id="rId5"/>
    <p:sldId id="260" r:id="rId6"/>
    <p:sldId id="271" r:id="rId7"/>
    <p:sldId id="261" r:id="rId8"/>
    <p:sldId id="273" r:id="rId9"/>
    <p:sldId id="262" r:id="rId10"/>
    <p:sldId id="277" r:id="rId11"/>
    <p:sldId id="278" r:id="rId12"/>
    <p:sldId id="263" r:id="rId13"/>
    <p:sldId id="264" r:id="rId14"/>
    <p:sldId id="272" r:id="rId15"/>
    <p:sldId id="265" r:id="rId16"/>
    <p:sldId id="276" r:id="rId17"/>
    <p:sldId id="266" r:id="rId18"/>
    <p:sldId id="267" r:id="rId19"/>
    <p:sldId id="269" r:id="rId20"/>
    <p:sldId id="27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969" autoAdjust="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6566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FR" dirty="0"/>
              <a:t>Bonjour à tous.</a:t>
            </a:r>
          </a:p>
          <a:p>
            <a:r>
              <a:rPr lang="fr-FR" dirty="0"/>
              <a:t>Je vais vous présenter mon projet de site web pour une activité de broderie et de personnalisation textile.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30 s</a:t>
            </a:r>
            <a:r>
              <a:rPr dirty="0"/>
              <a:t>: </a:t>
            </a:r>
            <a:r>
              <a:rPr dirty="0" err="1"/>
              <a:t>Expliquer</a:t>
            </a:r>
            <a:r>
              <a:rPr dirty="0"/>
              <a:t> le </a:t>
            </a:r>
            <a:r>
              <a:rPr dirty="0" err="1"/>
              <a:t>besoin</a:t>
            </a:r>
            <a:r>
              <a:rPr dirty="0"/>
              <a:t> et les </a:t>
            </a:r>
            <a:r>
              <a:rPr dirty="0" err="1"/>
              <a:t>objectifs</a:t>
            </a:r>
            <a:r>
              <a:rPr dirty="0"/>
              <a:t>.</a:t>
            </a:r>
            <a:endParaRPr lang="pt-BR" dirty="0"/>
          </a:p>
          <a:p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Projet de site web pour une activité de broderie et de personnalisation textile.</a:t>
            </a:r>
          </a:p>
          <a:p>
            <a:endParaRPr lang="fr-F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Je vais d'abord présenter le contexte et mes choix techniques, puis la conception de la base de données, le </a:t>
            </a:r>
            <a:r>
              <a:rPr lang="fr-FR" dirty="0" err="1"/>
              <a:t>front-end</a:t>
            </a:r>
            <a:r>
              <a:rPr lang="fr-FR" dirty="0"/>
              <a:t> et le </a:t>
            </a:r>
            <a:r>
              <a:rPr lang="fr-FR" dirty="0" err="1"/>
              <a:t>back-end</a:t>
            </a:r>
            <a:r>
              <a:rPr lang="fr-FR" dirty="0"/>
              <a:t>, avant de terminer par une démonstration et les évolutions prévues.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71064-1956-3932-053E-F99EBA7E8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7852EB-2D52-3927-A2DF-A43C672622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C3D76E-E428-F4CD-3EEE-AA583CCAC6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~1m30 : </a:t>
            </a:r>
            <a:r>
              <a:rPr dirty="0" err="1"/>
              <a:t>Expliquer</a:t>
            </a:r>
            <a:r>
              <a:rPr dirty="0"/>
              <a:t> le </a:t>
            </a:r>
            <a:r>
              <a:rPr dirty="0" err="1"/>
              <a:t>besoin</a:t>
            </a:r>
            <a:r>
              <a:rPr dirty="0"/>
              <a:t> et les </a:t>
            </a:r>
            <a:r>
              <a:rPr dirty="0" err="1"/>
              <a:t>objectifs</a:t>
            </a:r>
            <a:r>
              <a:rPr dirty="0"/>
              <a:t>.</a:t>
            </a:r>
            <a:endParaRPr lang="pt-BR" dirty="0"/>
          </a:p>
          <a:p>
            <a:r>
              <a:rPr lang="fr-FR" dirty="0"/>
              <a:t>Le projet part d'un besoin assez simple : avoir une présence web professionnelle pour une activité de broderie et de personnalisation textile.</a:t>
            </a:r>
          </a:p>
          <a:p>
            <a:r>
              <a:rPr lang="fr-FR" dirty="0"/>
              <a:t>Le site doit d'abord avoir un rôle de présentation, avec une page d'accueil, les services proposés, les produits et différentes informations sur l'activité.</a:t>
            </a:r>
          </a:p>
          <a:p>
            <a:r>
              <a:rPr lang="fr-FR" dirty="0"/>
              <a:t>Mais je voulais également avoir une partie dynamique. Les produits et les catégories sont donc stockés en base de données et peuvent être gérés depuis une interface d'administration.</a:t>
            </a:r>
          </a:p>
          <a:p>
            <a:r>
              <a:rPr lang="fr-FR" dirty="0"/>
              <a:t>J'ai également prévu la gestion des demandes de devis et des avis utilisateurs.</a:t>
            </a:r>
          </a:p>
          <a:p>
            <a:r>
              <a:rPr lang="fr-FR" dirty="0"/>
              <a:t>L'objectif n'était donc pas uniquement de créer un site vitrine statique, mais une véritable application web avec un front-office et un back-office.</a:t>
            </a:r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08707-2D50-6E24-29A8-CC65DA7A3D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022423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~2m : Justifier les technologies.</a:t>
            </a:r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Pour le développement PHP et Symfony.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Symfony, </a:t>
            </a:r>
            <a:r>
              <a:rPr lang="fr-FR" dirty="0" err="1"/>
              <a:t>framework</a:t>
            </a:r>
            <a:r>
              <a:rPr lang="fr-FR" dirty="0"/>
              <a:t> qui permet de structurer clairement une application web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dirty="0"/>
              <a:t>avec </a:t>
            </a:r>
            <a:r>
              <a:rPr lang="fr-FR" dirty="0" err="1"/>
              <a:t>controllers</a:t>
            </a:r>
            <a:r>
              <a:rPr lang="fr-FR" dirty="0"/>
              <a:t>, les repositories, Doctrine, Twig, les formulaires et la sécurité.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La version utilisée est Symfony 7.4.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BDD, j'utilise </a:t>
            </a:r>
            <a:r>
              <a:rPr lang="fr-FR" dirty="0" err="1"/>
              <a:t>MariaDB</a:t>
            </a:r>
            <a:r>
              <a:rPr lang="fr-FR" dirty="0"/>
              <a:t>, avec Doctrine ORM.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dirty="0"/>
              <a:t>Doctrine, manipuler les données avec des objets PHP et des repositories, plutôt que d'écrire directement toutes les requêtes SQL.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Rendu, j'utilise Twig.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dirty="0"/>
              <a:t>Créer des </a:t>
            </a:r>
            <a:r>
              <a:rPr lang="fr-FR" dirty="0" err="1"/>
              <a:t>templates</a:t>
            </a:r>
            <a:r>
              <a:rPr lang="fr-FR" dirty="0"/>
              <a:t> réutilisables et de générer dynamiquement le HTML à partir des données récupérées depuis la base.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Pour le </a:t>
            </a:r>
            <a:r>
              <a:rPr lang="fr-FR" dirty="0" err="1"/>
              <a:t>front-end</a:t>
            </a:r>
            <a:r>
              <a:rPr lang="fr-FR" dirty="0"/>
              <a:t>, j'utilise Bootstrap 5.3.8 pour la structure, le responsive et certains composants, et Font Awesome pour les icônes.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 err="1"/>
              <a:t>Webpack</a:t>
            </a:r>
            <a:r>
              <a:rPr lang="fr-FR" dirty="0"/>
              <a:t> Encore est utilisé pour gérer les fichiers JavaScript et CSS et générer les assets utilisés par l'application.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Enfin, j'utilise Docker pour avoir un environnement de développement composé de plusieurs services : PHP, Caddy, Node.js, </a:t>
            </a:r>
            <a:r>
              <a:rPr lang="fr-FR" dirty="0" err="1"/>
              <a:t>MariaDB</a:t>
            </a:r>
            <a:r>
              <a:rPr lang="fr-FR" dirty="0"/>
              <a:t> et phpMyAdmin.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~2m30 : </a:t>
            </a:r>
            <a:r>
              <a:rPr dirty="0" err="1"/>
              <a:t>Montrer</a:t>
            </a:r>
            <a:r>
              <a:rPr dirty="0"/>
              <a:t> le </a:t>
            </a:r>
            <a:r>
              <a:rPr dirty="0" err="1"/>
              <a:t>vrai</a:t>
            </a:r>
            <a:r>
              <a:rPr dirty="0"/>
              <a:t> UML et </a:t>
            </a:r>
            <a:r>
              <a:rPr dirty="0" err="1"/>
              <a:t>expliquer</a:t>
            </a:r>
            <a:r>
              <a:rPr dirty="0"/>
              <a:t> les relations.</a:t>
            </a:r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Les cinq entités principales sont User, Product, </a:t>
            </a:r>
            <a:r>
              <a:rPr lang="fr-FR" dirty="0" err="1"/>
              <a:t>Category</a:t>
            </a:r>
            <a:r>
              <a:rPr lang="fr-FR" dirty="0"/>
              <a:t>, </a:t>
            </a:r>
            <a:r>
              <a:rPr lang="fr-FR" dirty="0" err="1"/>
              <a:t>Review</a:t>
            </a:r>
            <a:r>
              <a:rPr lang="fr-FR" dirty="0"/>
              <a:t> et </a:t>
            </a:r>
            <a:r>
              <a:rPr lang="fr-FR" dirty="0" err="1"/>
              <a:t>QuoteRequest</a:t>
            </a:r>
            <a:r>
              <a:rPr lang="fr-FR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Un utilisateur peut par exemple créer plusieurs avis et plusieurs demandes de devis.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Un produit peut appartenir à plusieurs catégories, et une catégorie peut contenir plusieurs produits. Il s'agit donc d'une relation </a:t>
            </a:r>
            <a:r>
              <a:rPr lang="fr-FR" dirty="0" err="1"/>
              <a:t>ManyToMany</a:t>
            </a:r>
            <a:r>
              <a:rPr lang="fr-FR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Les avis sont également liés à un utilisateur et à un produit.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Cette modélisation est ensuite représentée dans Symfony par des entités Doctrine.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Par exemple, l'entité Product contient les propriétés du produit et les relations avec </a:t>
            </a:r>
            <a:r>
              <a:rPr lang="fr-FR" dirty="0" err="1"/>
              <a:t>Category</a:t>
            </a:r>
            <a:r>
              <a:rPr lang="fr-FR" dirty="0"/>
              <a:t> et </a:t>
            </a:r>
            <a:r>
              <a:rPr lang="fr-FR" dirty="0" err="1"/>
              <a:t>Review</a:t>
            </a:r>
            <a:r>
              <a:rPr lang="fr-FR"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F3096-7536-B5B1-3F83-7B151DB9C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C9ABB6-E8EB-34D9-0E51-A1B3568E95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9CD610-85EC-817B-B81E-0BC3E7F9D8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~2m30 : </a:t>
            </a:r>
            <a:r>
              <a:rPr dirty="0" err="1"/>
              <a:t>Montrer</a:t>
            </a:r>
            <a:r>
              <a:rPr dirty="0"/>
              <a:t> le </a:t>
            </a:r>
            <a:r>
              <a:rPr dirty="0" err="1"/>
              <a:t>vrai</a:t>
            </a:r>
            <a:r>
              <a:rPr dirty="0"/>
              <a:t> UML et </a:t>
            </a:r>
            <a:r>
              <a:rPr dirty="0" err="1"/>
              <a:t>expliquer</a:t>
            </a:r>
            <a:r>
              <a:rPr dirty="0"/>
              <a:t> les relations.</a:t>
            </a:r>
            <a:endParaRPr lang="pt-BR" dirty="0"/>
          </a:p>
          <a:p>
            <a:r>
              <a:rPr lang="fr-FR" dirty="0"/>
              <a:t>Doctrine utilise ensuite ces informations pour faire le lien entre les objets PHP et les tables de la base de données.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2B959D-F341-A086-E112-86DC7B0F51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490407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~1m30 : Comparer la maquette et le site.</a:t>
            </a:r>
            <a:endParaRPr lang="pt-BR" dirty="0"/>
          </a:p>
          <a:p>
            <a:r>
              <a:rPr lang="fr-FR" dirty="0"/>
              <a:t>La maquette m'a servi de référence pour construire l'interface.</a:t>
            </a:r>
          </a:p>
          <a:p>
            <a:r>
              <a:rPr lang="fr-FR" dirty="0"/>
              <a:t>J'ai d'abord repris la structure générale : la navigation, le </a:t>
            </a:r>
            <a:r>
              <a:rPr lang="fr-FR" dirty="0" err="1"/>
              <a:t>hero</a:t>
            </a:r>
            <a:r>
              <a:rPr lang="fr-FR" dirty="0"/>
              <a:t>, les services, les produits et les différentes sections.</a:t>
            </a:r>
          </a:p>
          <a:p>
            <a:r>
              <a:rPr lang="fr-FR" dirty="0"/>
              <a:t>Ensuite, j'ai intégré cette structure avec Twig et HTML.</a:t>
            </a:r>
          </a:p>
          <a:p>
            <a:r>
              <a:rPr lang="fr-FR" dirty="0"/>
              <a:t>Pour la mise en page responsive, j'ai utilisé principalement Bootstrap.</a:t>
            </a:r>
          </a:p>
          <a:p>
            <a:r>
              <a:rPr lang="fr-FR" dirty="0"/>
              <a:t>J'ai ensuite ajouté mon propre CSS pour adapter l'identité visuelle du site, notamment les couleurs, les cartes, le </a:t>
            </a:r>
            <a:r>
              <a:rPr lang="fr-FR" dirty="0" err="1"/>
              <a:t>hero</a:t>
            </a:r>
            <a:r>
              <a:rPr lang="fr-FR" dirty="0"/>
              <a:t> et les boutons.</a:t>
            </a:r>
          </a:p>
          <a:p>
            <a:r>
              <a:rPr lang="fr-FR" dirty="0"/>
              <a:t>Il y a cependant eu quelques adaptations entre la maquette et la réalisation finale, notamment pour obtenir un comportement correct sur les différentes tailles d'écran.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0E4A0-1160-12CB-E4F2-953041060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3BA787-D6BD-7159-9C9C-BB6325B16A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4702FE-F111-C858-A01B-0E5DD6A046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~1m30 : </a:t>
            </a:r>
            <a:r>
              <a:rPr lang="pt-BR" dirty="0" err="1"/>
              <a:t>Fixtures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85137-0C77-2D0C-C154-F7E27428D8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470207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~2m : </a:t>
            </a:r>
            <a:r>
              <a:rPr dirty="0" err="1"/>
              <a:t>Expliquer</a:t>
            </a:r>
            <a:r>
              <a:rPr dirty="0"/>
              <a:t> Twig, Bootstrap, CSS et JS.</a:t>
            </a:r>
            <a:endParaRPr lang="pt-BR" dirty="0"/>
          </a:p>
          <a:p>
            <a:r>
              <a:rPr lang="fr-FR" dirty="0"/>
              <a:t>Pour le </a:t>
            </a:r>
            <a:r>
              <a:rPr lang="fr-FR" dirty="0" err="1"/>
              <a:t>front-end</a:t>
            </a:r>
            <a:r>
              <a:rPr lang="fr-FR" dirty="0"/>
              <a:t>, j'utilise principalement Twig, HTML, Bootstrap, CSS et JavaScript.</a:t>
            </a:r>
          </a:p>
          <a:p>
            <a:r>
              <a:rPr lang="fr-FR" dirty="0"/>
              <a:t>Twig est utilisé pour générer les pages dynamiquement.</a:t>
            </a:r>
          </a:p>
          <a:p>
            <a:r>
              <a:rPr lang="fr-FR" dirty="0"/>
              <a:t>Par exemple, lorsqu'un </a:t>
            </a:r>
            <a:r>
              <a:rPr lang="fr-FR" dirty="0" err="1"/>
              <a:t>controller</a:t>
            </a:r>
            <a:r>
              <a:rPr lang="fr-FR" dirty="0"/>
              <a:t> récupère une liste de produits, Twig peut parcourir cette liste et générer automatiquement les cartes produits.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14650-3623-84CC-CAD4-60560A776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443CD2-0F4C-D245-27BF-960F96E6D3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3E3190-DACF-AF3D-F44E-B9E3A8EC83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~2m : </a:t>
            </a:r>
            <a:r>
              <a:rPr dirty="0" err="1"/>
              <a:t>Expliquer</a:t>
            </a:r>
            <a:r>
              <a:rPr dirty="0"/>
              <a:t> Twig, Bootstrap, CSS et JS.</a:t>
            </a:r>
            <a:endParaRPr lang="pt-BR" dirty="0"/>
          </a:p>
          <a:p>
            <a:r>
              <a:rPr lang="fr-FR" dirty="0"/>
              <a:t>Pour le CSS, j'utilise Bootstrap pour le système de grille, le responsive, les boutons, les formulaires et certains composants.</a:t>
            </a:r>
          </a:p>
          <a:p>
            <a:r>
              <a:rPr lang="fr-FR" dirty="0"/>
              <a:t>J'ai ensuite ajouté des classes personnalisées pour respecter le design du projet, par exemple « service-</a:t>
            </a:r>
            <a:r>
              <a:rPr lang="fr-FR" dirty="0" err="1"/>
              <a:t>card</a:t>
            </a:r>
            <a:r>
              <a:rPr lang="fr-FR" dirty="0"/>
              <a:t> », « </a:t>
            </a:r>
            <a:r>
              <a:rPr lang="fr-FR" dirty="0" err="1"/>
              <a:t>hero</a:t>
            </a:r>
            <a:r>
              <a:rPr lang="fr-FR" dirty="0"/>
              <a:t>-section » ou « </a:t>
            </a:r>
            <a:r>
              <a:rPr lang="fr-FR" dirty="0" err="1"/>
              <a:t>btn</a:t>
            </a:r>
            <a:r>
              <a:rPr lang="fr-FR" dirty="0"/>
              <a:t>-gold ».</a:t>
            </a:r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B2D9A-4DAD-4B55-3C66-DC40F5C056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254309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E1159-95DD-E7EA-9203-51C0FFFA9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D2DFDE-0E7A-7D7A-2129-6FCC732C28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F9DA19-03A8-92C7-68E6-27C40F8057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~2m : </a:t>
            </a:r>
            <a:r>
              <a:rPr dirty="0" err="1"/>
              <a:t>Expliquer</a:t>
            </a:r>
            <a:r>
              <a:rPr dirty="0"/>
              <a:t> Twig, Bootstrap, CSS et JS.</a:t>
            </a:r>
            <a:endParaRPr lang="pt-BR" dirty="0"/>
          </a:p>
          <a:p>
            <a:r>
              <a:rPr lang="fr-FR" dirty="0"/>
              <a:t>Le JavaScript reste relativement léger dans cette version du projet. Une partie des interactions nécessaires est déjà fournie par Bootstrap.</a:t>
            </a:r>
          </a:p>
          <a:p>
            <a:r>
              <a:rPr lang="fr-FR" dirty="0"/>
              <a:t>Les fichiers CSS et JavaScript sont ensuite compilés et gérés avec </a:t>
            </a:r>
            <a:r>
              <a:rPr lang="fr-FR" dirty="0" err="1"/>
              <a:t>Webpack</a:t>
            </a:r>
            <a:r>
              <a:rPr lang="fr-FR" dirty="0"/>
              <a:t> Encore.</a:t>
            </a:r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0F60C-60C5-B1C0-D491-2D8C61EDFF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667976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~2m : </a:t>
            </a:r>
            <a:r>
              <a:rPr dirty="0" err="1"/>
              <a:t>Expliquer</a:t>
            </a:r>
            <a:r>
              <a:rPr dirty="0"/>
              <a:t> MVC avec les </a:t>
            </a:r>
            <a:r>
              <a:rPr dirty="0" err="1"/>
              <a:t>vrais</a:t>
            </a:r>
            <a:r>
              <a:rPr dirty="0"/>
              <a:t> controllers.</a:t>
            </a:r>
            <a:endParaRPr lang="pt-BR" dirty="0"/>
          </a:p>
          <a:p>
            <a:r>
              <a:rPr lang="fr-FR" dirty="0"/>
              <a:t>Le </a:t>
            </a:r>
            <a:r>
              <a:rPr lang="fr-FR" dirty="0" err="1"/>
              <a:t>back-end</a:t>
            </a:r>
            <a:r>
              <a:rPr lang="fr-FR" dirty="0"/>
              <a:t> est basé sur le principe MVC.</a:t>
            </a:r>
          </a:p>
          <a:p>
            <a:r>
              <a:rPr lang="fr-FR" dirty="0"/>
              <a:t>La partie Model est représentée principalement par les entités Doctrine et les repositories.</a:t>
            </a:r>
          </a:p>
          <a:p>
            <a:r>
              <a:rPr lang="fr-FR" dirty="0"/>
              <a:t>Les </a:t>
            </a:r>
            <a:r>
              <a:rPr lang="fr-FR" dirty="0" err="1"/>
              <a:t>controllers</a:t>
            </a:r>
            <a:r>
              <a:rPr lang="fr-FR" dirty="0"/>
              <a:t> reçoivent les requêtes et coordonnent le traitement.</a:t>
            </a:r>
          </a:p>
          <a:p>
            <a:r>
              <a:rPr lang="fr-FR" dirty="0"/>
              <a:t>Enfin, la </a:t>
            </a:r>
            <a:r>
              <a:rPr lang="fr-FR" dirty="0" err="1"/>
              <a:t>View</a:t>
            </a:r>
            <a:r>
              <a:rPr lang="fr-FR" dirty="0"/>
              <a:t> correspond aux </a:t>
            </a:r>
            <a:r>
              <a:rPr lang="fr-FR" dirty="0" err="1"/>
              <a:t>templates</a:t>
            </a:r>
            <a:r>
              <a:rPr lang="fr-FR" dirty="0"/>
              <a:t> Twig.</a:t>
            </a:r>
          </a:p>
          <a:p>
            <a:r>
              <a:rPr lang="fr-FR" dirty="0"/>
              <a:t>Par exemple, lorsqu'un utilisateur consulte la liste des produits, la requête arrive sur </a:t>
            </a:r>
            <a:r>
              <a:rPr lang="fr-FR" dirty="0" err="1"/>
              <a:t>ProductController</a:t>
            </a:r>
            <a:r>
              <a:rPr lang="fr-FR" dirty="0"/>
              <a:t>.</a:t>
            </a:r>
          </a:p>
          <a:p>
            <a:r>
              <a:rPr lang="fr-FR" dirty="0"/>
              <a:t>Le </a:t>
            </a:r>
            <a:r>
              <a:rPr lang="fr-FR" dirty="0" err="1"/>
              <a:t>controller</a:t>
            </a:r>
            <a:r>
              <a:rPr lang="fr-FR" dirty="0"/>
              <a:t> utilise </a:t>
            </a:r>
            <a:r>
              <a:rPr lang="fr-FR" dirty="0" err="1"/>
              <a:t>ProductRepository</a:t>
            </a:r>
            <a:r>
              <a:rPr lang="fr-FR" dirty="0"/>
              <a:t> pour récupérer les produits actifs.</a:t>
            </a:r>
          </a:p>
          <a:p>
            <a:r>
              <a:rPr lang="fr-FR" dirty="0"/>
              <a:t>Il transmet ensuite les données au </a:t>
            </a:r>
            <a:r>
              <a:rPr lang="fr-FR" dirty="0" err="1"/>
              <a:t>template</a:t>
            </a:r>
            <a:r>
              <a:rPr lang="fr-FR" dirty="0"/>
              <a:t> Twig.</a:t>
            </a:r>
          </a:p>
          <a:p>
            <a:r>
              <a:rPr lang="fr-FR" dirty="0"/>
              <a:t>Twig génère le HTML qui est finalement envoyé au navigateur.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~1m30 : </a:t>
            </a:r>
            <a:r>
              <a:rPr dirty="0" err="1"/>
              <a:t>Montrer</a:t>
            </a:r>
            <a:r>
              <a:rPr dirty="0"/>
              <a:t> Repository → Doctrine → SQL.</a:t>
            </a:r>
            <a:endParaRPr lang="pt-BR" dirty="0"/>
          </a:p>
          <a:p>
            <a:r>
              <a:rPr lang="fr-FR" dirty="0"/>
              <a:t>Un point important dans mon projet est l'utilisation de Doctrine.</a:t>
            </a:r>
          </a:p>
          <a:p>
            <a:r>
              <a:rPr lang="fr-FR" dirty="0"/>
              <a:t>Le </a:t>
            </a:r>
            <a:r>
              <a:rPr lang="fr-FR" dirty="0" err="1"/>
              <a:t>controller</a:t>
            </a:r>
            <a:r>
              <a:rPr lang="fr-FR" dirty="0"/>
              <a:t> ne communique pas directement avec </a:t>
            </a:r>
            <a:r>
              <a:rPr lang="fr-FR" dirty="0" err="1"/>
              <a:t>MariaDB</a:t>
            </a:r>
            <a:r>
              <a:rPr lang="fr-FR" dirty="0"/>
              <a:t>.</a:t>
            </a:r>
          </a:p>
          <a:p>
            <a:r>
              <a:rPr lang="fr-FR" dirty="0"/>
              <a:t>Il utilise un repository.</a:t>
            </a:r>
          </a:p>
          <a:p>
            <a:r>
              <a:rPr lang="fr-FR" dirty="0"/>
              <a:t>Dans le repository, je peux utiliser les méthodes fournies par Doctrine ou construire des requêtes plus spécifiques avec </a:t>
            </a:r>
            <a:r>
              <a:rPr lang="fr-FR" dirty="0" err="1"/>
              <a:t>QueryBuilder</a:t>
            </a:r>
            <a:r>
              <a:rPr lang="fr-FR" dirty="0"/>
              <a:t> et DQL.</a:t>
            </a:r>
          </a:p>
          <a:p>
            <a:r>
              <a:rPr lang="fr-FR" dirty="0"/>
              <a:t>Doctrine traduit ensuite cette logique en SQL compatible avec la base de données.</a:t>
            </a:r>
          </a:p>
          <a:p>
            <a:r>
              <a:rPr lang="fr-FR" dirty="0"/>
              <a:t>Par exemple, j'ai une méthode personnalisée « </a:t>
            </a:r>
            <a:r>
              <a:rPr lang="fr-FR" dirty="0" err="1"/>
              <a:t>findLatestApproved</a:t>
            </a:r>
            <a:r>
              <a:rPr lang="fr-FR" dirty="0"/>
              <a:t> » dans </a:t>
            </a:r>
            <a:r>
              <a:rPr lang="fr-FR" dirty="0" err="1"/>
              <a:t>ReviewRepository</a:t>
            </a:r>
            <a:r>
              <a:rPr lang="fr-FR" dirty="0"/>
              <a:t> pour récupérer les 6 dernières avis.</a:t>
            </a:r>
          </a:p>
          <a:p>
            <a:r>
              <a:rPr lang="fr-FR" dirty="0"/>
              <a:t>Cela permet de garder la logique d'accès aux données dans le repository plutôt que de mettre directement les requêtes dans le </a:t>
            </a:r>
            <a:r>
              <a:rPr lang="fr-FR" dirty="0" err="1"/>
              <a:t>controller</a:t>
            </a:r>
            <a:r>
              <a:rPr lang="fr-FR"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E95BA-2664-B704-434A-81C247A4D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CAB29D-25D9-AB3A-3450-01B99CF03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41B860-6C54-5A5B-DD4A-3085473235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~2m : </a:t>
            </a:r>
            <a:r>
              <a:rPr dirty="0" err="1"/>
              <a:t>Expliquer</a:t>
            </a:r>
            <a:r>
              <a:rPr dirty="0"/>
              <a:t> </a:t>
            </a:r>
            <a:r>
              <a:rPr lang="pt-BR" dirty="0"/>
              <a:t>CRUD</a:t>
            </a:r>
            <a:r>
              <a:rPr dirty="0"/>
              <a:t>.</a:t>
            </a:r>
            <a:endParaRPr lang="pt-BR" dirty="0"/>
          </a:p>
          <a:p>
            <a:endParaRPr lang="pt-BR" dirty="0"/>
          </a:p>
          <a:p>
            <a:r>
              <a:rPr lang="pt-BR" dirty="0" err="1"/>
              <a:t>HandleRequest</a:t>
            </a:r>
            <a:r>
              <a:rPr lang="pt-BR" dirty="0"/>
              <a:t> : </a:t>
            </a:r>
            <a:r>
              <a:rPr lang="fr-FR" dirty="0" err="1"/>
              <a:t>Lê</a:t>
            </a:r>
            <a:r>
              <a:rPr lang="fr-FR" dirty="0"/>
              <a:t> os </a:t>
            </a:r>
            <a:r>
              <a:rPr lang="fr-FR" dirty="0" err="1"/>
              <a:t>dados</a:t>
            </a:r>
            <a:r>
              <a:rPr lang="fr-FR" dirty="0"/>
              <a:t> </a:t>
            </a:r>
            <a:r>
              <a:rPr lang="fr-FR" dirty="0" err="1"/>
              <a:t>enviados</a:t>
            </a:r>
            <a:r>
              <a:rPr lang="fr-FR" dirty="0"/>
              <a:t> pelo </a:t>
            </a:r>
            <a:r>
              <a:rPr lang="fr-FR" dirty="0" err="1"/>
              <a:t>usuário</a:t>
            </a:r>
            <a:r>
              <a:rPr lang="fr-FR" dirty="0"/>
              <a:t> na </a:t>
            </a:r>
            <a:r>
              <a:rPr lang="fr-FR" dirty="0" err="1"/>
              <a:t>requisição</a:t>
            </a:r>
            <a:r>
              <a:rPr lang="fr-FR" dirty="0"/>
              <a:t> HTTP e os </a:t>
            </a:r>
            <a:r>
              <a:rPr lang="fr-FR" dirty="0" err="1"/>
              <a:t>injeta</a:t>
            </a:r>
            <a:r>
              <a:rPr lang="fr-FR" dirty="0"/>
              <a:t> </a:t>
            </a:r>
            <a:r>
              <a:rPr lang="fr-FR" dirty="0" err="1"/>
              <a:t>dentro</a:t>
            </a:r>
            <a:r>
              <a:rPr lang="fr-FR" dirty="0"/>
              <a:t> do </a:t>
            </a:r>
            <a:r>
              <a:rPr lang="fr-FR" dirty="0" err="1"/>
              <a:t>formulário</a:t>
            </a:r>
            <a:r>
              <a:rPr lang="fr-FR" dirty="0"/>
              <a:t>.</a:t>
            </a:r>
          </a:p>
          <a:p>
            <a:r>
              <a:rPr lang="fr-FR" dirty="0"/>
              <a:t>O </a:t>
            </a:r>
            <a:r>
              <a:rPr lang="fr-FR" dirty="0" err="1"/>
              <a:t>código</a:t>
            </a:r>
            <a:r>
              <a:rPr lang="fr-FR" dirty="0"/>
              <a:t> HTTP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Response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::HTTP_SEE_OTHER</a:t>
            </a:r>
            <a:r>
              <a:rPr lang="fr-FR" dirty="0"/>
              <a:t> (</a:t>
            </a:r>
            <a:r>
              <a:rPr lang="fr-FR" dirty="0" err="1"/>
              <a:t>código</a:t>
            </a:r>
            <a:r>
              <a:rPr lang="fr-FR" dirty="0"/>
              <a:t> 303) garante que a </a:t>
            </a:r>
            <a:r>
              <a:rPr lang="fr-FR" dirty="0" err="1"/>
              <a:t>requisição</a:t>
            </a:r>
            <a:r>
              <a:rPr lang="fr-FR" dirty="0"/>
              <a:t> de </a:t>
            </a:r>
            <a:r>
              <a:rPr lang="fr-FR" dirty="0" err="1"/>
              <a:t>redirecionamento</a:t>
            </a:r>
            <a:r>
              <a:rPr lang="fr-FR" dirty="0"/>
              <a:t> mude </a:t>
            </a:r>
            <a:r>
              <a:rPr lang="fr-FR" dirty="0" err="1"/>
              <a:t>corretamente</a:t>
            </a:r>
            <a:r>
              <a:rPr lang="fr-FR" dirty="0"/>
              <a:t> para 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</a:t>
            </a:r>
            <a:r>
              <a:rPr lang="fr-FR" dirty="0"/>
              <a:t>.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isCsrfTokenValid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(...)</a:t>
            </a:r>
            <a:r>
              <a:rPr lang="fr-FR" dirty="0"/>
              <a:t>: Compara o </a:t>
            </a:r>
            <a:r>
              <a:rPr lang="fr-FR" dirty="0" err="1"/>
              <a:t>token</a:t>
            </a:r>
            <a:r>
              <a:rPr lang="fr-FR" dirty="0"/>
              <a:t> </a:t>
            </a:r>
            <a:r>
              <a:rPr lang="fr-FR" dirty="0" err="1"/>
              <a:t>enviado</a:t>
            </a:r>
            <a:r>
              <a:rPr lang="fr-FR" dirty="0"/>
              <a:t> com o </a:t>
            </a:r>
            <a:r>
              <a:rPr lang="fr-FR" dirty="0" err="1"/>
              <a:t>token</a:t>
            </a:r>
            <a:r>
              <a:rPr lang="fr-FR" dirty="0"/>
              <a:t> </a:t>
            </a:r>
            <a:r>
              <a:rPr lang="fr-FR" dirty="0" err="1"/>
              <a:t>gerado</a:t>
            </a:r>
            <a:r>
              <a:rPr lang="fr-FR" dirty="0"/>
              <a:t> pelo </a:t>
            </a:r>
            <a:r>
              <a:rPr lang="fr-FR" dirty="0" err="1"/>
              <a:t>servidor</a:t>
            </a:r>
            <a:r>
              <a:rPr lang="fr-FR" dirty="0"/>
              <a:t> para </a:t>
            </a:r>
            <a:r>
              <a:rPr lang="fr-FR" dirty="0" err="1"/>
              <a:t>aquela</a:t>
            </a:r>
            <a:r>
              <a:rPr lang="fr-FR" dirty="0"/>
              <a:t> </a:t>
            </a:r>
            <a:r>
              <a:rPr lang="fr-FR" dirty="0" err="1"/>
              <a:t>ação</a:t>
            </a:r>
            <a:r>
              <a:rPr lang="fr-FR" dirty="0"/>
              <a:t> </a:t>
            </a:r>
            <a:r>
              <a:rPr lang="fr-FR" dirty="0" err="1"/>
              <a:t>específica</a:t>
            </a:r>
            <a:r>
              <a:rPr lang="fr-FR" dirty="0"/>
              <a:t>.</a:t>
            </a:r>
          </a:p>
          <a:p>
            <a:r>
              <a:rPr lang="fr-FR" dirty="0"/>
              <a:t>O </a:t>
            </a:r>
            <a:r>
              <a:rPr lang="fr-FR" dirty="0" err="1"/>
              <a:t>identificador</a:t>
            </a:r>
            <a:r>
              <a:rPr lang="fr-FR" dirty="0"/>
              <a:t> </a:t>
            </a:r>
            <a:r>
              <a:rPr lang="fr-FR" dirty="0" err="1"/>
              <a:t>único</a:t>
            </a:r>
            <a:r>
              <a:rPr lang="fr-FR" dirty="0"/>
              <a:t> do </a:t>
            </a:r>
            <a:r>
              <a:rPr lang="fr-FR" dirty="0" err="1"/>
              <a:t>token</a:t>
            </a:r>
            <a:r>
              <a:rPr lang="fr-FR" dirty="0"/>
              <a:t> é composto pela string 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delete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</a:t>
            </a:r>
            <a:r>
              <a:rPr lang="fr-FR" dirty="0"/>
              <a:t> </a:t>
            </a:r>
            <a:r>
              <a:rPr lang="fr-FR" dirty="0" err="1"/>
              <a:t>concatenada</a:t>
            </a:r>
            <a:r>
              <a:rPr lang="fr-FR" dirty="0"/>
              <a:t> com o ID da </a:t>
            </a:r>
            <a:r>
              <a:rPr lang="fr-FR" dirty="0" err="1"/>
              <a:t>avaliação</a:t>
            </a:r>
            <a:r>
              <a:rPr lang="fr-FR" dirty="0"/>
              <a:t> (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review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-&gt;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getId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fr-FR" dirty="0"/>
              <a:t>).</a:t>
            </a: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request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-&gt;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getPayload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()-&gt;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getString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('_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')</a:t>
            </a:r>
            <a:r>
              <a:rPr lang="fr-FR" dirty="0"/>
              <a:t>: Busca de forma </a:t>
            </a:r>
            <a:r>
              <a:rPr lang="fr-FR" dirty="0" err="1"/>
              <a:t>segura</a:t>
            </a:r>
            <a:r>
              <a:rPr lang="fr-FR" dirty="0"/>
              <a:t> o </a:t>
            </a:r>
            <a:r>
              <a:rPr lang="fr-FR" dirty="0" err="1"/>
              <a:t>valor</a:t>
            </a:r>
            <a:r>
              <a:rPr lang="fr-FR" dirty="0"/>
              <a:t> do campo </a:t>
            </a:r>
            <a:r>
              <a:rPr lang="fr-FR" dirty="0" err="1"/>
              <a:t>oculto</a:t>
            </a:r>
            <a:r>
              <a:rPr lang="fr-FR" dirty="0"/>
              <a:t> 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r-FR" dirty="0"/>
              <a:t> </a:t>
            </a:r>
            <a:r>
              <a:rPr lang="fr-FR" dirty="0" err="1"/>
              <a:t>enviado</a:t>
            </a:r>
            <a:r>
              <a:rPr lang="fr-FR" dirty="0"/>
              <a:t> </a:t>
            </a:r>
            <a:r>
              <a:rPr lang="fr-FR" dirty="0" err="1"/>
              <a:t>dentro</a:t>
            </a:r>
            <a:r>
              <a:rPr lang="fr-FR" dirty="0"/>
              <a:t> do </a:t>
            </a:r>
            <a:r>
              <a:rPr lang="fr-FR" dirty="0" err="1"/>
              <a:t>payload</a:t>
            </a:r>
            <a:r>
              <a:rPr lang="fr-FR" dirty="0"/>
              <a:t> da </a:t>
            </a:r>
            <a:r>
              <a:rPr lang="fr-FR" dirty="0" err="1"/>
              <a:t>requisição</a:t>
            </a:r>
            <a:r>
              <a:rPr lang="fr-FR" dirty="0"/>
              <a:t> POST.</a:t>
            </a:r>
          </a:p>
          <a:p>
            <a:pPr lvl="0"/>
            <a:r>
              <a:rPr lang="fr-FR" dirty="0" err="1"/>
              <a:t>evitar</a:t>
            </a:r>
            <a:r>
              <a:rPr lang="fr-FR" dirty="0"/>
              <a:t> </a:t>
            </a:r>
            <a:r>
              <a:rPr lang="fr-FR" dirty="0" err="1"/>
              <a:t>ataques</a:t>
            </a:r>
            <a:r>
              <a:rPr lang="fr-FR" dirty="0"/>
              <a:t> de </a:t>
            </a:r>
            <a:r>
              <a:rPr lang="fr-FR" i="1" dirty="0"/>
              <a:t>Cross-Site </a:t>
            </a:r>
            <a:r>
              <a:rPr lang="fr-FR" i="1" dirty="0" err="1"/>
              <a:t>Request</a:t>
            </a:r>
            <a:r>
              <a:rPr lang="fr-FR" i="1" dirty="0"/>
              <a:t> </a:t>
            </a:r>
            <a:r>
              <a:rPr lang="fr-FR" i="1" dirty="0" err="1"/>
              <a:t>Forgery</a:t>
            </a:r>
            <a:r>
              <a:rPr lang="fr-FR" i="1" dirty="0"/>
              <a:t> (CSRF)</a:t>
            </a:r>
            <a:r>
              <a:rPr lang="fr-FR" dirty="0"/>
              <a:t>, </a:t>
            </a:r>
            <a:r>
              <a:rPr lang="fr-FR" dirty="0" err="1"/>
              <a:t>garantindo</a:t>
            </a:r>
            <a:r>
              <a:rPr lang="fr-FR" dirty="0"/>
              <a:t> que a </a:t>
            </a:r>
            <a:r>
              <a:rPr lang="fr-FR" dirty="0" err="1"/>
              <a:t>solicitação</a:t>
            </a:r>
            <a:r>
              <a:rPr lang="fr-FR" dirty="0"/>
              <a:t> de </a:t>
            </a:r>
            <a:r>
              <a:rPr lang="fr-FR" dirty="0" err="1"/>
              <a:t>exclusão</a:t>
            </a:r>
            <a:r>
              <a:rPr lang="fr-FR" dirty="0"/>
              <a:t> </a:t>
            </a:r>
            <a:r>
              <a:rPr lang="fr-FR" dirty="0" err="1"/>
              <a:t>realmente</a:t>
            </a:r>
            <a:r>
              <a:rPr lang="fr-FR" dirty="0"/>
              <a:t> </a:t>
            </a:r>
            <a:r>
              <a:rPr lang="fr-FR" dirty="0" err="1"/>
              <a:t>veio</a:t>
            </a:r>
            <a:r>
              <a:rPr lang="fr-FR" dirty="0"/>
              <a:t> do </a:t>
            </a:r>
            <a:r>
              <a:rPr lang="fr-FR" dirty="0" err="1"/>
              <a:t>nosso</a:t>
            </a:r>
            <a:r>
              <a:rPr lang="fr-FR" dirty="0"/>
              <a:t> site/</a:t>
            </a:r>
            <a:r>
              <a:rPr lang="fr-FR" dirty="0" err="1"/>
              <a:t>sistema</a:t>
            </a:r>
            <a:r>
              <a:rPr lang="fr-FR" dirty="0"/>
              <a:t> e </a:t>
            </a:r>
            <a:r>
              <a:rPr lang="fr-FR" dirty="0" err="1"/>
              <a:t>não</a:t>
            </a:r>
            <a:r>
              <a:rPr lang="fr-FR" dirty="0"/>
              <a:t> de um site </a:t>
            </a:r>
            <a:r>
              <a:rPr lang="fr-FR" dirty="0" err="1"/>
              <a:t>malicioso</a:t>
            </a:r>
            <a:r>
              <a:rPr lang="fr-FR" dirty="0"/>
              <a:t> </a:t>
            </a:r>
            <a:r>
              <a:rPr lang="fr-FR" dirty="0" err="1"/>
              <a:t>externo</a:t>
            </a:r>
            <a:r>
              <a:rPr lang="fr-FR" dirty="0"/>
              <a:t> </a:t>
            </a:r>
            <a:r>
              <a:rPr lang="fr-FR" dirty="0" err="1"/>
              <a:t>tentando</a:t>
            </a:r>
            <a:r>
              <a:rPr lang="fr-FR" dirty="0"/>
              <a:t> </a:t>
            </a:r>
            <a:r>
              <a:rPr lang="fr-FR" dirty="0" err="1"/>
              <a:t>forçar</a:t>
            </a:r>
            <a:r>
              <a:rPr lang="fr-FR" dirty="0"/>
              <a:t> a </a:t>
            </a:r>
            <a:r>
              <a:rPr lang="fr-FR" dirty="0" err="1"/>
              <a:t>ação</a:t>
            </a:r>
            <a:r>
              <a:rPr lang="fr-FR" dirty="0"/>
              <a:t>.</a:t>
            </a:r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14190-D623-97D1-4157-043DF78781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602856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~1m : Forms, Security et Mailer.</a:t>
            </a:r>
            <a:endParaRPr lang="pt-BR" dirty="0"/>
          </a:p>
          <a:p>
            <a:r>
              <a:rPr lang="fr-FR" dirty="0"/>
              <a:t>Symfony me permet également de gérer les formulaires.</a:t>
            </a:r>
          </a:p>
          <a:p>
            <a:r>
              <a:rPr lang="fr-FR" dirty="0"/>
              <a:t>J'utilise des classes </a:t>
            </a:r>
            <a:r>
              <a:rPr lang="fr-FR" dirty="0" err="1"/>
              <a:t>FormType</a:t>
            </a:r>
            <a:r>
              <a:rPr lang="fr-FR" dirty="0"/>
              <a:t> pour la création d'utilisateurs, les demandes de devis, les avis et les formulaires d'administration.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61664-256E-100F-1E97-40212D33E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CFDC0A-4B0D-09F9-86D9-ECEA885D33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ABE0F3-864D-5B80-DD18-11119F1754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~1m : Forms, Security et Mailer.</a:t>
            </a:r>
            <a:endParaRPr lang="pt-BR" dirty="0"/>
          </a:p>
          <a:p>
            <a:r>
              <a:rPr lang="fr-FR" dirty="0"/>
              <a:t>La sécurité est gérée avec le composant Security de Symfony.</a:t>
            </a:r>
          </a:p>
          <a:p>
            <a:r>
              <a:rPr lang="fr-FR" dirty="0"/>
              <a:t>Les mots de passe ne sont pas stockés en clair : ils sont </a:t>
            </a:r>
            <a:r>
              <a:rPr lang="fr-FR" dirty="0" err="1"/>
              <a:t>hashés</a:t>
            </a:r>
            <a:r>
              <a:rPr lang="fr-FR" dirty="0"/>
              <a:t> avant d'être enregistrés.</a:t>
            </a:r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13D0E-062F-9342-9C9F-EA0DFE33B7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996173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~5m : </a:t>
            </a:r>
            <a:r>
              <a:rPr dirty="0" err="1"/>
              <a:t>Démonstration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direct.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~1m30 : Donner 2-3 </a:t>
            </a:r>
            <a:r>
              <a:rPr dirty="0" err="1"/>
              <a:t>difficultés</a:t>
            </a:r>
            <a:r>
              <a:rPr dirty="0"/>
              <a:t> et solutions.</a:t>
            </a:r>
            <a:endParaRPr lang="pt-BR" dirty="0"/>
          </a:p>
          <a:p>
            <a:r>
              <a:rPr lang="fr-FR" dirty="0"/>
              <a:t>Une des premières difficultés a été de bien comprendre la manière dont les différentes parties de Symfony communiquent entre elles.</a:t>
            </a:r>
          </a:p>
          <a:p>
            <a:endParaRPr lang="fr-FR" dirty="0"/>
          </a:p>
          <a:p>
            <a:r>
              <a:rPr lang="fr-FR" dirty="0"/>
              <a:t>Par exemple, il faut comprendre la différence entre une entité, un repository et un </a:t>
            </a:r>
            <a:r>
              <a:rPr lang="fr-FR" dirty="0" err="1"/>
              <a:t>controller</a:t>
            </a:r>
            <a:r>
              <a:rPr lang="fr-FR" dirty="0"/>
              <a:t>, et surtout savoir où placer chaque responsabilité.</a:t>
            </a:r>
          </a:p>
          <a:p>
            <a:endParaRPr lang="fr-FR" dirty="0"/>
          </a:p>
          <a:p>
            <a:r>
              <a:rPr lang="fr-FR" dirty="0"/>
              <a:t>J'ai également rencontré des difficultés avec les relations entre les entités Doctrine, notamment les relations entre produits et catégories.</a:t>
            </a:r>
          </a:p>
          <a:p>
            <a:endParaRPr lang="fr-FR" dirty="0"/>
          </a:p>
          <a:p>
            <a:r>
              <a:rPr lang="fr-FR" dirty="0"/>
              <a:t>Côté </a:t>
            </a:r>
            <a:r>
              <a:rPr lang="fr-FR" dirty="0" err="1"/>
              <a:t>front-end</a:t>
            </a:r>
            <a:r>
              <a:rPr lang="fr-FR" dirty="0"/>
              <a:t>, l'intégration de la maquette a demandé plusieurs adaptations pour obtenir un résultat responsif.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~1m : </a:t>
            </a:r>
            <a:r>
              <a:rPr dirty="0" err="1"/>
              <a:t>Présenter</a:t>
            </a:r>
            <a:r>
              <a:rPr dirty="0"/>
              <a:t> les </a:t>
            </a:r>
            <a:r>
              <a:rPr dirty="0" err="1"/>
              <a:t>évolutions</a:t>
            </a:r>
            <a:r>
              <a:rPr dirty="0"/>
              <a:t> </a:t>
            </a:r>
            <a:r>
              <a:rPr dirty="0" err="1"/>
              <a:t>prévues</a:t>
            </a:r>
            <a:r>
              <a:rPr dirty="0"/>
              <a:t>.</a:t>
            </a:r>
            <a:endParaRPr lang="pt-BR" dirty="0"/>
          </a:p>
          <a:p>
            <a:r>
              <a:rPr lang="fr-FR" dirty="0"/>
              <a:t>Le projet est encore en cours de développement, donc plusieurs évolutions sont prévues.</a:t>
            </a:r>
          </a:p>
          <a:p>
            <a:r>
              <a:rPr lang="fr-FR" dirty="0"/>
              <a:t>À court terme, je souhaite principalement finaliser certaines fonctionnalités existantes et améliorer les tests et les validations.</a:t>
            </a:r>
          </a:p>
          <a:p>
            <a:r>
              <a:rPr lang="fr-FR" dirty="0"/>
              <a:t>Ensuite, je pourrais ajouter la gestion des images, une recherche plus avancée, des filtres et une pagination.</a:t>
            </a:r>
          </a:p>
          <a:p>
            <a:r>
              <a:rPr lang="fr-FR" dirty="0"/>
              <a:t>À plus long terme, une évolution intéressante serait de permettre à un utilisateur de personnaliser directement un produit avant de faire une demande de devis.</a:t>
            </a:r>
          </a:p>
          <a:p>
            <a:r>
              <a:rPr lang="fr-FR" dirty="0"/>
              <a:t>Enfin, l'objectif final serait de pouvoir mettre l'application en production.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~45s : Conclusion et questions.</a:t>
            </a:r>
            <a:endParaRPr lang="pt-BR" dirty="0"/>
          </a:p>
          <a:p>
            <a:r>
              <a:rPr lang="fr-FR" dirty="0"/>
              <a:t>Pour conclure, ce projet m'a permis de mettre en pratique plusieurs notions importantes du développement d'applications web.</a:t>
            </a:r>
          </a:p>
          <a:p>
            <a:r>
              <a:rPr lang="fr-FR" dirty="0"/>
              <a:t>J'ai travaillé sur la conception de la base de données, les relations entre les entités, les </a:t>
            </a:r>
            <a:r>
              <a:rPr lang="fr-FR" dirty="0" err="1"/>
              <a:t>controllers</a:t>
            </a:r>
            <a:r>
              <a:rPr lang="fr-FR" dirty="0"/>
              <a:t>, les repositories, Doctrine, les formulaires, la sécurité et le rendu avec Twig.</a:t>
            </a:r>
          </a:p>
          <a:p>
            <a:r>
              <a:rPr lang="fr-FR" dirty="0"/>
              <a:t>J'ai également travaillé sur l'intégration </a:t>
            </a:r>
            <a:r>
              <a:rPr lang="fr-FR" dirty="0" err="1"/>
              <a:t>front-end</a:t>
            </a:r>
            <a:r>
              <a:rPr lang="fr-FR" dirty="0"/>
              <a:t> avec Bootstrap, CSS et JavaScript.</a:t>
            </a:r>
          </a:p>
          <a:p>
            <a:r>
              <a:rPr lang="fr-FR" dirty="0"/>
              <a:t>Le projet n'est pas encore complètement terminé, mais les principales bases techniques sont en place et l'application possède déjà un fonctionnement complet sur plusieurs parties.</a:t>
            </a:r>
          </a:p>
          <a:p>
            <a:r>
              <a:rPr lang="fr-FR" dirty="0"/>
              <a:t>Ce projet m'a surtout permis de mieux comprendre comment les différentes couches d'une application Symfony communiquent entre elles.</a:t>
            </a:r>
          </a:p>
          <a:p>
            <a:endParaRPr lang="fr-FR" dirty="0"/>
          </a:p>
          <a:p>
            <a:r>
              <a:rPr lang="fr-FR" dirty="0"/>
              <a:t>Merci pour votre attention.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50000"/>
            <a:lum/>
          </a:blip>
          <a:srcRect/>
          <a:stretch>
            <a:fillRect r="-4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r="-4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300619" y="451794"/>
            <a:ext cx="5590761" cy="18158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fr-FR" sz="4800" b="1" noProof="0" dirty="0">
                <a:solidFill>
                  <a:srgbClr val="2C2522"/>
                </a:solidFill>
              </a:rPr>
              <a:t>Site web de broderie</a:t>
            </a:r>
          </a:p>
          <a:p>
            <a:pPr algn="ctr"/>
            <a:r>
              <a:rPr lang="fr-FR" sz="4000" noProof="0" dirty="0">
                <a:solidFill>
                  <a:schemeClr val="accent6">
                    <a:lumMod val="50000"/>
                  </a:schemeClr>
                </a:solidFill>
              </a:rPr>
              <a:t>et personnalisation textile</a:t>
            </a:r>
          </a:p>
          <a:p>
            <a:pPr algn="ctr"/>
            <a:r>
              <a:rPr lang="fr-FR" sz="2400" dirty="0"/>
              <a:t>Application web développée avec Symfony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497845"/>
            <a:ext cx="304750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2000" noProof="0" dirty="0"/>
              <a:t>Aureo Ruffier</a:t>
            </a:r>
          </a:p>
          <a:p>
            <a:r>
              <a:rPr lang="fr-FR" sz="2000" noProof="0" dirty="0"/>
              <a:t>POEI – DWWM / Aout 2026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701434F-79A2-DB61-127D-E1C7527F13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6240" y="2651760"/>
            <a:ext cx="3539517" cy="23195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11480"/>
            <a:ext cx="175920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2800" b="1" noProof="0" dirty="0">
                <a:solidFill>
                  <a:srgbClr val="2C2522"/>
                </a:solidFill>
                <a:latin typeface="Aptos Display"/>
              </a:rPr>
              <a:t>Sommaire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19680" y="934700"/>
            <a:ext cx="5212080" cy="5374660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200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Contexte et objectifs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200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Technologies et environnement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200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Schéma UML / BDD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200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Maquette → réalisation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200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Fixtures → Faker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Front-end</a:t>
            </a:r>
            <a:endParaRPr kumimoji="0" lang="fr-FR" sz="2200" b="1" i="0" u="none" strike="noStrike" kern="1200" cap="none" spc="0" normalizeH="0" baseline="0" noProof="0" dirty="0">
              <a:ln>
                <a:noFill/>
              </a:ln>
              <a:solidFill>
                <a:srgbClr val="F79646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Back-end</a:t>
            </a:r>
            <a:r>
              <a:rPr kumimoji="0" lang="fr-FR" sz="2200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— MVC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200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Repository → Doctrine → SQL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200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CRUD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200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Forms et sécurité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200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Démonstration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Difficultées</a:t>
            </a:r>
            <a:r>
              <a:rPr kumimoji="0" lang="fr-FR" sz="2200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rencontrés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200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Évolutions prévues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200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Conclusion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19088"/>
            <a:ext cx="10881360" cy="18288"/>
          </a:xfrm>
          <a:prstGeom prst="rect">
            <a:avLst/>
          </a:prstGeom>
          <a:solidFill>
            <a:srgbClr val="EFE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fr-FR" sz="900" noProof="0" dirty="0">
                <a:solidFill>
                  <a:srgbClr val="69625E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38AA3-96AC-5444-2510-7A6F1F360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D45151-A5B0-6B8F-71F3-DEEA0B5ACAAF}"/>
              </a:ext>
            </a:extLst>
          </p:cNvPr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2800" b="1" noProof="0" dirty="0">
                <a:solidFill>
                  <a:srgbClr val="2C2522"/>
                </a:solidFill>
                <a:latin typeface="Aptos Display"/>
              </a:rPr>
              <a:t>Contexte et objectifs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32800F5-2CEC-FE20-0280-6FFC5A1F13DF}"/>
              </a:ext>
            </a:extLst>
          </p:cNvPr>
          <p:cNvSpPr/>
          <p:nvPr/>
        </p:nvSpPr>
        <p:spPr>
          <a:xfrm>
            <a:off x="685800" y="1799776"/>
            <a:ext cx="5212080" cy="3303146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CONTEXTE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F79646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Création d'un site web pour une activité de broderie et de personnalisation textile.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2C2522"/>
                </a:solidFill>
              </a:defRPr>
            </a:pP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Mettre en avant l'atelier « L’aiguille des volcans », spécialisé dans les créations artisanales sur mesure.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2C2522"/>
                </a:solidFill>
              </a:defRPr>
            </a:pP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Présenter l'activité, les services et les produits, tout en proposant des fonctionnalités dynamiques.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DDA0986-1F04-62CA-9F73-0D55AD80E395}"/>
              </a:ext>
            </a:extLst>
          </p:cNvPr>
          <p:cNvSpPr/>
          <p:nvPr/>
        </p:nvSpPr>
        <p:spPr>
          <a:xfrm>
            <a:off x="6217920" y="1799776"/>
            <a:ext cx="5212080" cy="3303146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OBJECTIFS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F79646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Présenter l'entreprise et ses services</a:t>
            </a:r>
            <a:endParaRPr lang="fr-FR" sz="1600" dirty="0">
              <a:solidFill>
                <a:srgbClr val="2C2522"/>
              </a:solidFill>
              <a:latin typeface="Calibri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Présenter les produits et catégories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Faciliter la prise de contact</a:t>
            </a:r>
            <a:endParaRPr lang="fr-FR" sz="1600" dirty="0">
              <a:solidFill>
                <a:srgbClr val="2C2522"/>
              </a:solidFill>
              <a:latin typeface="Calibri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Permettre une demande de devis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Gérer les contenus via un espace d'administration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3882F0-988D-F151-EBCF-983C8D8E209D}"/>
              </a:ext>
            </a:extLst>
          </p:cNvPr>
          <p:cNvSpPr/>
          <p:nvPr/>
        </p:nvSpPr>
        <p:spPr>
          <a:xfrm>
            <a:off x="640080" y="6419088"/>
            <a:ext cx="10881360" cy="18288"/>
          </a:xfrm>
          <a:prstGeom prst="rect">
            <a:avLst/>
          </a:prstGeom>
          <a:solidFill>
            <a:srgbClr val="EFE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A7A643-BC93-0873-D7D0-DC706EB87DC4}"/>
              </a:ext>
            </a:extLst>
          </p:cNvPr>
          <p:cNvSpPr txBox="1"/>
          <p:nvPr/>
        </p:nvSpPr>
        <p:spPr>
          <a:xfrm>
            <a:off x="1078992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fr-FR" sz="900" noProof="0" dirty="0">
                <a:solidFill>
                  <a:srgbClr val="69625E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09998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2800" b="1" noProof="0" dirty="0">
                <a:solidFill>
                  <a:srgbClr val="2C2522"/>
                </a:solidFill>
                <a:latin typeface="Aptos Display"/>
              </a:rPr>
              <a:t>Technologies et environnement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804671" y="1554480"/>
            <a:ext cx="3145536" cy="64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noProof="0" dirty="0">
                <a:solidFill>
                  <a:schemeClr val="accent6">
                    <a:lumMod val="50000"/>
                  </a:schemeClr>
                </a:solidFill>
              </a:rPr>
              <a:t>PHP ≥ 8.2</a:t>
            </a:r>
          </a:p>
          <a:p>
            <a:pPr>
              <a:spcBef>
                <a:spcPts val="700"/>
              </a:spcBef>
              <a:defRPr sz="1200">
                <a:solidFill>
                  <a:srgbClr val="2C2522"/>
                </a:solidFill>
              </a:defRPr>
            </a:pPr>
            <a:r>
              <a:rPr lang="fr-FR" sz="1400" noProof="0" dirty="0"/>
              <a:t>Langage serveur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41732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4599432" y="1554480"/>
            <a:ext cx="3145536" cy="64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noProof="0" dirty="0">
                <a:solidFill>
                  <a:schemeClr val="accent6">
                    <a:lumMod val="50000"/>
                  </a:schemeClr>
                </a:solidFill>
              </a:rPr>
              <a:t>Symfony 7.4</a:t>
            </a:r>
          </a:p>
          <a:p>
            <a:pPr>
              <a:spcBef>
                <a:spcPts val="700"/>
              </a:spcBef>
              <a:defRPr sz="1200">
                <a:solidFill>
                  <a:srgbClr val="2C2522"/>
                </a:solidFill>
              </a:defRPr>
            </a:pPr>
            <a:r>
              <a:rPr lang="fr-FR" sz="1400" noProof="0" dirty="0"/>
              <a:t>Framework web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41732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8394192" y="1554480"/>
            <a:ext cx="3145536" cy="64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noProof="0" dirty="0">
                <a:solidFill>
                  <a:schemeClr val="accent6">
                    <a:lumMod val="50000"/>
                  </a:schemeClr>
                </a:solidFill>
              </a:rPr>
              <a:t>Doctrine ORM 3.6</a:t>
            </a:r>
          </a:p>
          <a:p>
            <a:pPr>
              <a:spcBef>
                <a:spcPts val="700"/>
              </a:spcBef>
              <a:defRPr sz="1200">
                <a:solidFill>
                  <a:srgbClr val="2C2522"/>
                </a:solidFill>
              </a:defRPr>
            </a:pPr>
            <a:r>
              <a:rPr lang="fr-FR" sz="1400" noProof="0" dirty="0"/>
              <a:t>ORM / BDD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0604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804671" y="2743200"/>
            <a:ext cx="3145536" cy="64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noProof="0" dirty="0" err="1">
                <a:solidFill>
                  <a:schemeClr val="accent6">
                    <a:lumMod val="50000"/>
                  </a:schemeClr>
                </a:solidFill>
              </a:rPr>
              <a:t>MariaDB</a:t>
            </a:r>
            <a:r>
              <a:rPr lang="fr-FR" sz="1600" b="1" noProof="0" dirty="0">
                <a:solidFill>
                  <a:schemeClr val="accent6">
                    <a:lumMod val="50000"/>
                  </a:schemeClr>
                </a:solidFill>
              </a:rPr>
              <a:t> 10.11.11</a:t>
            </a:r>
          </a:p>
          <a:p>
            <a:pPr>
              <a:spcBef>
                <a:spcPts val="700"/>
              </a:spcBef>
              <a:defRPr sz="1200">
                <a:solidFill>
                  <a:srgbClr val="2C2522"/>
                </a:solidFill>
              </a:defRPr>
            </a:pPr>
            <a:r>
              <a:rPr lang="fr-FR" sz="1400" noProof="0" dirty="0"/>
              <a:t>Base de données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60604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4599432" y="2743200"/>
            <a:ext cx="3145536" cy="64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noProof="0" dirty="0">
                <a:solidFill>
                  <a:schemeClr val="accent6">
                    <a:lumMod val="50000"/>
                  </a:schemeClr>
                </a:solidFill>
              </a:rPr>
              <a:t>Twig</a:t>
            </a:r>
          </a:p>
          <a:p>
            <a:pPr>
              <a:spcBef>
                <a:spcPts val="700"/>
              </a:spcBef>
              <a:defRPr sz="1200">
                <a:solidFill>
                  <a:srgbClr val="2C2522"/>
                </a:solidFill>
              </a:defRPr>
            </a:pPr>
            <a:r>
              <a:rPr lang="fr-FR" sz="1400" noProof="0" dirty="0" err="1"/>
              <a:t>Templates</a:t>
            </a:r>
            <a:r>
              <a:rPr lang="fr-FR" sz="1400" noProof="0" dirty="0"/>
              <a:t> HTML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60604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8394192" y="2743200"/>
            <a:ext cx="3145536" cy="64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noProof="0" dirty="0">
                <a:solidFill>
                  <a:schemeClr val="accent6">
                    <a:lumMod val="50000"/>
                  </a:schemeClr>
                </a:solidFill>
              </a:rPr>
              <a:t>Bootstrap 5.3.8</a:t>
            </a:r>
          </a:p>
          <a:p>
            <a:pPr>
              <a:spcBef>
                <a:spcPts val="700"/>
              </a:spcBef>
              <a:defRPr sz="1200">
                <a:solidFill>
                  <a:srgbClr val="2C2522"/>
                </a:solidFill>
              </a:defRPr>
            </a:pPr>
            <a:r>
              <a:rPr lang="fr-FR" sz="1400" noProof="0" dirty="0"/>
              <a:t>UI / responsive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9476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804671" y="3931920"/>
            <a:ext cx="3145536" cy="64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noProof="0" dirty="0">
                <a:solidFill>
                  <a:schemeClr val="accent6">
                    <a:lumMod val="50000"/>
                  </a:schemeClr>
                </a:solidFill>
              </a:rPr>
              <a:t>Font Awesome 7.3.1</a:t>
            </a:r>
          </a:p>
          <a:p>
            <a:pPr>
              <a:spcBef>
                <a:spcPts val="700"/>
              </a:spcBef>
              <a:defRPr sz="1200">
                <a:solidFill>
                  <a:srgbClr val="2C2522"/>
                </a:solidFill>
              </a:defRPr>
            </a:pPr>
            <a:r>
              <a:rPr lang="fr-FR" sz="1400" noProof="0" dirty="0"/>
              <a:t>Icônes</a:t>
            </a:r>
            <a:endParaRPr lang="fr-FR" noProof="0" dirty="0"/>
          </a:p>
        </p:txBody>
      </p:sp>
      <p:sp>
        <p:nvSpPr>
          <p:cNvPr id="18" name="Rounded Rectangle 17"/>
          <p:cNvSpPr/>
          <p:nvPr/>
        </p:nvSpPr>
        <p:spPr>
          <a:xfrm>
            <a:off x="4434840" y="379476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4599432" y="3931920"/>
            <a:ext cx="3145536" cy="64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noProof="0" dirty="0" err="1">
                <a:solidFill>
                  <a:schemeClr val="accent6">
                    <a:lumMod val="50000"/>
                  </a:schemeClr>
                </a:solidFill>
              </a:rPr>
              <a:t>Webpack</a:t>
            </a:r>
            <a:r>
              <a:rPr lang="fr-FR" sz="1600" b="1" noProof="0" dirty="0">
                <a:solidFill>
                  <a:schemeClr val="accent6">
                    <a:lumMod val="50000"/>
                  </a:schemeClr>
                </a:solidFill>
              </a:rPr>
              <a:t> Encore</a:t>
            </a:r>
          </a:p>
          <a:p>
            <a:pPr>
              <a:spcBef>
                <a:spcPts val="700"/>
              </a:spcBef>
              <a:defRPr sz="1200">
                <a:solidFill>
                  <a:srgbClr val="2C2522"/>
                </a:solidFill>
              </a:defRPr>
            </a:pPr>
            <a:r>
              <a:rPr lang="fr-FR" sz="1400" noProof="0" dirty="0"/>
              <a:t>Gestion des assets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79476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8394192" y="3931920"/>
            <a:ext cx="3145536" cy="64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noProof="0" dirty="0">
                <a:solidFill>
                  <a:schemeClr val="accent6">
                    <a:lumMod val="50000"/>
                  </a:schemeClr>
                </a:solidFill>
              </a:rPr>
              <a:t>Node.js 22</a:t>
            </a:r>
          </a:p>
          <a:p>
            <a:pPr>
              <a:spcBef>
                <a:spcPts val="700"/>
              </a:spcBef>
              <a:defRPr sz="1200">
                <a:solidFill>
                  <a:srgbClr val="2C2522"/>
                </a:solidFill>
              </a:defRPr>
            </a:pPr>
            <a:r>
              <a:rPr lang="fr-FR" sz="1400" noProof="0" dirty="0" err="1"/>
              <a:t>Build</a:t>
            </a:r>
            <a:r>
              <a:rPr lang="fr-FR" sz="1400" noProof="0" dirty="0"/>
              <a:t> frontend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98348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804671" y="5120640"/>
            <a:ext cx="3145536" cy="64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noProof="0" dirty="0">
                <a:solidFill>
                  <a:schemeClr val="accent6">
                    <a:lumMod val="50000"/>
                  </a:schemeClr>
                </a:solidFill>
              </a:rPr>
              <a:t>Docker</a:t>
            </a:r>
          </a:p>
          <a:p>
            <a:pPr>
              <a:spcBef>
                <a:spcPts val="700"/>
              </a:spcBef>
              <a:defRPr sz="1200">
                <a:solidFill>
                  <a:srgbClr val="2C2522"/>
                </a:solidFill>
              </a:defRPr>
            </a:pPr>
            <a:r>
              <a:rPr lang="fr-FR" sz="1400" noProof="0" dirty="0"/>
              <a:t>Environnement</a:t>
            </a:r>
            <a:endParaRPr lang="fr-FR" noProof="0" dirty="0"/>
          </a:p>
        </p:txBody>
      </p:sp>
      <p:sp>
        <p:nvSpPr>
          <p:cNvPr id="24" name="Rounded Rectangle 23"/>
          <p:cNvSpPr/>
          <p:nvPr/>
        </p:nvSpPr>
        <p:spPr>
          <a:xfrm>
            <a:off x="4434840" y="498348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4599432" y="5120640"/>
            <a:ext cx="3145536" cy="64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noProof="0" dirty="0">
                <a:solidFill>
                  <a:schemeClr val="accent6">
                    <a:lumMod val="50000"/>
                  </a:schemeClr>
                </a:solidFill>
              </a:rPr>
              <a:t>Git</a:t>
            </a:r>
          </a:p>
          <a:p>
            <a:pPr>
              <a:spcBef>
                <a:spcPts val="700"/>
              </a:spcBef>
              <a:defRPr sz="1200">
                <a:solidFill>
                  <a:srgbClr val="2C2522"/>
                </a:solidFill>
              </a:defRPr>
            </a:pPr>
            <a:r>
              <a:rPr lang="fr-FR" sz="1400" noProof="0" dirty="0" err="1"/>
              <a:t>Versionnement</a:t>
            </a:r>
            <a:endParaRPr lang="fr-FR" sz="1400" noProof="0" dirty="0"/>
          </a:p>
        </p:txBody>
      </p:sp>
      <p:sp>
        <p:nvSpPr>
          <p:cNvPr id="26" name="Rounded Rectangle 25"/>
          <p:cNvSpPr/>
          <p:nvPr/>
        </p:nvSpPr>
        <p:spPr>
          <a:xfrm>
            <a:off x="8229600" y="498348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8394192" y="5120640"/>
            <a:ext cx="3145536" cy="64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noProof="0" dirty="0">
                <a:solidFill>
                  <a:schemeClr val="accent6">
                    <a:lumMod val="50000"/>
                  </a:schemeClr>
                </a:solidFill>
              </a:rPr>
              <a:t>Windows 11</a:t>
            </a:r>
          </a:p>
          <a:p>
            <a:pPr>
              <a:spcBef>
                <a:spcPts val="700"/>
              </a:spcBef>
              <a:defRPr sz="1200">
                <a:solidFill>
                  <a:srgbClr val="2C2522"/>
                </a:solidFill>
              </a:defRPr>
            </a:pPr>
            <a:r>
              <a:rPr lang="fr-FR" sz="1400" noProof="0" dirty="0"/>
              <a:t>OS</a:t>
            </a:r>
            <a:endParaRPr lang="fr-FR" noProof="0" dirty="0"/>
          </a:p>
        </p:txBody>
      </p:sp>
      <p:sp>
        <p:nvSpPr>
          <p:cNvPr id="28" name="Rectangle 27"/>
          <p:cNvSpPr/>
          <p:nvPr/>
        </p:nvSpPr>
        <p:spPr>
          <a:xfrm>
            <a:off x="640080" y="6419088"/>
            <a:ext cx="10881360" cy="18288"/>
          </a:xfrm>
          <a:prstGeom prst="rect">
            <a:avLst/>
          </a:prstGeom>
          <a:solidFill>
            <a:srgbClr val="EFE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9" name="TextBox 28"/>
          <p:cNvSpPr txBox="1"/>
          <p:nvPr/>
        </p:nvSpPr>
        <p:spPr>
          <a:xfrm>
            <a:off x="1078992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fr-FR" sz="900" noProof="0" dirty="0">
                <a:solidFill>
                  <a:srgbClr val="69625E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11480"/>
            <a:ext cx="220445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2800" b="1" noProof="0" dirty="0">
                <a:solidFill>
                  <a:srgbClr val="2C2522"/>
                </a:solidFill>
                <a:latin typeface="Aptos Display"/>
              </a:rPr>
              <a:t>Schéma UML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19088"/>
            <a:ext cx="10881360" cy="18288"/>
          </a:xfrm>
          <a:prstGeom prst="rect">
            <a:avLst/>
          </a:prstGeom>
          <a:solidFill>
            <a:srgbClr val="EFE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1078992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fr-FR" sz="900" noProof="0" dirty="0">
                <a:solidFill>
                  <a:srgbClr val="69625E"/>
                </a:solidFill>
              </a:rPr>
              <a:t>5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EE897103-6FAF-30F6-C5CC-3A21A4D83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366" y="973471"/>
            <a:ext cx="10309257" cy="540904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D1D17-6C2F-079F-E407-DEDF6C430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7FED58-6963-B66A-6D98-AB1760E3B868}"/>
              </a:ext>
            </a:extLst>
          </p:cNvPr>
          <p:cNvSpPr txBox="1"/>
          <p:nvPr/>
        </p:nvSpPr>
        <p:spPr>
          <a:xfrm>
            <a:off x="640080" y="411480"/>
            <a:ext cx="220445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2800" b="1" noProof="0" dirty="0">
                <a:solidFill>
                  <a:srgbClr val="2C2522"/>
                </a:solidFill>
                <a:latin typeface="Aptos Display"/>
              </a:rPr>
              <a:t>Schéma BDD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6E397B-E1F9-45A2-3178-660CCF56B665}"/>
              </a:ext>
            </a:extLst>
          </p:cNvPr>
          <p:cNvSpPr/>
          <p:nvPr/>
        </p:nvSpPr>
        <p:spPr>
          <a:xfrm>
            <a:off x="640080" y="6419088"/>
            <a:ext cx="10881360" cy="18288"/>
          </a:xfrm>
          <a:prstGeom prst="rect">
            <a:avLst/>
          </a:prstGeom>
          <a:solidFill>
            <a:srgbClr val="EFE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047F64-5530-77CC-5518-C86EB2473C7B}"/>
              </a:ext>
            </a:extLst>
          </p:cNvPr>
          <p:cNvSpPr txBox="1"/>
          <p:nvPr/>
        </p:nvSpPr>
        <p:spPr>
          <a:xfrm>
            <a:off x="1078992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fr-FR" sz="900" noProof="0" dirty="0">
                <a:solidFill>
                  <a:srgbClr val="69625E"/>
                </a:solidFill>
              </a:rPr>
              <a:t>5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69C126F-3169-B7BF-3906-BBF6916BF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774" y="991326"/>
            <a:ext cx="8455794" cy="544850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09147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2800" b="1" noProof="0" dirty="0">
                <a:solidFill>
                  <a:srgbClr val="2C2522"/>
                </a:solidFill>
                <a:latin typeface="Aptos Display"/>
              </a:rPr>
              <a:t>Maquette → réalisation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19088"/>
            <a:ext cx="10881360" cy="18288"/>
          </a:xfrm>
          <a:prstGeom prst="rect">
            <a:avLst/>
          </a:prstGeom>
          <a:solidFill>
            <a:srgbClr val="EFE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fr-FR" sz="900" noProof="0" dirty="0">
                <a:solidFill>
                  <a:srgbClr val="69625E"/>
                </a:solidFill>
              </a:rPr>
              <a:t>6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BA65C1A3-0886-8B2F-D347-37F0E72CD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07" y="1466088"/>
            <a:ext cx="5634941" cy="37846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1D592A63-C278-B9B0-478E-1F9671168C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453" y="1683694"/>
            <a:ext cx="5809043" cy="335972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BFCF9-B985-1C26-B056-3207E2004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14054A-4D0B-F304-2108-80FFB6D1E9D4}"/>
              </a:ext>
            </a:extLst>
          </p:cNvPr>
          <p:cNvSpPr txBox="1"/>
          <p:nvPr/>
        </p:nvSpPr>
        <p:spPr>
          <a:xfrm>
            <a:off x="640080" y="411480"/>
            <a:ext cx="261546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2800" b="1" noProof="0" dirty="0">
                <a:solidFill>
                  <a:srgbClr val="2C2522"/>
                </a:solidFill>
                <a:latin typeface="Aptos Display"/>
              </a:rPr>
              <a:t>Fixtures → Faker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139115-B5CD-603C-2A41-29032CFE0F6F}"/>
              </a:ext>
            </a:extLst>
          </p:cNvPr>
          <p:cNvSpPr/>
          <p:nvPr/>
        </p:nvSpPr>
        <p:spPr>
          <a:xfrm>
            <a:off x="640080" y="6419088"/>
            <a:ext cx="10881360" cy="18288"/>
          </a:xfrm>
          <a:prstGeom prst="rect">
            <a:avLst/>
          </a:prstGeom>
          <a:solidFill>
            <a:srgbClr val="EFE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CD6FE7-541F-B9B3-D349-D5B39644CADB}"/>
              </a:ext>
            </a:extLst>
          </p:cNvPr>
          <p:cNvSpPr txBox="1"/>
          <p:nvPr/>
        </p:nvSpPr>
        <p:spPr>
          <a:xfrm>
            <a:off x="1078992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fr-FR" sz="900" noProof="0" dirty="0">
                <a:solidFill>
                  <a:srgbClr val="69625E"/>
                </a:solidFill>
              </a:rPr>
              <a:t>6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51A0E7C-16BC-CD88-44D2-F43E92386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822" y="1151553"/>
            <a:ext cx="5229955" cy="260068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823145A1-5959-2449-95E7-FE70F46DA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2410" y="2785726"/>
            <a:ext cx="7549768" cy="34110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294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2800" b="1" noProof="0" dirty="0" err="1">
                <a:solidFill>
                  <a:srgbClr val="2C2522"/>
                </a:solidFill>
                <a:latin typeface="Aptos Display"/>
              </a:rPr>
              <a:t>Front-end</a:t>
            </a:r>
            <a:endParaRPr lang="fr-FR" sz="2800" b="1" noProof="0" dirty="0">
              <a:solidFill>
                <a:srgbClr val="2C2522"/>
              </a:solidFill>
              <a:latin typeface="Aptos Display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0080" y="6419088"/>
            <a:ext cx="10881360" cy="18288"/>
          </a:xfrm>
          <a:prstGeom prst="rect">
            <a:avLst/>
          </a:prstGeom>
          <a:solidFill>
            <a:srgbClr val="EFE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1078992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fr-FR" sz="900" noProof="0" dirty="0">
                <a:solidFill>
                  <a:srgbClr val="69625E"/>
                </a:solidFill>
              </a:rPr>
              <a:t>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16"/>
            <a:ext cx="3072985" cy="1786529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HTML / TWIG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Templates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dynamiques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Boucles, conditions et </a:t>
            </a: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layouts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réutilisables.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E8214C3-4717-CB88-E885-52D0426FB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5084" y="323041"/>
            <a:ext cx="6774836" cy="604118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48E48-FC17-F909-87AB-1BA6E127C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45181B-3A1E-4552-3BB9-8A1DE9E22C07}"/>
              </a:ext>
            </a:extLst>
          </p:cNvPr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2800" b="1" noProof="0" dirty="0" err="1">
                <a:solidFill>
                  <a:srgbClr val="2C2522"/>
                </a:solidFill>
                <a:latin typeface="Aptos Display"/>
              </a:rPr>
              <a:t>Front-end</a:t>
            </a:r>
            <a:endParaRPr lang="fr-FR" sz="2800" b="1" noProof="0" dirty="0">
              <a:solidFill>
                <a:srgbClr val="2C2522"/>
              </a:solidFill>
              <a:latin typeface="Aptos Display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09F4DBC-FAC0-9652-E248-70AAABA23F4C}"/>
              </a:ext>
            </a:extLst>
          </p:cNvPr>
          <p:cNvSpPr/>
          <p:nvPr/>
        </p:nvSpPr>
        <p:spPr>
          <a:xfrm>
            <a:off x="332841" y="1460864"/>
            <a:ext cx="3407954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CSS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Bootstrap 5.3.8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CSS personnalisé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srgbClr val="2C2522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Exemples de classes personnalisées 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2C2522"/>
                </a:solidFill>
              </a:defRPr>
            </a:pP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hero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-section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hero-title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hero-subtitle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.service-</a:t>
            </a: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card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feature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-bar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btn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-gold</a:t>
            </a:r>
          </a:p>
          <a:p>
            <a:pPr algn="ctr"/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323CE1-B360-C388-7F73-07990404F7B2}"/>
              </a:ext>
            </a:extLst>
          </p:cNvPr>
          <p:cNvSpPr/>
          <p:nvPr/>
        </p:nvSpPr>
        <p:spPr>
          <a:xfrm>
            <a:off x="640080" y="6419088"/>
            <a:ext cx="10881360" cy="18288"/>
          </a:xfrm>
          <a:prstGeom prst="rect">
            <a:avLst/>
          </a:prstGeom>
          <a:solidFill>
            <a:srgbClr val="EFE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582ACA-0905-337F-D991-B5E086857CF7}"/>
              </a:ext>
            </a:extLst>
          </p:cNvPr>
          <p:cNvSpPr txBox="1"/>
          <p:nvPr/>
        </p:nvSpPr>
        <p:spPr>
          <a:xfrm>
            <a:off x="1078992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fr-FR" sz="900" noProof="0" dirty="0">
                <a:solidFill>
                  <a:srgbClr val="69625E"/>
                </a:solidFill>
              </a:rPr>
              <a:t>7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FF85FC3-DB46-5BDA-8A06-685BC29B9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0156" y="209451"/>
            <a:ext cx="6430272" cy="617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050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0EADE-BC71-F356-3419-501EFDB9E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5E551A-8839-452F-1D54-747D4D010CD6}"/>
              </a:ext>
            </a:extLst>
          </p:cNvPr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2800" b="1" noProof="0" dirty="0" err="1">
                <a:solidFill>
                  <a:srgbClr val="2C2522"/>
                </a:solidFill>
                <a:latin typeface="Aptos Display"/>
              </a:rPr>
              <a:t>Front-end</a:t>
            </a:r>
            <a:endParaRPr lang="fr-FR" sz="2800" b="1" noProof="0" dirty="0">
              <a:solidFill>
                <a:srgbClr val="2C2522"/>
              </a:solidFill>
              <a:latin typeface="Aptos Display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571771E-2E0E-B42B-1EFE-36DE8221317B}"/>
              </a:ext>
            </a:extLst>
          </p:cNvPr>
          <p:cNvSpPr/>
          <p:nvPr/>
        </p:nvSpPr>
        <p:spPr>
          <a:xfrm>
            <a:off x="378563" y="1460864"/>
            <a:ext cx="2469569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JAVASCRIPT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Bootstrap JS pour les interactions courantes.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Webpack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Encore pour compiler et gérer les assets.</a:t>
            </a:r>
          </a:p>
          <a:p>
            <a:pPr algn="ctr"/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2E84F5-1EAE-D5A6-5E24-EC31D0FC3D13}"/>
              </a:ext>
            </a:extLst>
          </p:cNvPr>
          <p:cNvSpPr/>
          <p:nvPr/>
        </p:nvSpPr>
        <p:spPr>
          <a:xfrm>
            <a:off x="640080" y="6419088"/>
            <a:ext cx="10881360" cy="18288"/>
          </a:xfrm>
          <a:prstGeom prst="rect">
            <a:avLst/>
          </a:prstGeom>
          <a:solidFill>
            <a:srgbClr val="EFE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BABDCD-385E-0F02-8A90-64EDC3D91F95}"/>
              </a:ext>
            </a:extLst>
          </p:cNvPr>
          <p:cNvSpPr txBox="1"/>
          <p:nvPr/>
        </p:nvSpPr>
        <p:spPr>
          <a:xfrm>
            <a:off x="1078992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fr-FR" sz="900" noProof="0" dirty="0">
                <a:solidFill>
                  <a:srgbClr val="69625E"/>
                </a:solidFill>
              </a:rPr>
              <a:t>7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918BCD3-0479-D9AF-1E96-A3DAC57FC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738" y="621792"/>
            <a:ext cx="8705759" cy="5726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155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2800" b="1" noProof="0" dirty="0" err="1">
                <a:solidFill>
                  <a:srgbClr val="2C2522"/>
                </a:solidFill>
                <a:latin typeface="Aptos Display"/>
              </a:rPr>
              <a:t>Back-end</a:t>
            </a:r>
            <a:r>
              <a:rPr lang="fr-FR" sz="2800" b="1" noProof="0" dirty="0">
                <a:solidFill>
                  <a:srgbClr val="2C2522"/>
                </a:solidFill>
                <a:latin typeface="Aptos Display"/>
              </a:rPr>
              <a:t> — MVC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1862526"/>
            <a:ext cx="1666906" cy="3139242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MODEL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Entity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Doctrine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Repository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Product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Category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User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QuoteRequest</a:t>
            </a: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srgbClr val="2C2522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algn="ctr"/>
            <a:endParaRPr lang="fr-FR" noProof="0" dirty="0"/>
          </a:p>
        </p:txBody>
      </p:sp>
      <p:sp>
        <p:nvSpPr>
          <p:cNvPr id="6" name="Rounded Rectangle 5"/>
          <p:cNvSpPr/>
          <p:nvPr/>
        </p:nvSpPr>
        <p:spPr>
          <a:xfrm>
            <a:off x="4014292" y="692469"/>
            <a:ext cx="3383280" cy="2500811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VIEW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rgbClr val="F79646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Twig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Templates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HTML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Données transmises par le </a:t>
            </a: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controller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Rendu côté navigateur</a:t>
            </a:r>
          </a:p>
          <a:p>
            <a:pPr algn="ctr"/>
            <a:endParaRPr lang="fr-FR" noProof="0" dirty="0"/>
          </a:p>
        </p:txBody>
      </p:sp>
      <p:sp>
        <p:nvSpPr>
          <p:cNvPr id="8" name="Rounded Rectangle 7"/>
          <p:cNvSpPr/>
          <p:nvPr/>
        </p:nvSpPr>
        <p:spPr>
          <a:xfrm>
            <a:off x="9136505" y="1856679"/>
            <a:ext cx="2476375" cy="3139242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CONTROLLER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rgbClr val="F79646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Routes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Traitement des requêtes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Coordination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HomeController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ProductController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CategoryController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QuoteRequestController</a:t>
            </a: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srgbClr val="2C2522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algn="ctr"/>
            <a:endParaRPr lang="fr-FR" noProof="0" dirty="0"/>
          </a:p>
        </p:txBody>
      </p:sp>
      <p:sp>
        <p:nvSpPr>
          <p:cNvPr id="10" name="Rectangle 9"/>
          <p:cNvSpPr/>
          <p:nvPr/>
        </p:nvSpPr>
        <p:spPr>
          <a:xfrm>
            <a:off x="640080" y="6419088"/>
            <a:ext cx="10881360" cy="18288"/>
          </a:xfrm>
          <a:prstGeom prst="rect">
            <a:avLst/>
          </a:prstGeom>
          <a:solidFill>
            <a:srgbClr val="EFE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1078992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fr-FR" sz="900" noProof="0" dirty="0">
                <a:solidFill>
                  <a:srgbClr val="69625E"/>
                </a:solidFill>
              </a:rPr>
              <a:t>8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8F360745-8C06-27A5-CBAF-CE3419DCF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4280" y="3405813"/>
            <a:ext cx="6096851" cy="280074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2800" b="1" noProof="0" dirty="0">
                <a:solidFill>
                  <a:srgbClr val="2C2522"/>
                </a:solidFill>
                <a:latin typeface="Aptos Display"/>
              </a:rPr>
              <a:t>Repository → Doctrine → SQL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7709" y="1436398"/>
            <a:ext cx="1686827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89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noProof="0" dirty="0" err="1">
                <a:solidFill>
                  <a:srgbClr val="2C2522"/>
                </a:solidFill>
              </a:rPr>
              <a:t>ReviewController</a:t>
            </a:r>
            <a:endParaRPr lang="fr-FR" sz="1400" b="1" noProof="0" dirty="0">
              <a:solidFill>
                <a:srgbClr val="2C2522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409661" y="1436398"/>
            <a:ext cx="1686827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89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noProof="0" dirty="0" err="1">
                <a:solidFill>
                  <a:srgbClr val="2C2522"/>
                </a:solidFill>
              </a:rPr>
              <a:t>ReviewRepository</a:t>
            </a:r>
            <a:endParaRPr lang="fr-FR" sz="1200" b="1" noProof="0" dirty="0">
              <a:solidFill>
                <a:srgbClr val="2C2522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11613" y="1436398"/>
            <a:ext cx="1686827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89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noProof="0" dirty="0">
                <a:solidFill>
                  <a:srgbClr val="2C2522"/>
                </a:solidFill>
              </a:rPr>
              <a:t>Doctrine 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3565" y="1436398"/>
            <a:ext cx="1686827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89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noProof="0" dirty="0">
                <a:solidFill>
                  <a:srgbClr val="2C2522"/>
                </a:solidFill>
              </a:rPr>
              <a:t>SQL</a:t>
            </a:r>
            <a:endParaRPr lang="fr-FR" sz="1200" b="1" noProof="0" dirty="0">
              <a:solidFill>
                <a:srgbClr val="2C2522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115517" y="1436398"/>
            <a:ext cx="1686827" cy="914400"/>
          </a:xfrm>
          <a:prstGeom prst="roundRect">
            <a:avLst/>
          </a:prstGeom>
          <a:solidFill>
            <a:schemeClr val="bg1"/>
          </a:solidFill>
          <a:ln>
            <a:solidFill>
              <a:srgbClr val="B89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noProof="0" dirty="0" err="1">
                <a:solidFill>
                  <a:srgbClr val="2C2522"/>
                </a:solidFill>
              </a:rPr>
              <a:t>MariaDB</a:t>
            </a:r>
            <a:endParaRPr lang="fr-FR" sz="1200" b="1" noProof="0" dirty="0">
              <a:solidFill>
                <a:srgbClr val="2C2522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017469" y="1436398"/>
            <a:ext cx="1686827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89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noProof="0" dirty="0">
                <a:solidFill>
                  <a:srgbClr val="2C2522"/>
                </a:solidFill>
              </a:rPr>
              <a:t>Résultat → Twig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19088"/>
            <a:ext cx="10881360" cy="18288"/>
          </a:xfrm>
          <a:prstGeom prst="rect">
            <a:avLst/>
          </a:prstGeom>
          <a:solidFill>
            <a:srgbClr val="EFE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1078992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fr-FR" sz="900" noProof="0" dirty="0">
                <a:solidFill>
                  <a:srgbClr val="69625E"/>
                </a:solidFill>
              </a:rPr>
              <a:t>9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F64A98DF-79FD-5578-3BF9-75C0EBA95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785" y="2881803"/>
            <a:ext cx="4838278" cy="320978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EB6D126B-D13D-5BA4-2C1C-42A70EC9B9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2265" y="3142971"/>
            <a:ext cx="5067735" cy="217188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B99F0-42D7-C485-56FD-F0C301916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90DE24-7C4B-9E34-6507-2E88C4A15B51}"/>
              </a:ext>
            </a:extLst>
          </p:cNvPr>
          <p:cNvSpPr txBox="1"/>
          <p:nvPr/>
        </p:nvSpPr>
        <p:spPr>
          <a:xfrm>
            <a:off x="640080" y="411480"/>
            <a:ext cx="113043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2800" b="1" noProof="0" dirty="0">
                <a:solidFill>
                  <a:srgbClr val="2C2522"/>
                </a:solidFill>
                <a:latin typeface="Aptos Display"/>
              </a:rPr>
              <a:t>CRUD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91C96B4-5272-F4BC-245C-0F6515E94723}"/>
              </a:ext>
            </a:extLst>
          </p:cNvPr>
          <p:cNvSpPr/>
          <p:nvPr/>
        </p:nvSpPr>
        <p:spPr>
          <a:xfrm>
            <a:off x="8026399" y="1710779"/>
            <a:ext cx="1596572" cy="961281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MODIFIER UN PRODUIT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rgbClr val="F79646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0C48C7B-F090-25F6-62AB-EBE9E383B8AE}"/>
              </a:ext>
            </a:extLst>
          </p:cNvPr>
          <p:cNvSpPr/>
          <p:nvPr/>
        </p:nvSpPr>
        <p:spPr>
          <a:xfrm>
            <a:off x="1004296" y="4994375"/>
            <a:ext cx="1985647" cy="924851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000" b="1" dirty="0">
                <a:solidFill>
                  <a:srgbClr val="F79646">
                    <a:lumMod val="50000"/>
                  </a:srgbClr>
                </a:solidFill>
                <a:latin typeface="Calibri"/>
              </a:rPr>
              <a:t>SUPPRIMER UN PRODUIT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rgbClr val="F79646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176BC0-D04D-3D2C-73E4-7194F53C288F}"/>
              </a:ext>
            </a:extLst>
          </p:cNvPr>
          <p:cNvSpPr/>
          <p:nvPr/>
        </p:nvSpPr>
        <p:spPr>
          <a:xfrm>
            <a:off x="640080" y="6419088"/>
            <a:ext cx="10881360" cy="18288"/>
          </a:xfrm>
          <a:prstGeom prst="rect">
            <a:avLst/>
          </a:prstGeom>
          <a:solidFill>
            <a:srgbClr val="EFE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33FDB9-1167-6AAC-3803-0FBACC83A93F}"/>
              </a:ext>
            </a:extLst>
          </p:cNvPr>
          <p:cNvSpPr txBox="1"/>
          <p:nvPr/>
        </p:nvSpPr>
        <p:spPr>
          <a:xfrm>
            <a:off x="1078992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fr-FR" sz="900" noProof="0" dirty="0">
                <a:solidFill>
                  <a:srgbClr val="69625E"/>
                </a:solidFill>
              </a:rPr>
              <a:t>8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31657EDA-6B7C-5DFD-5EA8-581767BB0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03" y="1065330"/>
            <a:ext cx="7249486" cy="34747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C42EA8DC-E160-83CF-B65D-079D7526A8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3143" y="4105438"/>
            <a:ext cx="8639785" cy="22387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35595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11480"/>
            <a:ext cx="284430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2800" b="1" dirty="0">
                <a:solidFill>
                  <a:srgbClr val="2C2522"/>
                </a:solidFill>
                <a:latin typeface="Aptos Display"/>
              </a:rPr>
              <a:t>Forms et sécurité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79" y="981889"/>
            <a:ext cx="2741749" cy="2149422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FORMS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F79646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RegistrationFormType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QuoteRequestType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ReviewType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AdminProductType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AdminCategoryType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...</a:t>
            </a:r>
          </a:p>
          <a:p>
            <a:pPr algn="ctr"/>
            <a:endParaRPr lang="fr-FR" noProof="0" dirty="0"/>
          </a:p>
        </p:txBody>
      </p:sp>
      <p:sp>
        <p:nvSpPr>
          <p:cNvPr id="10" name="Rectangle 9"/>
          <p:cNvSpPr/>
          <p:nvPr/>
        </p:nvSpPr>
        <p:spPr>
          <a:xfrm>
            <a:off x="640080" y="6419088"/>
            <a:ext cx="10881360" cy="18288"/>
          </a:xfrm>
          <a:prstGeom prst="rect">
            <a:avLst/>
          </a:prstGeom>
          <a:solidFill>
            <a:srgbClr val="EFE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1078992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fr-FR" sz="900" noProof="0" dirty="0">
                <a:solidFill>
                  <a:srgbClr val="69625E"/>
                </a:solidFill>
              </a:rPr>
              <a:t>10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85B70BDA-03A1-83F4-CC5E-C77A15C98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0872" y="237764"/>
            <a:ext cx="7255791" cy="614474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56DE7-2C2A-7B14-4C38-48BDFAE09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145087-FD0C-1A13-C456-210C0B99BD04}"/>
              </a:ext>
            </a:extLst>
          </p:cNvPr>
          <p:cNvSpPr txBox="1"/>
          <p:nvPr/>
        </p:nvSpPr>
        <p:spPr>
          <a:xfrm>
            <a:off x="640080" y="411480"/>
            <a:ext cx="291323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2800" b="1" noProof="0" dirty="0">
                <a:solidFill>
                  <a:srgbClr val="2C2522"/>
                </a:solidFill>
                <a:latin typeface="Aptos Display"/>
              </a:rPr>
              <a:t>Forms et sécurité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544FB3A-F7C8-5D59-1E47-8DC62598B015}"/>
              </a:ext>
            </a:extLst>
          </p:cNvPr>
          <p:cNvSpPr/>
          <p:nvPr/>
        </p:nvSpPr>
        <p:spPr>
          <a:xfrm>
            <a:off x="624841" y="995681"/>
            <a:ext cx="2698930" cy="2149422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SECURITY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F79646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Authentification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Gestion des utilisateurs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Hashage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des mots de passe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Accès à l'administration</a:t>
            </a:r>
          </a:p>
          <a:p>
            <a:pPr algn="ctr"/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02634D-B8FD-6ABE-35A8-CA597AB48201}"/>
              </a:ext>
            </a:extLst>
          </p:cNvPr>
          <p:cNvSpPr/>
          <p:nvPr/>
        </p:nvSpPr>
        <p:spPr>
          <a:xfrm>
            <a:off x="640080" y="6419088"/>
            <a:ext cx="10881360" cy="18288"/>
          </a:xfrm>
          <a:prstGeom prst="rect">
            <a:avLst/>
          </a:prstGeom>
          <a:solidFill>
            <a:srgbClr val="EFE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0EE2DF-B89B-1AFC-1D20-67E7AD14CDF9}"/>
              </a:ext>
            </a:extLst>
          </p:cNvPr>
          <p:cNvSpPr txBox="1"/>
          <p:nvPr/>
        </p:nvSpPr>
        <p:spPr>
          <a:xfrm>
            <a:off x="1078992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fr-FR" sz="900" noProof="0" dirty="0">
                <a:solidFill>
                  <a:srgbClr val="69625E"/>
                </a:solidFill>
              </a:rPr>
              <a:t>10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391ED45-FFD8-171D-097D-61A3EBEF8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9200" y="219457"/>
            <a:ext cx="7768081" cy="615805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620929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2800" b="1" noProof="0" dirty="0">
                <a:solidFill>
                  <a:srgbClr val="2C2522"/>
                </a:solidFill>
                <a:latin typeface="Aptos Display"/>
              </a:rPr>
              <a:t>Démonstration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1565"/>
            <a:ext cx="2514600" cy="1068832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accent6">
                    <a:lumMod val="50000"/>
                  </a:schemeClr>
                </a:solidFill>
              </a:rPr>
              <a:t>1. Accueil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1565"/>
            <a:ext cx="2514600" cy="1068832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accent6">
                    <a:lumMod val="50000"/>
                  </a:schemeClr>
                </a:solidFill>
              </a:rPr>
              <a:t>2. Produits / catégories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41565"/>
            <a:ext cx="2514600" cy="1068832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accent6">
                    <a:lumMod val="50000"/>
                  </a:schemeClr>
                </a:solidFill>
              </a:rPr>
              <a:t>3. Détail produit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59" y="1641565"/>
            <a:ext cx="2514600" cy="1068832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accent6">
                    <a:lumMod val="50000"/>
                  </a:schemeClr>
                </a:solidFill>
              </a:rPr>
              <a:t>4. Demande de devis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17109"/>
            <a:ext cx="2514600" cy="1068832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accent6">
                    <a:lumMod val="50000"/>
                  </a:schemeClr>
                </a:solidFill>
              </a:rPr>
              <a:t>5. Avis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3717109"/>
            <a:ext cx="2514600" cy="1068832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accent6">
                    <a:lumMod val="50000"/>
                  </a:schemeClr>
                </a:solidFill>
              </a:rPr>
              <a:t>6. Connexion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717109"/>
            <a:ext cx="2514600" cy="1068832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accent6">
                    <a:lumMod val="50000"/>
                  </a:schemeClr>
                </a:solidFill>
              </a:rPr>
              <a:t>7. Administration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19088"/>
            <a:ext cx="10881360" cy="18288"/>
          </a:xfrm>
          <a:prstGeom prst="rect">
            <a:avLst/>
          </a:prstGeom>
          <a:solidFill>
            <a:srgbClr val="EFE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1078992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fr-FR" sz="900" noProof="0" dirty="0">
                <a:solidFill>
                  <a:srgbClr val="69625E"/>
                </a:solidFill>
              </a:rPr>
              <a:t>11</a:t>
            </a:r>
          </a:p>
        </p:txBody>
      </p:sp>
      <p:sp>
        <p:nvSpPr>
          <p:cNvPr id="22" name="Rounded Rectangle 16">
            <a:extLst>
              <a:ext uri="{FF2B5EF4-FFF2-40B4-BE49-F238E27FC236}">
                <a16:creationId xmlns:a16="http://schemas.microsoft.com/office/drawing/2014/main" id="{71DC1511-7701-FA73-F28E-10BB6028FB6E}"/>
              </a:ext>
            </a:extLst>
          </p:cNvPr>
          <p:cNvSpPr/>
          <p:nvPr/>
        </p:nvSpPr>
        <p:spPr>
          <a:xfrm>
            <a:off x="9052559" y="3717109"/>
            <a:ext cx="2514600" cy="1068832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accent6">
                    <a:lumMod val="50000"/>
                  </a:schemeClr>
                </a:solidFill>
              </a:rPr>
              <a:t>8. Responsive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11480"/>
            <a:ext cx="369267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2800" b="1" noProof="0" dirty="0">
                <a:solidFill>
                  <a:srgbClr val="2C2522"/>
                </a:solidFill>
                <a:latin typeface="Aptos Display"/>
              </a:rPr>
              <a:t>Difficultés rencontrées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881360" cy="18288"/>
          </a:xfrm>
          <a:prstGeom prst="rect">
            <a:avLst/>
          </a:prstGeom>
          <a:solidFill>
            <a:srgbClr val="EFE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fr-FR" sz="900" noProof="0" dirty="0">
                <a:solidFill>
                  <a:srgbClr val="69625E"/>
                </a:solidFill>
              </a:rPr>
              <a:t>12</a:t>
            </a:r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213D243F-129E-C8D4-B29B-6BF00D7E6861}"/>
              </a:ext>
            </a:extLst>
          </p:cNvPr>
          <p:cNvSpPr/>
          <p:nvPr/>
        </p:nvSpPr>
        <p:spPr>
          <a:xfrm>
            <a:off x="1349829" y="1578854"/>
            <a:ext cx="70104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300"/>
              </a:spcAft>
              <a:defRPr sz="2000">
                <a:solidFill>
                  <a:srgbClr val="2C2522"/>
                </a:solidFill>
              </a:defRPr>
            </a:pPr>
            <a:endParaRPr lang="fr-FR" dirty="0"/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000">
                <a:solidFill>
                  <a:srgbClr val="2C2522"/>
                </a:solidFill>
              </a:defRPr>
            </a:pPr>
            <a:r>
              <a:rPr lang="fr-FR" dirty="0"/>
              <a:t>Compréhension de l'architecture Symfony avec Docker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000">
                <a:solidFill>
                  <a:srgbClr val="2C2522"/>
                </a:solidFill>
              </a:defRPr>
            </a:pPr>
            <a:r>
              <a:rPr lang="fr-FR" dirty="0"/>
              <a:t>Relations entre les entités Doctrine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000">
                <a:solidFill>
                  <a:srgbClr val="2C2522"/>
                </a:solidFill>
              </a:defRPr>
            </a:pPr>
            <a:r>
              <a:rPr lang="fr-FR" dirty="0"/>
              <a:t>Communication Controller ↔ Repository ↔ Twig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000">
                <a:solidFill>
                  <a:srgbClr val="2C2522"/>
                </a:solidFill>
              </a:defRPr>
            </a:pPr>
            <a:r>
              <a:rPr lang="fr-FR" dirty="0"/>
              <a:t>Responsive et intégration de la maquette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000">
                <a:solidFill>
                  <a:srgbClr val="2C2522"/>
                </a:solidFill>
              </a:defRPr>
            </a:pPr>
            <a:r>
              <a:rPr lang="fr-FR" sz="2000" dirty="0"/>
              <a:t>Répondre aux besoins spécifiques d'une autre personne.</a:t>
            </a:r>
            <a:endParaRPr lang="fr-FR" dirty="0"/>
          </a:p>
          <a:p>
            <a:pPr>
              <a:spcAft>
                <a:spcPts val="1300"/>
              </a:spcAft>
              <a:defRPr sz="2000">
                <a:solidFill>
                  <a:srgbClr val="2C2522"/>
                </a:solidFill>
              </a:defRPr>
            </a:pPr>
            <a:endParaRPr lang="fr-FR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2800" b="1" noProof="0" dirty="0">
                <a:solidFill>
                  <a:srgbClr val="2C2522"/>
                </a:solidFill>
                <a:latin typeface="Aptos Display"/>
              </a:rPr>
              <a:t>Évolutions prévues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86578"/>
            <a:ext cx="3520440" cy="2617651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COURT TERME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Finaliser le back-office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Améliorer les validations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Ajouter davantage de tests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Finaliser le responsive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186578"/>
            <a:ext cx="3520440" cy="2617651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MOYEN TERME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Upload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d'images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Recherche et filtres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Pagination</a:t>
            </a:r>
            <a:endParaRPr lang="fr-FR" sz="1600" dirty="0">
              <a:solidFill>
                <a:srgbClr val="2C2522"/>
              </a:solidFill>
              <a:latin typeface="Calibri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Notifications email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186578"/>
            <a:ext cx="3520440" cy="2617651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LONG TERME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Demande de devis avancée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Personnalisation des produits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solidFill>
                  <a:srgbClr val="2C2522"/>
                </a:solidFill>
              </a:defRPr>
            </a:pPr>
            <a:r>
              <a:rPr lang="fr-FR" sz="1600" dirty="0">
                <a:solidFill>
                  <a:srgbClr val="2C2522"/>
                </a:solidFill>
                <a:latin typeface="Calibri"/>
              </a:rPr>
              <a:t>Traduction du site</a:t>
            </a: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srgbClr val="2C2522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Mise en production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19088"/>
            <a:ext cx="10881360" cy="18288"/>
          </a:xfrm>
          <a:prstGeom prst="rect">
            <a:avLst/>
          </a:prstGeom>
          <a:solidFill>
            <a:srgbClr val="EFE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1078992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fr-FR" sz="900" noProof="0" dirty="0">
                <a:solidFill>
                  <a:srgbClr val="69625E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9144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fr-FR" sz="3600" b="1" noProof="0" dirty="0">
                <a:solidFill>
                  <a:srgbClr val="2C2522"/>
                </a:solidFill>
              </a:rP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651760"/>
            <a:ext cx="1920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89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noProof="0" dirty="0">
                <a:solidFill>
                  <a:srgbClr val="2C2522"/>
                </a:solidFill>
              </a:rPr>
              <a:t>Conception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4680" y="2651760"/>
            <a:ext cx="1920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89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noProof="0" dirty="0">
                <a:solidFill>
                  <a:srgbClr val="2C2522"/>
                </a:solidFill>
              </a:rPr>
              <a:t>Base de données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2651760"/>
            <a:ext cx="1920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89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noProof="0" dirty="0">
                <a:solidFill>
                  <a:srgbClr val="2C2522"/>
                </a:solidFill>
              </a:rPr>
              <a:t>Symfony / </a:t>
            </a:r>
            <a:r>
              <a:rPr lang="fr-FR" sz="1400" b="1" noProof="0" dirty="0" err="1">
                <a:solidFill>
                  <a:srgbClr val="2C2522"/>
                </a:solidFill>
              </a:rPr>
              <a:t>Back-end</a:t>
            </a:r>
            <a:endParaRPr lang="fr-FR" sz="1400" b="1" noProof="0" dirty="0">
              <a:solidFill>
                <a:srgbClr val="2C2522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635240" y="2651760"/>
            <a:ext cx="1920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89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noProof="0" dirty="0">
                <a:solidFill>
                  <a:srgbClr val="2C2522"/>
                </a:solidFill>
              </a:rPr>
              <a:t>Twig / </a:t>
            </a:r>
            <a:r>
              <a:rPr lang="fr-FR" sz="1400" b="1" noProof="0" dirty="0" err="1">
                <a:solidFill>
                  <a:srgbClr val="2C2522"/>
                </a:solidFill>
              </a:rPr>
              <a:t>Front-end</a:t>
            </a:r>
            <a:endParaRPr lang="fr-FR" sz="1400" b="1" noProof="0" dirty="0">
              <a:solidFill>
                <a:srgbClr val="2C2522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875520" y="2651760"/>
            <a:ext cx="1920240" cy="914400"/>
          </a:xfrm>
          <a:prstGeom prst="roundRect">
            <a:avLst/>
          </a:prstGeom>
          <a:solidFill>
            <a:srgbClr val="EFEAE0"/>
          </a:solidFill>
          <a:ln>
            <a:solidFill>
              <a:srgbClr val="B89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noProof="0" dirty="0">
                <a:solidFill>
                  <a:srgbClr val="2C2522"/>
                </a:solidFill>
              </a:rPr>
              <a:t>Application fonctionnelle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2133" y="4572000"/>
            <a:ext cx="495725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fr-FR" sz="3200" b="1" noProof="0" dirty="0">
                <a:solidFill>
                  <a:schemeClr val="accent6">
                    <a:lumMod val="50000"/>
                  </a:schemeClr>
                </a:solidFill>
              </a:rPr>
              <a:t>Merci pour votre attention !</a:t>
            </a:r>
            <a:endParaRPr lang="fr-FR" sz="2400" b="1" noProof="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0080" y="6419088"/>
            <a:ext cx="10881360" cy="18288"/>
          </a:xfrm>
          <a:prstGeom prst="rect">
            <a:avLst/>
          </a:prstGeom>
          <a:solidFill>
            <a:srgbClr val="EFE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1078992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fr-FR" sz="900" noProof="0" dirty="0">
                <a:solidFill>
                  <a:srgbClr val="69625E"/>
                </a:solidFill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714</TotalTime>
  <Words>2109</Words>
  <Application>Microsoft Office PowerPoint</Application>
  <PresentationFormat>Grand écran</PresentationFormat>
  <Paragraphs>258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Aureo Ruffier</dc:creator>
  <cp:keywords/>
  <dc:description>generated using python-pptx</dc:description>
  <cp:lastModifiedBy>Aureo Ruffier</cp:lastModifiedBy>
  <cp:revision>16</cp:revision>
  <dcterms:created xsi:type="dcterms:W3CDTF">2013-01-27T09:14:16Z</dcterms:created>
  <dcterms:modified xsi:type="dcterms:W3CDTF">2026-10-01T13:10:17Z</dcterms:modified>
  <cp:category/>
</cp:coreProperties>
</file>